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表紙" id="{439cba36-2144-c905-a05c-85ca0ee8ef98}">
          <p14:sldIdLst>
            <p14:sldId id="256"/>
          </p14:sldIdLst>
        </p14:section>
        <p14:section name="はじめに" id="{7eb51ac3-700c-1e2f-705b-df541ab0c887}">
          <p14:sldIdLst>
            <p14:sldId id="257"/>
            <p14:sldId id="258"/>
          </p14:sldIdLst>
        </p14:section>
        <p14:section name="01 現状のご理解" id="{ba2acf4e-f691-bd3b-626d-01d0a96c4b66}">
          <p14:sldIdLst>
            <p14:sldId id="259"/>
            <p14:sldId id="260"/>
            <p14:sldId id="261"/>
            <p14:sldId id="262"/>
            <p14:sldId id="263"/>
            <p14:sldId id="264"/>
            <p14:sldId id="265"/>
          </p14:sldIdLst>
        </p14:section>
        <p14:section name="02 ご提案内容" id="{4642ae66-c691-4a5b-7d1e-b560576585d2}">
          <p14:sldIdLst>
            <p14:sldId id="266"/>
            <p14:sldId id="267"/>
            <p14:sldId id="268"/>
            <p14:sldId id="269"/>
            <p14:sldId id="270"/>
            <p14:sldId id="271"/>
            <p14:sldId id="272"/>
            <p14:sldId id="273"/>
            <p14:sldId id="274"/>
            <p14:sldId id="275"/>
            <p14:sldId id="276"/>
          </p14:sldIdLst>
        </p14:section>
        <p14:section name="03 他社事例" id="{2339b84d-e001-0d8f-b130-c532782b5539}">
          <p14:sldIdLst>
            <p14:sldId id="277"/>
            <p14:sldId id="278"/>
            <p14:sldId id="279"/>
            <p14:sldId id="280"/>
          </p14:sldIdLst>
        </p14:section>
        <p14:section name="04 進め方・体制・費用" id="{cef71e90-3f59-afe2-cd96-46134ccd74c3}">
          <p14:sldIdLst>
            <p14:sldId id="281"/>
            <p14:sldId id="282"/>
            <p14:sldId id="283"/>
            <p14:sldId id="284"/>
          </p14:sldIdLst>
        </p14:section>
        <p14:section name="05 本日ご相談したいこと" id="{b954d595-3588-87ad-1b11-68bbfd5a3d1c}">
          <p14:sldIdLst>
            <p14:sldId id="285"/>
          </p14:sldIdLst>
        </p14:section>
        <p14:section name="Appendix" id="{e4268ccf-20be-c7a5-196a-fd37cd5a2397}">
          <p14:sldIdLst>
            <p14:sldId id="286"/>
            <p14:sldId id="287"/>
            <p14:sldId id="288"/>
            <p14:sldId id="289"/>
          </p14:sldIdLst>
        </p14:section>
        <p14:section name="裏表紙" id="{f99d5b36-a6ee-bf21-95ee-779d360ecffd}">
          <p14:sldIdLst>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年間削減効果（万円）</c:v>
                </c:pt>
              </c:strCache>
            </c:strRef>
          </c:tx>
          <c:spPr>
            <a:solidFill>
              <a:srgbClr val="7C8096"/>
            </a:solidFill>
            <a:effectLst/>
          </c:spPr>
          <c:invertIfNegative val="0"/>
          <c:dLbls>
            <c:numFmt formatCode="#,##0&quot;万円&quot;" sourceLinked="0"/>
            <c:txPr>
              <a:bodyPr/>
              <a:lstStyle/>
              <a:p>
                <a:pPr>
                  <a:defRPr b="1" i="0" strike="noStrike" sz="1200" u="none">
                    <a:solidFill>
                      <a:srgbClr val="2B2A5E"/>
                    </a:solidFill>
                    <a:latin typeface="+mn-lt"/>
                  </a:defRPr>
                </a:pPr>
              </a:p>
            </c:txPr>
            <c:showLegendKey val="0"/>
            <c:showVal val="1"/>
            <c:showCatName val="0"/>
            <c:showSerName val="0"/>
            <c:showPercent val="0"/>
            <c:showBubbleSize val="0"/>
            <c:showLeaderLines val="0"/>
          </c:dLbls>
          <c:dPt>
            <c:idx val="0"/>
            <c:invertIfNegative val="0"/>
            <c:bubble3D val="0"/>
            <c:spPr>
              <a:solidFill>
                <a:srgbClr val="7C8096"/>
              </a:solidFill>
              <a:effectLst/>
            </c:spPr>
          </c:dPt>
          <c:dPt>
            <c:idx val="1"/>
            <c:invertIfNegative val="0"/>
            <c:bubble3D val="0"/>
            <c:spPr>
              <a:solidFill>
                <a:srgbClr val="5B4FC4"/>
              </a:solidFill>
              <a:effectLst/>
            </c:spPr>
          </c:dPt>
          <c:dPt>
            <c:idx val="2"/>
            <c:invertIfNegative val="0"/>
            <c:bubble3D val="0"/>
            <c:spPr>
              <a:solidFill>
                <a:srgbClr val="2A9785"/>
              </a:solidFill>
              <a:effectLst/>
            </c:spPr>
          </c:dPt>
          <c:cat>
            <c:multiLvlStrRef>
              <c:f>Sheet1!$A$2:$A$4</c:f>
              <c:multiLvlStrCache>
                <c:ptCount val="3"/>
                <c:lvl>
                  <c:pt idx="0">
                    <c:v>保守的
（週30分／人）</c:v>
                  </c:pt>
                  <c:pt idx="1">
                    <c:v>標準
（週1時間／人）</c:v>
                  </c:pt>
                  <c:pt idx="2">
                    <c:v>積極的
（週2時間／人）</c:v>
                  </c:pt>
                </c:lvl>
              </c:multiLvlStrCache>
            </c:multiLvlStrRef>
          </c:cat>
          <c:val>
            <c:numRef>
              <c:f>Sheet1!$B$2:$B$4</c:f>
              <c:numCache>
                <c:formatCode>General</c:formatCode>
                <c:ptCount val="3"/>
                <c:pt idx="0">
                  <c:v>420</c:v>
                </c:pt>
                <c:pt idx="1">
                  <c:v>840</c:v>
                </c:pt>
                <c:pt idx="2">
                  <c:v>1680</c:v>
                </c:pt>
              </c:numCache>
            </c:numRef>
          </c:val>
        </c:ser>
        <c:dLbls>
          <c:numFmt formatCode="#,##0&quot;万円&quot;" sourceLinked="0"/>
          <c:txPr>
            <a:bodyPr/>
            <a:lstStyle/>
            <a:p>
              <a:pPr>
                <a:defRPr b="1" i="0" strike="noStrike" sz="1200" u="none">
                  <a:solidFill>
                    <a:srgbClr val="2B2A5E"/>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233"/>
                </a:solidFill>
                <a:latin typeface="+mn-lt"/>
              </a:defRPr>
            </a:pPr>
            <a:endParaRPr lang="en-US"/>
          </a:p>
        </c:txPr>
        <c:crossAx val="2094734552"/>
        <c:crosses val="autoZero"/>
        <c:auto val="1"/>
        <c:lblAlgn val="ctr"/>
        <c:noMultiLvlLbl val="1"/>
      </c:catAx>
      <c:valAx>
        <c:axId val="2094734552"/>
        <c:scaling>
          <c:orientation val="minMax"/>
          <c:max val="2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有効求人倍率: 令和7年6月、介護関係職種3.87倍・全職業1.05倍 https://www.mhlw.go.jp/content/12300000/001738934.pdf / 必要数: https://www.mhlw.go.jp/stf/newpage_41379.html / ICT導入支援事業（令和3年度、5,058事業所回答）: 文書作成の時間が短くなった81.9%、情報共有がしやすくなった90.3% https://www.mhlw.go.jp/content/12300000/001124036.pdf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生産性向上推進体制加算（Ⅱ）要件: 委員会（3ヶ月に1回以上、テレビ電話装置等での開催可）、見守り機器・インカム等・介護記録ソフトのいずれか1つ以上（インカム等にビジネス用チャットツールの活用による職員間の連絡調整の迅速化に資するICT機器を含む）、生産性向上ガイドラインに基づく改善活動の継続、年1回のオンラインでの実績データ提出。https://www.mhlw.go.jp/content/001227729.pdf / https://www.mhlw.go.jp/content/12300000/001238673.pdf 。令和8年度改定（2026年6月〜）: グループホームは処遇改善加算Ⅱイ20.2%→Ⅱロ22.0%、小規模多機能は16.8%→18.3%、訪問看護に1.8%の加算新設。ロ区分は令和8年度特例要件（ア：ケアプランデータ連携システムの利用〔訪問・通所・小規模多機能等〕、イ：生産性向上推進体制加算Ⅰ/Ⅱの算定〔居住系・小規模多機能等〕、ウ：社会福祉連携推進法人への所属）のいずれかを満たすこと。申請時は誓約で可（後に実績報告） https://www.mhlw.go.jp/content/001674610.pdf / https://www.mhlw.go.jp/content/12404000/001675936.pdf 。グループホーム・小規模多機能は地域密着型サービスのため指定権者は市町村。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事業所: グループホーム（あじさい、きそじ、ほてい、すなはら、みゆき、つるまい、旭城前、ふじまつ、あいづま、松河戸、小杁）、小規模多機能（ほてい、すなはら、つるまい、旭城前、ふじまつ、あいづま、小杁）、訪問看護ステーションあじさい、きそじの認知症デイ。2026年10月10日にグループホームあじさい牛山の上棟式。理念「人、社会、自然にやさしく」。出典 http://www.s-ajisai.com/information/2026/09/7.html 、http://www.s-ajisai.com/about.php 、http://www.s-ajisai.com/sdgs/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Dropbox 移行機能: 管理コンソール &gt; データ &gt; データのインポートとエクスポート &gt; Dropbox。2026/1/5 一般提供（Business 全エディション）。要件: Dropbox のビジネス（チーム）アカウントと管理者、Workspace の特権管理者、移行先の共有ドライブを事前作成。1回のインポートは最大150フォルダ、移行先ユーザーあたり最大50万アイテム。差分移行に対応。個人フォルダ→マイドライブ、チームフォルダ→共有ドライブ。オーナー／編集者／閲覧者の権限を引き継ぎ（チームフォルダの編集者はコンテンツ管理者に）。Office ファイルは形式のまま。旧バージョン履歴と Paper は移行対象外、外部ユーザー所有ファイルも対象外。Dropbox の『リンクを知っている全員』共有は Drive でも『リンクを知っている全員』になる。出典: https://workspaceupdates.googleblog.com/2026/01/migrate-files-dropbox-to-google-drive.html / https://knowledge.workspace.google.com/admin/migrate/migrate-files-from-a-dropbox-account / https://knowledge.workspace.google.com/admin/migrate/whats-migrated-in-a-dropbox-file-migration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リンク共有: https://support.google.com/drive/answer/2494822 / 共有の停止・有効期限: https://support.google.com/drive/answer/2494893 / 管理者による外部共有管理: https://knowledge.workspace.google.com/admin/drive/manage-external-sharing-for-your-organization / 共有ドライブ設定（Starter は設定変更不可）: https://knowledge.workspace.google.com/admin/drive/set-up-shared-drives-for-your-organization / 有効期限（2025年11月に共有ドライブ・フォルダにも拡大）: https://workspaceupdates.googleblog.com/2025/11/set-sharing-expirations-files-and-folders.html 。DLP・信頼ルール・コンテキストアウェアアクセスは Enterprise のみ。外部共有を『オフ』にすると、既に共有済みの外部ユーザーのアクセスも外れる点に注意。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の自動メモ（Take notes for me）は日本語対応済みだが Business Standard 以上が必要。Gemini Notebook は NotebookLM が2026年7月16日に改称したもの（Business 全エディション）。Workspace Studio は Workspace Flows の後継で、2026年5月から日本語に完全対応、2026年11月1日から利用上限の適用開始。出典: https://knowledge.workspace.google.com/admin/generative-ai/google-workspace-with-gemini-language-support / https://workspaceupdates.googleblog.com/2026/07/notebooklm-now-gemini-notebook.html / https://workspaceupdates.googleblog.com/2026/05/google-workspace-studio-available-in-more-languages.html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数値は各出典で公表されたもの。シーユーシーの短縮率は公表値「約20%」（4.0→3.3分）。The Washington Post は移行ベンダー CloudFuze の事例ページより。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シーユーシー: https://digitalpr.jp/r/131285 / https://blog.google/intl/ja-jp/company-news/technology/caremanager/ 。全59拠点展開時は年約3万時間の削減見込み（試算値）。ことの海会: https://www.yoshidumi.co.jp/work/kotonoumi （販売パートナーの事例ページ）。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日本特殊陶業: https://note.com/google_gemini/n/n1fdd25339ce8 / 船井総研: https://workspace.google.com/intl/ja/customers/funaisoken/ （開発チームでは独自言語のスクリプト作成が1日がかり→5〜10分に短縮できるケースも）。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ダイヤ工業: https://prtimes.jp/main/html/rd/p/000000150.000069271.html / Washington Post: https://cloudfuze.com/washington-post-case-study/ 。なお Google は2026年1月に管理コンソールから Dropbox → Google ドライブへ移行できる機能を一般提供開始（Business Starter／Standard／Plus 対象）。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参考値: Google 社内分析（Gemini パイロット18社・3,200件超の回答、2024年7月集計、自己申告）で平均週105分削減 https://workspace.google.com/blog/product-announcements/google-workspace-extends-gemini-benefits-to-more-customers 。Forrester TEI（Google 委託、2026年2月）は週3時間・ROI 416% だが、従業員2万人・年商40億ドルのグローバル企業を想定した合成モデルのため参考扱い。日本特殊陶業のトライアルは週平均3.1時間。標準ケース（週1時間）はこれらより保守的な置き方。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188720"/>
            <a:ext cx="6766560" cy="457200"/>
          </a:xfrm>
          <a:prstGeom prst="rect">
            <a:avLst/>
          </a:prstGeom>
          <a:noFill/>
          <a:ln/>
        </p:spPr>
        <p:txBody>
          <a:bodyPr wrap="square" rtlCol="0"/>
          <a:lstStyle>
            <a:lvl1pPr algn="l" indent="0" marL="0">
              <a:buNone/>
              <a:defRPr lang="en-US" sz="2000" b="1" dirty="0">
                <a:solidFill>
                  <a:schemeClr val="tx2"/>
                </a:solidFill>
              </a:defRPr>
            </a:lvl1pPr>
          </a:lstStyle>
          <a:p>
            <a:pPr algn="l" indent="0" marL="0">
              <a:buNone/>
            </a:pPr>
            <a:endParaRPr lang="en-US" sz="2000" dirty="0"/>
          </a:p>
        </p:txBody>
      </p:sp>
      <p:sp>
        <p:nvSpPr>
          <p:cNvPr id="3" name="Text 0"/>
          <p:cNvSpPr/>
          <p:nvPr>
            <p:ph idx="101" type="title" hasCustomPrompt="1"/>
          </p:nvPr>
        </p:nvSpPr>
        <p:spPr>
          <a:xfrm>
            <a:off x="731520" y="1874520"/>
            <a:ext cx="6949440" cy="1737360"/>
          </a:xfrm>
          <a:prstGeom prst="rect">
            <a:avLst/>
          </a:prstGeom>
          <a:noFill/>
          <a:ln/>
        </p:spPr>
        <p:txBody>
          <a:bodyPr wrap="square" rtlCol="0"/>
          <a:lstStyle>
            <a:lvl1pPr algn="l" indent="0" marL="0">
              <a:lnSpc>
                <a:spcPct val="110000"/>
              </a:lnSpc>
              <a:buNone/>
              <a:defRPr lang="en-US" sz="3800" b="1" dirty="0">
                <a:solidFill>
                  <a:schemeClr val="tx2"/>
                </a:solidFill>
              </a:defRPr>
            </a:lvl1pPr>
          </a:lstStyle>
          <a:p>
            <a:pPr algn="l" indent="0" marL="0">
              <a:lnSpc>
                <a:spcPct val="110000"/>
              </a:lnSpc>
              <a:buNone/>
            </a:pPr>
            <a:endParaRPr lang="en-US" sz="3800" dirty="0"/>
          </a:p>
        </p:txBody>
      </p:sp>
      <p:sp>
        <p:nvSpPr>
          <p:cNvPr id="4" name="Text 0"/>
          <p:cNvSpPr/>
          <p:nvPr>
            <p:ph idx="102" type="body" hasCustomPrompt="1"/>
          </p:nvPr>
        </p:nvSpPr>
        <p:spPr>
          <a:xfrm>
            <a:off x="731520" y="3749040"/>
            <a:ext cx="6766560" cy="822960"/>
          </a:xfrm>
          <a:prstGeom prst="rect">
            <a:avLst/>
          </a:prstGeom>
          <a:noFill/>
          <a:ln/>
        </p:spPr>
        <p:txBody>
          <a:bodyPr wrap="square" rtlCol="0"/>
          <a:lstStyle>
            <a:lvl1pPr algn="l" indent="0" marL="0">
              <a:buNone/>
              <a:defRPr lang="en-US" sz="1700" b="1" dirty="0">
                <a:solidFill>
                  <a:schemeClr val="accent1"/>
                </a:solidFill>
              </a:defRPr>
            </a:lvl1pPr>
          </a:lstStyle>
          <a:p>
            <a:pPr algn="l" indent="0" marL="0">
              <a:buNone/>
            </a:pPr>
            <a:endParaRPr lang="en-US" sz="1700" dirty="0"/>
          </a:p>
        </p:txBody>
      </p:sp>
      <p:sp>
        <p:nvSpPr>
          <p:cNvPr id="5" name="Text 0"/>
          <p:cNvSpPr/>
          <p:nvPr>
            <p:ph idx="103" type="body" hasCustomPrompt="1"/>
          </p:nvPr>
        </p:nvSpPr>
        <p:spPr>
          <a:xfrm>
            <a:off x="731520" y="5120640"/>
            <a:ext cx="6766560" cy="8229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rtlCol="0"/>
          <a:lstStyle>
            <a:lvl1pPr algn="l" indent="0" marL="0">
              <a:buNone/>
              <a:defRPr lang="en-US" sz="1600" b="1" dirty="0">
                <a:solidFill>
                  <a:schemeClr val="accent1"/>
                </a:solidFill>
              </a:defRPr>
            </a:lvl1pPr>
          </a:lstStyle>
          <a:p>
            <a:pPr algn="l" indent="0" marL="0">
              <a:buNone/>
            </a:pP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rtlCol="0"/>
          <a:lstStyle>
            <a:lvl1pPr algn="l" indent="0" marL="0">
              <a:buNone/>
              <a:defRPr lang="en-US" sz="900" dirty="0">
                <a:solidFill>
                  <a:schemeClr val="accent6"/>
                </a:solidFill>
              </a:defRPr>
            </a:lvl1pPr>
          </a:lstStyle>
          <a:p>
            <a:pPr algn="l" indent="0" marL="0">
              <a:buNone/>
            </a:pPr>
            <a:endParaRPr lang="en-US" sz="900" dirty="0"/>
          </a:p>
        </p:txBody>
      </p:sp>
      <p:sp>
        <p:nvSpPr>
          <p:cNvPr id="5" name="Text 0"/>
          <p:cNvSpPr/>
          <p:nvPr/>
        </p:nvSpPr>
        <p:spPr>
          <a:xfrm>
            <a:off x="548640" y="6556248"/>
            <a:ext cx="2011680" cy="201168"/>
          </a:xfrm>
          <a:prstGeom prst="rect">
            <a:avLst/>
          </a:prstGeom>
          <a:noFill/>
          <a:ln/>
        </p:spPr>
        <p:txBody>
          <a:bodyPr wrap="square" lIns="0" tIns="0" rIns="0" bIns="0" rtlCol="0" anchor="ctr"/>
          <a:lstStyle/>
          <a:p>
            <a:pPr indent="0" marL="0">
              <a:buNone/>
            </a:pPr>
            <a:r>
              <a:rPr lang="en-US" sz="900" dirty="0">
                <a:solidFill>
                  <a:schemeClr val="accent6"/>
                </a:solidFill>
              </a:rPr>
              <a:t>グリーエックス株式会社</a:t>
            </a:r>
            <a:endParaRPr lang="en-US" sz="9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3.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8-1.png"/><Relationship Id="rId3" Type="http://schemas.openxmlformats.org/officeDocument/2006/relationships/image" Target="../media/image-28-2.png"/><Relationship Id="rId4" Type="http://schemas.openxmlformats.org/officeDocument/2006/relationships/image" Target="../media/image-28-3.png"/><Relationship Id="rId5" Type="http://schemas.openxmlformats.org/officeDocument/2006/relationships/image" Target="../media/image-28-4.png"/><Relationship Id="rId6" Type="http://schemas.openxmlformats.org/officeDocument/2006/relationships/image" Target="../media/image-28-5.png"/><Relationship Id="rId7" Type="http://schemas.openxmlformats.org/officeDocument/2006/relationships/slideLayout" Target="../slideLayouts/slideLayout3.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slideLayout" Target="../slideLayouts/slideLayout3.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介護職員のイラスト">    </p:cNvPr>
          <p:cNvPicPr>
            <a:picLocks noChangeAspect="1"/>
          </p:cNvPicPr>
          <p:nvPr/>
        </p:nvPicPr>
        <p:blipFill>
          <a:blip r:embed="rId1"/>
          <a:stretch>
            <a:fillRect/>
          </a:stretch>
        </p:blipFill>
        <p:spPr>
          <a:xfrm>
            <a:off x="8138160" y="1554480"/>
            <a:ext cx="3017520" cy="3017520"/>
          </a:xfrm>
          <a:prstGeom prst="rect">
            <a:avLst/>
          </a:prstGeom>
        </p:spPr>
      </p:pic>
      <p:pic>
        <p:nvPicPr>
          <p:cNvPr id="3" name="Image 1" descr="ノートパソコンのイラスト">    </p:cNvPr>
          <p:cNvPicPr>
            <a:picLocks noChangeAspect="1"/>
          </p:cNvPicPr>
          <p:nvPr/>
        </p:nvPicPr>
        <p:blipFill>
          <a:blip r:embed="rId2"/>
          <a:stretch>
            <a:fillRect/>
          </a:stretch>
        </p:blipFill>
        <p:spPr>
          <a:xfrm>
            <a:off x="7635240" y="3977640"/>
            <a:ext cx="1737360" cy="1737360"/>
          </a:xfrm>
          <a:prstGeom prst="rect">
            <a:avLst/>
          </a:prstGeom>
        </p:spPr>
      </p:pic>
      <p:pic>
        <p:nvPicPr>
          <p:cNvPr id="4" name="Image 2" descr="きらめきのイラスト">    </p:cNvPr>
          <p:cNvPicPr>
            <a:picLocks noChangeAspect="1"/>
          </p:cNvPicPr>
          <p:nvPr/>
        </p:nvPicPr>
        <p:blipFill>
          <a:blip r:embed="rId3"/>
          <a:stretch>
            <a:fillRect/>
          </a:stretch>
        </p:blipFill>
        <p:spPr>
          <a:xfrm>
            <a:off x="10515600" y="1234440"/>
            <a:ext cx="1005840" cy="1005840"/>
          </a:xfrm>
          <a:prstGeom prst="rect">
            <a:avLst/>
          </a:prstGeom>
        </p:spPr>
      </p:pic>
      <p:pic>
        <p:nvPicPr>
          <p:cNvPr id="5" name="Image 3" descr="鍵のイラスト">    </p:cNvPr>
          <p:cNvPicPr>
            <a:picLocks noChangeAspect="1"/>
          </p:cNvPicPr>
          <p:nvPr/>
        </p:nvPicPr>
        <p:blipFill>
          <a:blip r:embed="rId4"/>
          <a:stretch>
            <a:fillRect/>
          </a:stretch>
        </p:blipFill>
        <p:spPr>
          <a:xfrm>
            <a:off x="10058400" y="4343400"/>
            <a:ext cx="1234440" cy="1234440"/>
          </a:xfrm>
          <a:prstGeom prst="rect">
            <a:avLst/>
          </a:prstGeom>
        </p:spPr>
      </p:pic>
      <p:sp>
        <p:nvSpPr>
          <p:cNvPr id="6" name="Text 0"/>
          <p:cNvSpPr/>
          <p:nvPr>
            <p:ph idx="100" type="body" hasCustomPrompt="1"/>
          </p:nvPr>
        </p:nvSpPr>
        <p:spPr>
          <a:xfrm>
            <a:off x="731520" y="1188720"/>
            <a:ext cx="6766560" cy="457200"/>
          </a:xfrm>
          <a:prstGeom prst="rect">
            <a:avLst/>
          </a:prstGeom>
          <a:noFill/>
          <a:ln/>
        </p:spPr>
        <p:txBody>
          <a:bodyPr wrap="square" lIns="0" tIns="0" rIns="0" bIns="0" rtlCol="0" anchor="t"/>
          <a:lstStyle/>
          <a:p>
            <a:pPr algn="l" indent="0" marL="0">
              <a:buNone/>
            </a:pPr>
            <a:r>
              <a:rPr lang="en-US" sz="2000" b="1" dirty="0">
                <a:solidFill>
                  <a:schemeClr val="tx2"/>
                </a:solidFill>
              </a:rPr>
              <a:t>株式会社サカイ 御中</a:t>
            </a:r>
            <a:endParaRPr lang="en-US" sz="2000" dirty="0"/>
          </a:p>
        </p:txBody>
      </p:sp>
      <p:sp>
        <p:nvSpPr>
          <p:cNvPr id="7" name="Text 0"/>
          <p:cNvSpPr/>
          <p:nvPr>
            <p:ph idx="101" type="title" hasCustomPrompt="1"/>
          </p:nvPr>
        </p:nvSpPr>
        <p:spPr>
          <a:xfrm>
            <a:off x="731520" y="1874520"/>
            <a:ext cx="6949440" cy="1737360"/>
          </a:xfrm>
          <a:prstGeom prst="rect">
            <a:avLst/>
          </a:prstGeom>
          <a:noFill/>
          <a:ln/>
        </p:spPr>
        <p:txBody>
          <a:bodyPr wrap="square" lIns="0" tIns="0" rIns="0" bIns="0" rtlCol="0" anchor="t"/>
          <a:lstStyle/>
          <a:p>
            <a:pPr algn="l" indent="0" marL="0">
              <a:lnSpc>
                <a:spcPct val="110000"/>
              </a:lnSpc>
              <a:buNone/>
            </a:pPr>
            <a:r>
              <a:rPr lang="en-US" sz="3800" b="1" dirty="0">
                <a:solidFill>
                  <a:schemeClr val="tx2"/>
                </a:solidFill>
              </a:rPr>
              <a:t>「事務の時間」を、</a:t>
            </a:r>
            <a:endParaRPr lang="en-US" sz="3800" dirty="0"/>
          </a:p>
          <a:p>
            <a:pPr algn="l" indent="0" marL="0">
              <a:lnSpc>
                <a:spcPct val="110000"/>
              </a:lnSpc>
              <a:buNone/>
            </a:pPr>
            <a:r>
              <a:rPr lang="en-US" sz="3800" b="1" dirty="0">
                <a:solidFill>
                  <a:schemeClr val="tx2"/>
                </a:solidFill>
              </a:rPr>
              <a:t>ケアと未来の時間へ</a:t>
            </a:r>
            <a:endParaRPr lang="en-US" sz="3800" dirty="0"/>
          </a:p>
        </p:txBody>
      </p:sp>
      <p:sp>
        <p:nvSpPr>
          <p:cNvPr id="8" name="Text 0"/>
          <p:cNvSpPr/>
          <p:nvPr>
            <p:ph idx="102" type="body" hasCustomPrompt="1"/>
          </p:nvPr>
        </p:nvSpPr>
        <p:spPr>
          <a:xfrm>
            <a:off x="731520" y="3749040"/>
            <a:ext cx="6766560" cy="822960"/>
          </a:xfrm>
          <a:prstGeom prst="rect">
            <a:avLst/>
          </a:prstGeom>
          <a:noFill/>
          <a:ln/>
        </p:spPr>
        <p:txBody>
          <a:bodyPr wrap="square" lIns="0" tIns="0" rIns="0" bIns="0" rtlCol="0" anchor="t"/>
          <a:lstStyle/>
          <a:p>
            <a:pPr algn="l" indent="0" marL="0">
              <a:buNone/>
            </a:pPr>
            <a:r>
              <a:rPr lang="en-US" sz="1700" b="1" dirty="0">
                <a:solidFill>
                  <a:schemeClr val="accent1"/>
                </a:solidFill>
              </a:rPr>
              <a:t>Google Workspace × Gemini 活用による</a:t>
            </a:r>
            <a:endParaRPr lang="en-US" sz="1700" dirty="0"/>
          </a:p>
          <a:p>
            <a:pPr algn="l" indent="0" marL="0">
              <a:buNone/>
            </a:pPr>
            <a:r>
              <a:rPr lang="en-US" sz="1700" b="1" dirty="0">
                <a:solidFill>
                  <a:schemeClr val="accent1"/>
                </a:solidFill>
              </a:rPr>
              <a:t>業務効率化・Drive 移行 ご支援のご提案</a:t>
            </a:r>
            <a:endParaRPr lang="en-US" sz="1700" dirty="0"/>
          </a:p>
        </p:txBody>
      </p:sp>
      <p:sp>
        <p:nvSpPr>
          <p:cNvPr id="9" name="Text 0"/>
          <p:cNvSpPr/>
          <p:nvPr>
            <p:ph idx="103" type="body" hasCustomPrompt="1"/>
          </p:nvPr>
        </p:nvSpPr>
        <p:spPr>
          <a:xfrm>
            <a:off x="731520" y="5120640"/>
            <a:ext cx="6766560" cy="822960"/>
          </a:xfrm>
          <a:prstGeom prst="rect">
            <a:avLst/>
          </a:prstGeom>
          <a:noFill/>
          <a:ln/>
        </p:spPr>
        <p:txBody>
          <a:bodyPr wrap="square" lIns="0" tIns="0" rIns="0" bIns="0" rtlCol="0" anchor="t"/>
          <a:lstStyle/>
          <a:p>
            <a:pPr algn="l" indent="0" marL="0">
              <a:buNone/>
            </a:pPr>
            <a:r>
              <a:rPr lang="en-US" sz="1400" dirty="0">
                <a:solidFill>
                  <a:schemeClr val="tx1"/>
                </a:solidFill>
              </a:rPr>
              <a:t>2026年10月27日</a:t>
            </a:r>
            <a:endParaRPr lang="en-US" sz="1400" dirty="0"/>
          </a:p>
          <a:p>
            <a:pPr algn="l" indent="0" marL="0">
              <a:buNone/>
            </a:pPr>
            <a:r>
              <a:rPr lang="en-US" sz="1400" dirty="0">
                <a:solidFill>
                  <a:schemeClr val="tx1"/>
                </a:solidFill>
              </a:rPr>
              <a:t>グリーエックス株式会社　山口 宙輝</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本提案のポイント</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導入済みの Workspace／Gemini を活かし切り、安全なデータ管理と業務効率化を両立します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はじめに</a:t>
            </a:r>
            <a:endParaRPr lang="en-US" sz="900" dirty="0"/>
          </a:p>
        </p:txBody>
      </p:sp>
      <p:sp>
        <p:nvSpPr>
          <p:cNvPr id="5" name="Text 3"/>
          <p:cNvSpPr txBox="1"/>
          <p:nvPr/>
        </p:nvSpPr>
        <p:spPr>
          <a:xfrm>
            <a:off x="548640" y="1692828"/>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1280160" y="1639507"/>
            <a:ext cx="6583680" cy="413261"/>
          </a:xfrm>
          <a:prstGeom prst="rect">
            <a:avLst/>
          </a:prstGeom>
          <a:noFill/>
          <a:ln/>
        </p:spPr>
        <p:txBody>
          <a:bodyPr wrap="square" lIns="0" tIns="0" rIns="0" bIns="0" rtlCol="0" anchor="t"/>
          <a:lstStyle/>
          <a:p>
            <a:pPr indent="0" marL="0">
              <a:buNone/>
            </a:pPr>
            <a:r>
              <a:rPr lang="en-US" sz="1700" b="1" dirty="0">
                <a:solidFill>
                  <a:schemeClr val="tx2"/>
                </a:solidFill>
              </a:rPr>
              <a:t>Drive 移行と「仕組みで守る」共有ルールを最優先で整備</a:t>
            </a:r>
            <a:endParaRPr lang="en-US" sz="1700" dirty="0"/>
          </a:p>
        </p:txBody>
      </p:sp>
      <p:sp>
        <p:nvSpPr>
          <p:cNvPr id="7" name="Text 5"/>
          <p:cNvSpPr txBox="1"/>
          <p:nvPr/>
        </p:nvSpPr>
        <p:spPr>
          <a:xfrm>
            <a:off x="1280160" y="2104426"/>
            <a:ext cx="6583680" cy="981496"/>
          </a:xfrm>
          <a:prstGeom prst="rect">
            <a:avLst/>
          </a:prstGeom>
          <a:noFill/>
          <a:ln/>
        </p:spPr>
        <p:txBody>
          <a:bodyPr wrap="square" lIns="0" tIns="0" rIns="0" bIns="0" rtlCol="0" anchor="t"/>
          <a:lstStyle/>
          <a:p>
            <a:pPr indent="0" marL="0">
              <a:buNone/>
            </a:pPr>
            <a:r>
              <a:rPr lang="en-US" sz="1400" dirty="0">
                <a:solidFill>
                  <a:schemeClr val="tx1"/>
                </a:solidFill>
              </a:rPr>
              <a:t>Dropbox からの切替を早期に完了。リンク共有の不安は、管理者設定と共有ドライブの権限設計で減らし、個人情報を安心して扱える状態を先につくります。</a:t>
            </a:r>
            <a:endParaRPr lang="en-US" sz="1400" dirty="0"/>
          </a:p>
        </p:txBody>
      </p:sp>
      <p:sp>
        <p:nvSpPr>
          <p:cNvPr id="8" name="Text 6"/>
          <p:cNvSpPr txBox="1"/>
          <p:nvPr/>
        </p:nvSpPr>
        <p:spPr>
          <a:xfrm>
            <a:off x="548640" y="3242557"/>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7"/>
          <p:cNvSpPr txBox="1"/>
          <p:nvPr/>
        </p:nvSpPr>
        <p:spPr>
          <a:xfrm>
            <a:off x="1280160" y="3189237"/>
            <a:ext cx="6583680" cy="413261"/>
          </a:xfrm>
          <a:prstGeom prst="rect">
            <a:avLst/>
          </a:prstGeom>
          <a:noFill/>
          <a:ln/>
        </p:spPr>
        <p:txBody>
          <a:bodyPr wrap="square" lIns="0" tIns="0" rIns="0" bIns="0" rtlCol="0" anchor="t"/>
          <a:lstStyle/>
          <a:p>
            <a:pPr indent="0" marL="0">
              <a:buNone/>
            </a:pPr>
            <a:r>
              <a:rPr lang="en-US" sz="1700" b="1" dirty="0">
                <a:solidFill>
                  <a:schemeClr val="tx2"/>
                </a:solidFill>
              </a:rPr>
              <a:t>テスト導入8名の業務から、効果の出る「型」をつくる</a:t>
            </a:r>
            <a:endParaRPr lang="en-US" sz="1700" dirty="0"/>
          </a:p>
        </p:txBody>
      </p:sp>
      <p:sp>
        <p:nvSpPr>
          <p:cNvPr id="10" name="Text 8"/>
          <p:cNvSpPr txBox="1"/>
          <p:nvPr/>
        </p:nvSpPr>
        <p:spPr>
          <a:xfrm>
            <a:off x="1280160" y="3654156"/>
            <a:ext cx="6583680" cy="981496"/>
          </a:xfrm>
          <a:prstGeom prst="rect">
            <a:avLst/>
          </a:prstGeom>
          <a:noFill/>
          <a:ln/>
        </p:spPr>
        <p:txBody>
          <a:bodyPr wrap="square" lIns="0" tIns="0" rIns="0" bIns="0" rtlCol="0" anchor="t"/>
          <a:lstStyle/>
          <a:p>
            <a:pPr indent="0" marL="0">
              <a:buNone/>
            </a:pPr>
            <a:r>
              <a:rPr lang="en-US" sz="1400" dirty="0">
                <a:solidFill>
                  <a:schemeClr val="tx1"/>
                </a:solidFill>
              </a:rPr>
              <a:t>資料作成・メール・議事録・提出物管理など、効果を実感しやすい業務から活用テンプレートと手順書を整備。ご担当者様が社内で教えられる状態を目指します。</a:t>
            </a:r>
            <a:endParaRPr lang="en-US" sz="1400" dirty="0"/>
          </a:p>
        </p:txBody>
      </p:sp>
      <p:sp>
        <p:nvSpPr>
          <p:cNvPr id="11" name="Text 9"/>
          <p:cNvSpPr txBox="1"/>
          <p:nvPr/>
        </p:nvSpPr>
        <p:spPr>
          <a:xfrm>
            <a:off x="548640" y="4792287"/>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2" name="Text 10"/>
          <p:cNvSpPr txBox="1"/>
          <p:nvPr/>
        </p:nvSpPr>
        <p:spPr>
          <a:xfrm>
            <a:off x="1280160" y="4738967"/>
            <a:ext cx="6583680" cy="413261"/>
          </a:xfrm>
          <a:prstGeom prst="rect">
            <a:avLst/>
          </a:prstGeom>
          <a:noFill/>
          <a:ln/>
        </p:spPr>
        <p:txBody>
          <a:bodyPr wrap="square" lIns="0" tIns="0" rIns="0" bIns="0" rtlCol="0" anchor="t"/>
          <a:lstStyle/>
          <a:p>
            <a:pPr indent="0" marL="0">
              <a:buNone/>
            </a:pPr>
            <a:r>
              <a:rPr lang="en-US" sz="1700" b="1" dirty="0">
                <a:solidFill>
                  <a:schemeClr val="tx2"/>
                </a:solidFill>
              </a:rPr>
              <a:t>対象部門の50〜70名へ段階展開し、効果を数字で示す</a:t>
            </a:r>
            <a:endParaRPr lang="en-US" sz="1700" dirty="0"/>
          </a:p>
        </p:txBody>
      </p:sp>
      <p:sp>
        <p:nvSpPr>
          <p:cNvPr id="13" name="Text 11"/>
          <p:cNvSpPr txBox="1"/>
          <p:nvPr/>
        </p:nvSpPr>
        <p:spPr>
          <a:xfrm>
            <a:off x="1280160" y="5203886"/>
            <a:ext cx="6583680" cy="981496"/>
          </a:xfrm>
          <a:prstGeom prst="rect">
            <a:avLst/>
          </a:prstGeom>
          <a:noFill/>
          <a:ln/>
        </p:spPr>
        <p:txBody>
          <a:bodyPr wrap="square" lIns="0" tIns="0" rIns="0" bIns="0" rtlCol="0" anchor="t"/>
          <a:lstStyle/>
          <a:p>
            <a:pPr indent="0" marL="0">
              <a:buNone/>
            </a:pPr>
            <a:r>
              <a:rPr lang="en-US" sz="1400" dirty="0">
                <a:solidFill>
                  <a:schemeClr val="tx1"/>
                </a:solidFill>
              </a:rPr>
              <a:t>部門ごとに無理なく展開し、削減時間・利用率などの指標で費用対効果を可視化。代表取締役へのご報告・月次会議にそのまま使える形で整理します。※ ご契約エディションによっては、一部機能に上位エディションが必要です</a:t>
            </a:r>
            <a:endParaRPr lang="en-US" sz="1400" dirty="0"/>
          </a:p>
        </p:txBody>
      </p:sp>
      <p:sp>
        <p:nvSpPr>
          <p:cNvPr id="14" name="Shape 12"/>
          <p:cNvSpPr/>
          <p:nvPr/>
        </p:nvSpPr>
        <p:spPr>
          <a:xfrm>
            <a:off x="8183880" y="1587850"/>
            <a:ext cx="3459175" cy="4649190"/>
          </a:xfrm>
          <a:prstGeom prst="roundRect">
            <a:avLst>
              <a:gd name="adj" fmla="val 3172"/>
            </a:avLst>
          </a:prstGeom>
          <a:solidFill>
            <a:schemeClr val="bg2"/>
          </a:solidFill>
          <a:ln/>
        </p:spPr>
      </p:sp>
      <p:sp>
        <p:nvSpPr>
          <p:cNvPr id="15" name="Text 13"/>
          <p:cNvSpPr txBox="1"/>
          <p:nvPr/>
        </p:nvSpPr>
        <p:spPr>
          <a:xfrm>
            <a:off x="8458200" y="1846138"/>
            <a:ext cx="2910535" cy="413261"/>
          </a:xfrm>
          <a:prstGeom prst="rect">
            <a:avLst/>
          </a:prstGeom>
          <a:noFill/>
          <a:ln/>
        </p:spPr>
        <p:txBody>
          <a:bodyPr wrap="square" lIns="0" tIns="0" rIns="0" bIns="0" rtlCol="0" anchor="t"/>
          <a:lstStyle/>
          <a:p>
            <a:pPr indent="0" marL="0">
              <a:buNone/>
            </a:pPr>
            <a:r>
              <a:rPr lang="en-US" sz="1600" b="1" dirty="0">
                <a:solidFill>
                  <a:schemeClr val="tx1"/>
                </a:solidFill>
              </a:rPr>
              <a:t>ご予算に応じた3つの進め方</a:t>
            </a:r>
            <a:endParaRPr lang="en-US" sz="1600" dirty="0"/>
          </a:p>
        </p:txBody>
      </p:sp>
      <p:sp>
        <p:nvSpPr>
          <p:cNvPr id="16" name="Text 14"/>
          <p:cNvSpPr txBox="1"/>
          <p:nvPr/>
        </p:nvSpPr>
        <p:spPr>
          <a:xfrm>
            <a:off x="8458200" y="2495718"/>
            <a:ext cx="457200" cy="457200"/>
          </a:xfrm>
          <a:prstGeom prst="ellipse">
            <a:avLst/>
          </a:prstGeom>
          <a:solidFill>
            <a:schemeClr val="accent2"/>
          </a:solid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17" name="Text 15"/>
          <p:cNvSpPr txBox="1"/>
          <p:nvPr/>
        </p:nvSpPr>
        <p:spPr>
          <a:xfrm>
            <a:off x="9052560" y="2445367"/>
            <a:ext cx="2361895" cy="309946"/>
          </a:xfrm>
          <a:prstGeom prst="rect">
            <a:avLst/>
          </a:prstGeom>
          <a:noFill/>
          <a:ln/>
        </p:spPr>
        <p:txBody>
          <a:bodyPr wrap="square" lIns="0" tIns="0" rIns="0" bIns="0" rtlCol="0" anchor="t"/>
          <a:lstStyle/>
          <a:p>
            <a:pPr indent="0" marL="0">
              <a:buNone/>
            </a:pPr>
            <a:r>
              <a:rPr lang="en-US" sz="1500" b="1" dirty="0">
                <a:solidFill>
                  <a:schemeClr val="tx1"/>
                </a:solidFill>
              </a:rPr>
              <a:t>アドバイザリー</a:t>
            </a:r>
            <a:endParaRPr lang="en-US" sz="1500" dirty="0"/>
          </a:p>
        </p:txBody>
      </p:sp>
      <p:sp>
        <p:nvSpPr>
          <p:cNvPr id="18" name="Text 16"/>
          <p:cNvSpPr txBox="1"/>
          <p:nvPr/>
        </p:nvSpPr>
        <p:spPr>
          <a:xfrm>
            <a:off x="9052560" y="2775976"/>
            <a:ext cx="2361895" cy="309946"/>
          </a:xfrm>
          <a:prstGeom prst="rect">
            <a:avLst/>
          </a:prstGeom>
          <a:noFill/>
          <a:ln/>
        </p:spPr>
        <p:txBody>
          <a:bodyPr wrap="square" lIns="0" tIns="0" rIns="0" bIns="0" rtlCol="0" anchor="t"/>
          <a:lstStyle/>
          <a:p>
            <a:pPr indent="0" marL="0">
              <a:buNone/>
            </a:pPr>
            <a:r>
              <a:rPr lang="en-US" sz="1300" dirty="0">
                <a:solidFill>
                  <a:schemeClr val="tx1"/>
                </a:solidFill>
              </a:rPr>
              <a:t>助言・レビュー中心</a:t>
            </a:r>
            <a:endParaRPr lang="en-US" sz="1300" dirty="0"/>
          </a:p>
        </p:txBody>
      </p:sp>
      <p:sp>
        <p:nvSpPr>
          <p:cNvPr id="19" name="Text 17"/>
          <p:cNvSpPr txBox="1"/>
          <p:nvPr/>
        </p:nvSpPr>
        <p:spPr>
          <a:xfrm>
            <a:off x="8458200" y="3477214"/>
            <a:ext cx="457200" cy="45720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20" name="Text 18"/>
          <p:cNvSpPr txBox="1"/>
          <p:nvPr/>
        </p:nvSpPr>
        <p:spPr>
          <a:xfrm>
            <a:off x="9052560" y="3426862"/>
            <a:ext cx="2361895" cy="309946"/>
          </a:xfrm>
          <a:prstGeom prst="rect">
            <a:avLst/>
          </a:prstGeom>
          <a:noFill/>
          <a:ln/>
        </p:spPr>
        <p:txBody>
          <a:bodyPr wrap="square" lIns="0" tIns="0" rIns="0" bIns="0" rtlCol="0" anchor="t"/>
          <a:lstStyle/>
          <a:p>
            <a:pPr indent="0" marL="0">
              <a:buNone/>
            </a:pPr>
            <a:r>
              <a:rPr lang="en-US" sz="1500" b="1" dirty="0">
                <a:solidFill>
                  <a:schemeClr val="tx1"/>
                </a:solidFill>
              </a:rPr>
              <a:t>伴走支援</a:t>
            </a:r>
            <a:endParaRPr lang="en-US" sz="1500" dirty="0"/>
          </a:p>
        </p:txBody>
      </p:sp>
      <p:sp>
        <p:nvSpPr>
          <p:cNvPr id="21" name="Text 19"/>
          <p:cNvSpPr txBox="1"/>
          <p:nvPr/>
        </p:nvSpPr>
        <p:spPr>
          <a:xfrm>
            <a:off x="9052560" y="3757471"/>
            <a:ext cx="2361895" cy="309946"/>
          </a:xfrm>
          <a:prstGeom prst="rect">
            <a:avLst/>
          </a:prstGeom>
          <a:noFill/>
          <a:ln/>
        </p:spPr>
        <p:txBody>
          <a:bodyPr wrap="square" lIns="0" tIns="0" rIns="0" bIns="0" rtlCol="0" anchor="t"/>
          <a:lstStyle/>
          <a:p>
            <a:pPr indent="0" marL="0">
              <a:buNone/>
            </a:pPr>
            <a:r>
              <a:rPr lang="en-US" sz="1300" dirty="0">
                <a:solidFill>
                  <a:schemeClr val="tx1"/>
                </a:solidFill>
              </a:rPr>
              <a:t>設定・型づくりまで一緒に</a:t>
            </a:r>
            <a:endParaRPr lang="en-US" sz="1300" dirty="0"/>
          </a:p>
        </p:txBody>
      </p:sp>
      <p:sp>
        <p:nvSpPr>
          <p:cNvPr id="22" name="Text 20"/>
          <p:cNvSpPr txBox="1"/>
          <p:nvPr/>
        </p:nvSpPr>
        <p:spPr>
          <a:xfrm>
            <a:off x="8458200" y="4458709"/>
            <a:ext cx="457200" cy="457200"/>
          </a:xfrm>
          <a:prstGeom prst="ellipse">
            <a:avLst/>
          </a:prstGeom>
          <a:solidFill>
            <a:schemeClr val="accent2"/>
          </a:solid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23" name="Text 21"/>
          <p:cNvSpPr txBox="1"/>
          <p:nvPr/>
        </p:nvSpPr>
        <p:spPr>
          <a:xfrm>
            <a:off x="9052560" y="4408358"/>
            <a:ext cx="2361895" cy="309946"/>
          </a:xfrm>
          <a:prstGeom prst="rect">
            <a:avLst/>
          </a:prstGeom>
          <a:noFill/>
          <a:ln/>
        </p:spPr>
        <p:txBody>
          <a:bodyPr wrap="square" lIns="0" tIns="0" rIns="0" bIns="0" rtlCol="0" anchor="t"/>
          <a:lstStyle/>
          <a:p>
            <a:pPr indent="0" marL="0">
              <a:buNone/>
            </a:pPr>
            <a:r>
              <a:rPr lang="en-US" sz="1500" b="1" dirty="0">
                <a:solidFill>
                  <a:schemeClr val="tx1"/>
                </a:solidFill>
              </a:rPr>
              <a:t>実行支援</a:t>
            </a:r>
            <a:endParaRPr lang="en-US" sz="1500" dirty="0"/>
          </a:p>
        </p:txBody>
      </p:sp>
      <p:sp>
        <p:nvSpPr>
          <p:cNvPr id="24" name="Text 22"/>
          <p:cNvSpPr txBox="1"/>
          <p:nvPr/>
        </p:nvSpPr>
        <p:spPr>
          <a:xfrm>
            <a:off x="9052560" y="4738967"/>
            <a:ext cx="2361895" cy="309946"/>
          </a:xfrm>
          <a:prstGeom prst="rect">
            <a:avLst/>
          </a:prstGeom>
          <a:noFill/>
          <a:ln/>
        </p:spPr>
        <p:txBody>
          <a:bodyPr wrap="square" lIns="0" tIns="0" rIns="0" bIns="0" rtlCol="0" anchor="t"/>
          <a:lstStyle/>
          <a:p>
            <a:pPr indent="0" marL="0">
              <a:buNone/>
            </a:pPr>
            <a:r>
              <a:rPr lang="en-US" sz="1300" dirty="0">
                <a:solidFill>
                  <a:schemeClr val="tx1"/>
                </a:solidFill>
              </a:rPr>
              <a:t>移行作業・自動化まで代行</a:t>
            </a:r>
            <a:endParaRPr lang="en-US" sz="1300" dirty="0"/>
          </a:p>
        </p:txBody>
      </p:sp>
      <p:sp>
        <p:nvSpPr>
          <p:cNvPr id="25" name="Text 23"/>
          <p:cNvSpPr txBox="1"/>
          <p:nvPr/>
        </p:nvSpPr>
        <p:spPr>
          <a:xfrm>
            <a:off x="8458200" y="5513832"/>
            <a:ext cx="2910535" cy="361604"/>
          </a:xfrm>
          <a:prstGeom prst="rect">
            <a:avLst/>
          </a:prstGeom>
          <a:noFill/>
          <a:ln/>
        </p:spPr>
        <p:txBody>
          <a:bodyPr wrap="square" lIns="0" tIns="0" rIns="0" bIns="0" rtlCol="0" anchor="t"/>
          <a:lstStyle/>
          <a:p>
            <a:pPr indent="0" marL="0">
              <a:buNone/>
            </a:pPr>
            <a:r>
              <a:rPr lang="en-US" sz="1200" b="1" dirty="0">
                <a:solidFill>
                  <a:schemeClr val="accent1"/>
                </a:solidFill>
              </a:rPr>
              <a:t>→ 詳細は「04 進め方・体制・費用」</a:t>
            </a:r>
            <a:endParaRPr lang="en-US" sz="12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本日のアジェンダ</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現状のご理解から、ご提案内容、他社事例、進め方・費用までを順にご説明します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はじめに</a:t>
            </a:r>
            <a:endParaRPr lang="en-US" sz="900" dirty="0"/>
          </a:p>
        </p:txBody>
      </p:sp>
      <p:sp>
        <p:nvSpPr>
          <p:cNvPr id="5" name="Text 3"/>
          <p:cNvSpPr txBox="1"/>
          <p:nvPr/>
        </p:nvSpPr>
        <p:spPr>
          <a:xfrm>
            <a:off x="731520" y="1587850"/>
            <a:ext cx="914400" cy="723207"/>
          </a:xfrm>
          <a:prstGeom prst="rect">
            <a:avLst/>
          </a:prstGeom>
          <a:noFill/>
          <a:ln/>
        </p:spPr>
        <p:txBody>
          <a:bodyPr wrap="square" lIns="0" tIns="0" rIns="0" bIns="0" rtlCol="0" anchor="ctr"/>
          <a:lstStyle/>
          <a:p>
            <a:pPr indent="0" marL="0">
              <a:buNone/>
            </a:pPr>
            <a:r>
              <a:rPr lang="en-US" sz="3200" b="1" dirty="0">
                <a:solidFill>
                  <a:schemeClr val="accent1"/>
                </a:solidFill>
              </a:rPr>
              <a:t>01</a:t>
            </a:r>
            <a:endParaRPr lang="en-US" sz="3200" dirty="0"/>
          </a:p>
        </p:txBody>
      </p:sp>
      <p:sp>
        <p:nvSpPr>
          <p:cNvPr id="6" name="Text 4"/>
          <p:cNvSpPr txBox="1"/>
          <p:nvPr/>
        </p:nvSpPr>
        <p:spPr>
          <a:xfrm>
            <a:off x="1828800" y="1608513"/>
            <a:ext cx="5943600" cy="413261"/>
          </a:xfrm>
          <a:prstGeom prst="rect">
            <a:avLst/>
          </a:prstGeom>
          <a:noFill/>
          <a:ln/>
        </p:spPr>
        <p:txBody>
          <a:bodyPr wrap="square" lIns="0" tIns="0" rIns="0" bIns="0" rtlCol="0" anchor="t"/>
          <a:lstStyle/>
          <a:p>
            <a:pPr indent="0" marL="0">
              <a:buNone/>
            </a:pPr>
            <a:r>
              <a:rPr lang="en-US" sz="2000" b="1" dirty="0">
                <a:solidFill>
                  <a:schemeClr val="tx2"/>
                </a:solidFill>
              </a:rPr>
              <a:t>現状のご理解</a:t>
            </a:r>
            <a:endParaRPr lang="en-US" sz="2000" dirty="0"/>
          </a:p>
        </p:txBody>
      </p:sp>
      <p:sp>
        <p:nvSpPr>
          <p:cNvPr id="7" name="Text 5"/>
          <p:cNvSpPr txBox="1"/>
          <p:nvPr/>
        </p:nvSpPr>
        <p:spPr>
          <a:xfrm>
            <a:off x="1828800" y="2021774"/>
            <a:ext cx="5943600" cy="309946"/>
          </a:xfrm>
          <a:prstGeom prst="rect">
            <a:avLst/>
          </a:prstGeom>
          <a:noFill/>
          <a:ln/>
        </p:spPr>
        <p:txBody>
          <a:bodyPr wrap="square" lIns="0" tIns="0" rIns="0" bIns="0" rtlCol="0" anchor="t"/>
          <a:lstStyle/>
          <a:p>
            <a:pPr indent="0" marL="0">
              <a:buNone/>
            </a:pPr>
            <a:r>
              <a:rPr lang="en-US" sz="1400" dirty="0">
                <a:solidFill>
                  <a:schemeClr val="accent6"/>
                </a:solidFill>
              </a:rPr>
              <a:t>業界環境と貴社の現状・課題の整理</a:t>
            </a:r>
            <a:endParaRPr lang="en-US" sz="1400" dirty="0"/>
          </a:p>
        </p:txBody>
      </p:sp>
      <p:sp>
        <p:nvSpPr>
          <p:cNvPr id="8" name="Text 6"/>
          <p:cNvSpPr txBox="1"/>
          <p:nvPr/>
        </p:nvSpPr>
        <p:spPr>
          <a:xfrm>
            <a:off x="731520" y="2517688"/>
            <a:ext cx="914400" cy="723207"/>
          </a:xfrm>
          <a:prstGeom prst="rect">
            <a:avLst/>
          </a:prstGeom>
          <a:noFill/>
          <a:ln/>
        </p:spPr>
        <p:txBody>
          <a:bodyPr wrap="square" lIns="0" tIns="0" rIns="0" bIns="0" rtlCol="0" anchor="ctr"/>
          <a:lstStyle/>
          <a:p>
            <a:pPr indent="0" marL="0">
              <a:buNone/>
            </a:pPr>
            <a:r>
              <a:rPr lang="en-US" sz="3200" b="1" dirty="0">
                <a:solidFill>
                  <a:schemeClr val="accent1"/>
                </a:solidFill>
              </a:rPr>
              <a:t>02</a:t>
            </a:r>
            <a:endParaRPr lang="en-US" sz="3200" dirty="0"/>
          </a:p>
        </p:txBody>
      </p:sp>
      <p:sp>
        <p:nvSpPr>
          <p:cNvPr id="9" name="Text 7"/>
          <p:cNvSpPr txBox="1"/>
          <p:nvPr/>
        </p:nvSpPr>
        <p:spPr>
          <a:xfrm>
            <a:off x="1828800" y="2538351"/>
            <a:ext cx="5943600" cy="413261"/>
          </a:xfrm>
          <a:prstGeom prst="rect">
            <a:avLst/>
          </a:prstGeom>
          <a:noFill/>
          <a:ln/>
        </p:spPr>
        <p:txBody>
          <a:bodyPr wrap="square" lIns="0" tIns="0" rIns="0" bIns="0" rtlCol="0" anchor="t"/>
          <a:lstStyle/>
          <a:p>
            <a:pPr indent="0" marL="0">
              <a:buNone/>
            </a:pPr>
            <a:r>
              <a:rPr lang="en-US" sz="2000" b="1" dirty="0">
                <a:solidFill>
                  <a:schemeClr val="tx2"/>
                </a:solidFill>
              </a:rPr>
              <a:t>ご提案内容</a:t>
            </a:r>
            <a:endParaRPr lang="en-US" sz="2000" dirty="0"/>
          </a:p>
        </p:txBody>
      </p:sp>
      <p:sp>
        <p:nvSpPr>
          <p:cNvPr id="10" name="Text 8"/>
          <p:cNvSpPr txBox="1"/>
          <p:nvPr/>
        </p:nvSpPr>
        <p:spPr>
          <a:xfrm>
            <a:off x="1828800" y="2951612"/>
            <a:ext cx="5943600" cy="309946"/>
          </a:xfrm>
          <a:prstGeom prst="rect">
            <a:avLst/>
          </a:prstGeom>
          <a:noFill/>
          <a:ln/>
        </p:spPr>
        <p:txBody>
          <a:bodyPr wrap="square" lIns="0" tIns="0" rIns="0" bIns="0" rtlCol="0" anchor="t"/>
          <a:lstStyle/>
          <a:p>
            <a:pPr indent="0" marL="0">
              <a:buNone/>
            </a:pPr>
            <a:r>
              <a:rPr lang="en-US" sz="1400" dirty="0">
                <a:solidFill>
                  <a:schemeClr val="accent6"/>
                </a:solidFill>
              </a:rPr>
              <a:t>Drive 移行／業務別AI 活用／定着・社内展開</a:t>
            </a:r>
            <a:endParaRPr lang="en-US" sz="1400" dirty="0"/>
          </a:p>
        </p:txBody>
      </p:sp>
      <p:sp>
        <p:nvSpPr>
          <p:cNvPr id="11" name="Text 9"/>
          <p:cNvSpPr txBox="1"/>
          <p:nvPr/>
        </p:nvSpPr>
        <p:spPr>
          <a:xfrm>
            <a:off x="731520" y="3447526"/>
            <a:ext cx="914400" cy="723207"/>
          </a:xfrm>
          <a:prstGeom prst="rect">
            <a:avLst/>
          </a:prstGeom>
          <a:noFill/>
          <a:ln/>
        </p:spPr>
        <p:txBody>
          <a:bodyPr wrap="square" lIns="0" tIns="0" rIns="0" bIns="0" rtlCol="0" anchor="ctr"/>
          <a:lstStyle/>
          <a:p>
            <a:pPr indent="0" marL="0">
              <a:buNone/>
            </a:pPr>
            <a:r>
              <a:rPr lang="en-US" sz="3200" b="1" dirty="0">
                <a:solidFill>
                  <a:schemeClr val="accent1"/>
                </a:solidFill>
              </a:rPr>
              <a:t>03</a:t>
            </a:r>
            <a:endParaRPr lang="en-US" sz="3200" dirty="0"/>
          </a:p>
        </p:txBody>
      </p:sp>
      <p:sp>
        <p:nvSpPr>
          <p:cNvPr id="12" name="Text 10"/>
          <p:cNvSpPr txBox="1"/>
          <p:nvPr/>
        </p:nvSpPr>
        <p:spPr>
          <a:xfrm>
            <a:off x="1828800" y="3468189"/>
            <a:ext cx="5943600" cy="413261"/>
          </a:xfrm>
          <a:prstGeom prst="rect">
            <a:avLst/>
          </a:prstGeom>
          <a:noFill/>
          <a:ln/>
        </p:spPr>
        <p:txBody>
          <a:bodyPr wrap="square" lIns="0" tIns="0" rIns="0" bIns="0" rtlCol="0" anchor="t"/>
          <a:lstStyle/>
          <a:p>
            <a:pPr indent="0" marL="0">
              <a:buNone/>
            </a:pPr>
            <a:r>
              <a:rPr lang="en-US" sz="2000" b="1" dirty="0">
                <a:solidFill>
                  <a:schemeClr val="tx2"/>
                </a:solidFill>
              </a:rPr>
              <a:t>他社事例</a:t>
            </a:r>
            <a:endParaRPr lang="en-US" sz="2000" dirty="0"/>
          </a:p>
        </p:txBody>
      </p:sp>
      <p:sp>
        <p:nvSpPr>
          <p:cNvPr id="13" name="Text 11"/>
          <p:cNvSpPr txBox="1"/>
          <p:nvPr/>
        </p:nvSpPr>
        <p:spPr>
          <a:xfrm>
            <a:off x="1828800" y="3881450"/>
            <a:ext cx="5943600" cy="309946"/>
          </a:xfrm>
          <a:prstGeom prst="rect">
            <a:avLst/>
          </a:prstGeom>
          <a:noFill/>
          <a:ln/>
        </p:spPr>
        <p:txBody>
          <a:bodyPr wrap="square" lIns="0" tIns="0" rIns="0" bIns="0" rtlCol="0" anchor="t"/>
          <a:lstStyle/>
          <a:p>
            <a:pPr indent="0" marL="0">
              <a:buNone/>
            </a:pPr>
            <a:r>
              <a:rPr lang="en-US" sz="1400" dirty="0">
                <a:solidFill>
                  <a:schemeClr val="accent6"/>
                </a:solidFill>
              </a:rPr>
              <a:t>介護・福祉や他業種での Google Workspace／Gemini 活用</a:t>
            </a:r>
            <a:endParaRPr lang="en-US" sz="1400" dirty="0"/>
          </a:p>
        </p:txBody>
      </p:sp>
      <p:sp>
        <p:nvSpPr>
          <p:cNvPr id="14" name="Text 12"/>
          <p:cNvSpPr txBox="1"/>
          <p:nvPr/>
        </p:nvSpPr>
        <p:spPr>
          <a:xfrm>
            <a:off x="731520" y="4377363"/>
            <a:ext cx="914400" cy="723207"/>
          </a:xfrm>
          <a:prstGeom prst="rect">
            <a:avLst/>
          </a:prstGeom>
          <a:noFill/>
          <a:ln/>
        </p:spPr>
        <p:txBody>
          <a:bodyPr wrap="square" lIns="0" tIns="0" rIns="0" bIns="0" rtlCol="0" anchor="ctr"/>
          <a:lstStyle/>
          <a:p>
            <a:pPr indent="0" marL="0">
              <a:buNone/>
            </a:pPr>
            <a:r>
              <a:rPr lang="en-US" sz="3200" b="1" dirty="0">
                <a:solidFill>
                  <a:schemeClr val="accent1"/>
                </a:solidFill>
              </a:rPr>
              <a:t>04</a:t>
            </a:r>
            <a:endParaRPr lang="en-US" sz="3200" dirty="0"/>
          </a:p>
        </p:txBody>
      </p:sp>
      <p:sp>
        <p:nvSpPr>
          <p:cNvPr id="15" name="Text 13"/>
          <p:cNvSpPr txBox="1"/>
          <p:nvPr/>
        </p:nvSpPr>
        <p:spPr>
          <a:xfrm>
            <a:off x="1828800" y="4398026"/>
            <a:ext cx="5943600" cy="413261"/>
          </a:xfrm>
          <a:prstGeom prst="rect">
            <a:avLst/>
          </a:prstGeom>
          <a:noFill/>
          <a:ln/>
        </p:spPr>
        <p:txBody>
          <a:bodyPr wrap="square" lIns="0" tIns="0" rIns="0" bIns="0" rtlCol="0" anchor="t"/>
          <a:lstStyle/>
          <a:p>
            <a:pPr indent="0" marL="0">
              <a:buNone/>
            </a:pPr>
            <a:r>
              <a:rPr lang="en-US" sz="2000" b="1" dirty="0">
                <a:solidFill>
                  <a:schemeClr val="tx2"/>
                </a:solidFill>
              </a:rPr>
              <a:t>進め方・体制・費用</a:t>
            </a:r>
            <a:endParaRPr lang="en-US" sz="2000" dirty="0"/>
          </a:p>
        </p:txBody>
      </p:sp>
      <p:sp>
        <p:nvSpPr>
          <p:cNvPr id="16" name="Text 14"/>
          <p:cNvSpPr txBox="1"/>
          <p:nvPr/>
        </p:nvSpPr>
        <p:spPr>
          <a:xfrm>
            <a:off x="1828800" y="4811288"/>
            <a:ext cx="5943600" cy="309946"/>
          </a:xfrm>
          <a:prstGeom prst="rect">
            <a:avLst/>
          </a:prstGeom>
          <a:noFill/>
          <a:ln/>
        </p:spPr>
        <p:txBody>
          <a:bodyPr wrap="square" lIns="0" tIns="0" rIns="0" bIns="0" rtlCol="0" anchor="t"/>
          <a:lstStyle/>
          <a:p>
            <a:pPr indent="0" marL="0">
              <a:buNone/>
            </a:pPr>
            <a:r>
              <a:rPr lang="en-US" sz="1400" dirty="0">
                <a:solidFill>
                  <a:schemeClr val="accent6"/>
                </a:solidFill>
              </a:rPr>
              <a:t>スケジュール、ご支援プラン、費用対効果</a:t>
            </a:r>
            <a:endParaRPr lang="en-US" sz="1400" dirty="0"/>
          </a:p>
        </p:txBody>
      </p:sp>
      <p:sp>
        <p:nvSpPr>
          <p:cNvPr id="17" name="Text 15"/>
          <p:cNvSpPr txBox="1"/>
          <p:nvPr/>
        </p:nvSpPr>
        <p:spPr>
          <a:xfrm>
            <a:off x="731520" y="5307201"/>
            <a:ext cx="914400" cy="723207"/>
          </a:xfrm>
          <a:prstGeom prst="rect">
            <a:avLst/>
          </a:prstGeom>
          <a:noFill/>
          <a:ln/>
        </p:spPr>
        <p:txBody>
          <a:bodyPr wrap="square" lIns="0" tIns="0" rIns="0" bIns="0" rtlCol="0" anchor="ctr"/>
          <a:lstStyle/>
          <a:p>
            <a:pPr indent="0" marL="0">
              <a:buNone/>
            </a:pPr>
            <a:r>
              <a:rPr lang="en-US" sz="3200" b="1" dirty="0">
                <a:solidFill>
                  <a:schemeClr val="accent1"/>
                </a:solidFill>
              </a:rPr>
              <a:t>05</a:t>
            </a:r>
            <a:endParaRPr lang="en-US" sz="3200" dirty="0"/>
          </a:p>
        </p:txBody>
      </p:sp>
      <p:sp>
        <p:nvSpPr>
          <p:cNvPr id="18" name="Text 16"/>
          <p:cNvSpPr txBox="1"/>
          <p:nvPr/>
        </p:nvSpPr>
        <p:spPr>
          <a:xfrm>
            <a:off x="1828800" y="5327864"/>
            <a:ext cx="5943600" cy="413261"/>
          </a:xfrm>
          <a:prstGeom prst="rect">
            <a:avLst/>
          </a:prstGeom>
          <a:noFill/>
          <a:ln/>
        </p:spPr>
        <p:txBody>
          <a:bodyPr wrap="square" lIns="0" tIns="0" rIns="0" bIns="0" rtlCol="0" anchor="t"/>
          <a:lstStyle/>
          <a:p>
            <a:pPr indent="0" marL="0">
              <a:buNone/>
            </a:pPr>
            <a:r>
              <a:rPr lang="en-US" sz="2000" b="1" dirty="0">
                <a:solidFill>
                  <a:schemeClr val="tx2"/>
                </a:solidFill>
              </a:rPr>
              <a:t>本日ご相談したいこと</a:t>
            </a:r>
            <a:endParaRPr lang="en-US" sz="2000" dirty="0"/>
          </a:p>
        </p:txBody>
      </p:sp>
      <p:sp>
        <p:nvSpPr>
          <p:cNvPr id="19" name="Text 17"/>
          <p:cNvSpPr txBox="1"/>
          <p:nvPr/>
        </p:nvSpPr>
        <p:spPr>
          <a:xfrm>
            <a:off x="1828800" y="5741126"/>
            <a:ext cx="5943600" cy="309946"/>
          </a:xfrm>
          <a:prstGeom prst="rect">
            <a:avLst/>
          </a:prstGeom>
          <a:noFill/>
          <a:ln/>
        </p:spPr>
        <p:txBody>
          <a:bodyPr wrap="square" lIns="0" tIns="0" rIns="0" bIns="0" rtlCol="0" anchor="t"/>
          <a:lstStyle/>
          <a:p>
            <a:pPr indent="0" marL="0">
              <a:buNone/>
            </a:pPr>
            <a:r>
              <a:rPr lang="en-US" sz="1400" dirty="0">
                <a:solidFill>
                  <a:schemeClr val="accent6"/>
                </a:solidFill>
              </a:rPr>
              <a:t>確認事項と今後の進め方</a:t>
            </a:r>
            <a:endParaRPr lang="en-US" sz="1400" dirty="0"/>
          </a:p>
        </p:txBody>
      </p:sp>
      <p:pic>
        <p:nvPicPr>
          <p:cNvPr id="20" name="Image 0" descr="ノートのイラスト">    </p:cNvPr>
          <p:cNvPicPr>
            <a:picLocks noChangeAspect="1"/>
          </p:cNvPicPr>
          <p:nvPr/>
        </p:nvPicPr>
        <p:blipFill>
          <a:blip r:embed="rId1"/>
          <a:stretch>
            <a:fillRect/>
          </a:stretch>
        </p:blipFill>
        <p:spPr>
          <a:xfrm>
            <a:off x="8595360" y="2069988"/>
            <a:ext cx="2651760" cy="2651760"/>
          </a:xfrm>
          <a:prstGeom prst="rect">
            <a:avLst/>
          </a:prstGeom>
        </p:spPr>
      </p:pic>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ご相談内容の確認</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ご相談内容を次のように理解しています（認識に相違があれば、本日ご指摘ください）</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01｜現状のご理解</a:t>
            </a:r>
            <a:endParaRPr lang="en-US" sz="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536192"/>
          <a:ext cx="11094415" cy="914400"/>
        </p:xfrm>
        <a:graphic>
          <a:graphicData uri="http://schemas.openxmlformats.org/drawingml/2006/table">
            <a:tbl>
              <a:tblPr/>
              <a:tblGrid>
                <a:gridCol w="1737360"/>
                <a:gridCol w="9357055"/>
              </a:tblGrid>
              <a:tr h="619892">
                <a:tc>
                  <a:txBody>
                    <a:bodyPr/>
                    <a:lstStyle/>
                    <a:p>
                      <a:pPr indent="0" marL="0">
                        <a:buNone/>
                      </a:pPr>
                      <a:r>
                        <a:rPr lang="en-US" sz="1100" b="1" dirty="0">
                          <a:solidFill>
                            <a:srgbClr val="2B2A5E"/>
                          </a:solidFill>
                          <a:latin typeface="Meiryo UI" pitchFamily="34" charset="0"/>
                          <a:ea typeface="Meiryo UI" pitchFamily="34" charset="-122"/>
                          <a:cs typeface="Meiryo UI" pitchFamily="34" charset="-120"/>
                        </a:rPr>
                        <a:t>ご相談の背景</a:t>
                      </a:r>
                      <a:endParaRPr lang="en-US" sz="11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Google Workspace を導入し、Gemini を活用した業務効率化を推進中。当初は Dropbox から Google Drive へのデータ管理移行が目的だったが、セキュリティ面の課題や使いこなせていない機能があることが判明。部門・担当者別に最適な AI 活用を提案できるパートナーを希望</a:t>
                      </a:r>
                      <a:endParaRPr lang="en-US" sz="11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619892">
                <a:tc>
                  <a:txBody>
                    <a:bodyPr/>
                    <a:lstStyle/>
                    <a:p>
                      <a:pPr indent="0" marL="0">
                        <a:buNone/>
                      </a:pPr>
                      <a:r>
                        <a:rPr lang="en-US" sz="1100" b="1" dirty="0">
                          <a:solidFill>
                            <a:srgbClr val="2B2A5E"/>
                          </a:solidFill>
                          <a:latin typeface="Meiryo UI" pitchFamily="34" charset="0"/>
                          <a:ea typeface="Meiryo UI" pitchFamily="34" charset="-122"/>
                          <a:cs typeface="Meiryo UI" pitchFamily="34" charset="-120"/>
                        </a:rPr>
                        <a:t>現在の状況</a:t>
                      </a:r>
                      <a:endParaRPr lang="en-US" sz="11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ご担当者様の所属部署8名でテスト導入中。資料作成で AI を使い、数分で高クオリティな成果物が完成するなど大幅な時間削減を実感。良い反応が得られれば、営業部門・現場管理職など他部署へ段階的に展開予定（最終的に50〜70名程度）</a:t>
                      </a:r>
                      <a:endParaRPr lang="en-US" sz="11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413261">
                <a:tc>
                  <a:txBody>
                    <a:bodyPr/>
                    <a:lstStyle/>
                    <a:p>
                      <a:pPr indent="0" marL="0">
                        <a:buNone/>
                      </a:pPr>
                      <a:r>
                        <a:rPr lang="en-US" sz="1100" b="1" dirty="0">
                          <a:solidFill>
                            <a:srgbClr val="2B2A5E"/>
                          </a:solidFill>
                          <a:latin typeface="Meiryo UI" pitchFamily="34" charset="0"/>
                          <a:ea typeface="Meiryo UI" pitchFamily="34" charset="-122"/>
                          <a:cs typeface="Meiryo UI" pitchFamily="34" charset="-120"/>
                        </a:rPr>
                        <a:t>注力したい領域</a:t>
                      </a:r>
                      <a:endParaRPr lang="en-US" sz="11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バックオフィスや管理職の事務作業の削減。新しいツールは現場の準備期間が負担になるため、担当者側である程度準備してから展開したい</a:t>
                      </a:r>
                      <a:endParaRPr lang="en-US" sz="11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619892">
                <a:tc>
                  <a:txBody>
                    <a:bodyPr/>
                    <a:lstStyle/>
                    <a:p>
                      <a:pPr indent="0" marL="0">
                        <a:buNone/>
                      </a:pPr>
                      <a:r>
                        <a:rPr lang="en-US" sz="1100" b="1" dirty="0">
                          <a:solidFill>
                            <a:srgbClr val="2B2A5E"/>
                          </a:solidFill>
                          <a:latin typeface="Meiryo UI" pitchFamily="34" charset="0"/>
                          <a:ea typeface="Meiryo UI" pitchFamily="34" charset="-122"/>
                          <a:cs typeface="Meiryo UI" pitchFamily="34" charset="-120"/>
                        </a:rPr>
                        <a:t>達成すべきゴール</a:t>
                      </a:r>
                      <a:endParaRPr lang="en-US" sz="11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① Workspace・Gemini を最大限活用した業務効率化　② 資料作成・メール・議事録・データ共有・自動化など、部門・担当者別の最適な AI 活用方法の確立　③ 定型業務を減らし、新たな事業展開・付加価値業務に注力できる体制　④ Dropbox → Drive 移行の完了と、セキュリティを担保した効率的なファイル共有体制</a:t>
                      </a:r>
                      <a:endParaRPr lang="en-US" sz="11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413261">
                <a:tc>
                  <a:txBody>
                    <a:bodyPr/>
                    <a:lstStyle/>
                    <a:p>
                      <a:pPr indent="0" marL="0">
                        <a:buNone/>
                      </a:pPr>
                      <a:r>
                        <a:rPr lang="en-US" sz="1100" b="1" dirty="0">
                          <a:solidFill>
                            <a:srgbClr val="2B2A5E"/>
                          </a:solidFill>
                          <a:latin typeface="Meiryo UI" pitchFamily="34" charset="0"/>
                          <a:ea typeface="Meiryo UI" pitchFamily="34" charset="-122"/>
                          <a:cs typeface="Meiryo UI" pitchFamily="34" charset="-120"/>
                        </a:rPr>
                        <a:t>依頼範囲・スタンス</a:t>
                      </a:r>
                      <a:endParaRPr lang="en-US" sz="11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課題分析・戦略立案・実行支援のすべて／アドバイザリー（専門的な助言や提案を行う知見提供型）／現在導入済みのシステムで改善／研修形式にこだわらず、活用支援や情報提供の形式も検討</a:t>
                      </a:r>
                      <a:endParaRPr lang="en-US" sz="11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413261">
                <a:tc>
                  <a:txBody>
                    <a:bodyPr/>
                    <a:lstStyle/>
                    <a:p>
                      <a:pPr indent="0" marL="0">
                        <a:buNone/>
                      </a:pPr>
                      <a:r>
                        <a:rPr lang="en-US" sz="1100" b="1" dirty="0">
                          <a:solidFill>
                            <a:srgbClr val="2B2A5E"/>
                          </a:solidFill>
                          <a:latin typeface="Meiryo UI" pitchFamily="34" charset="0"/>
                          <a:ea typeface="Meiryo UI" pitchFamily="34" charset="-122"/>
                          <a:cs typeface="Meiryo UI" pitchFamily="34" charset="-120"/>
                        </a:rPr>
                        <a:t>期間・予算・頻度</a:t>
                      </a:r>
                      <a:endParaRPr lang="en-US" sz="11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依頼期間・予算とも当社からのご提案をご希望。相場観を把握したうえで、複数のパターンからご検討。打合せ頻度は未定</a:t>
                      </a:r>
                      <a:endParaRPr lang="en-US" sz="11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413261">
                <a:tc>
                  <a:txBody>
                    <a:bodyPr/>
                    <a:lstStyle/>
                    <a:p>
                      <a:pPr indent="0" marL="0">
                        <a:buNone/>
                      </a:pPr>
                      <a:r>
                        <a:rPr lang="en-US" sz="1100" b="1" dirty="0">
                          <a:solidFill>
                            <a:srgbClr val="2B2A5E"/>
                          </a:solidFill>
                          <a:latin typeface="Meiryo UI" pitchFamily="34" charset="0"/>
                          <a:ea typeface="Meiryo UI" pitchFamily="34" charset="-122"/>
                          <a:cs typeface="Meiryo UI" pitchFamily="34" charset="-120"/>
                        </a:rPr>
                        <a:t>スケジュール</a:t>
                      </a:r>
                      <a:endParaRPr lang="en-US" sz="11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着手はできるだけ早期を希望（選定・最終決定時期は未定、納期の指定なし）。Dropbox からの切替とデータ共有方法の改善を早期に実現したい</a:t>
                      </a:r>
                      <a:endParaRPr lang="en-US" sz="11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413261">
                <a:tc>
                  <a:txBody>
                    <a:bodyPr/>
                    <a:lstStyle/>
                    <a:p>
                      <a:pPr indent="0" marL="0">
                        <a:buNone/>
                      </a:pPr>
                      <a:r>
                        <a:rPr lang="en-US" sz="1100" b="1" dirty="0">
                          <a:solidFill>
                            <a:srgbClr val="2B2A5E"/>
                          </a:solidFill>
                          <a:latin typeface="Meiryo UI" pitchFamily="34" charset="0"/>
                          <a:ea typeface="Meiryo UI" pitchFamily="34" charset="-122"/>
                          <a:cs typeface="Meiryo UI" pitchFamily="34" charset="-120"/>
                        </a:rPr>
                        <a:t>案件の状況</a:t>
                      </a:r>
                      <a:endParaRPr lang="en-US" sz="11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予算や提案内容次第で実施をご検討。Workspace はライセンス購入済みですぐに活用でき、当初目的の Dropbox からの切替を早期に実現したいため</a:t>
                      </a:r>
                      <a:endParaRPr lang="en-US" sz="11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413261">
                <a:tc>
                  <a:txBody>
                    <a:bodyPr/>
                    <a:lstStyle/>
                    <a:p>
                      <a:pPr indent="0" marL="0">
                        <a:buNone/>
                      </a:pPr>
                      <a:r>
                        <a:rPr lang="en-US" sz="1100" b="1" dirty="0">
                          <a:solidFill>
                            <a:srgbClr val="2B2A5E"/>
                          </a:solidFill>
                          <a:latin typeface="Meiryo UI" pitchFamily="34" charset="0"/>
                          <a:ea typeface="Meiryo UI" pitchFamily="34" charset="-122"/>
                          <a:cs typeface="Meiryo UI" pitchFamily="34" charset="-120"/>
                        </a:rPr>
                        <a:t>選定・決裁</a:t>
                      </a:r>
                      <a:endParaRPr lang="en-US" sz="11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提案内容・価格・課題解決の適合性で総合判断／ご担当者様 → 代表取締役がご判断 → 月次会議でご報告</a:t>
                      </a:r>
                      <a:endParaRPr lang="en-US" sz="11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介護業界では「間接業務の削減」が経営テーマに</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担い手不足が続くなか、記録・書類・会議など「ケア以外の時間」の削減が採用・定着と並ぶ競争力に</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01｜現状のご理解</a:t>
            </a:r>
            <a:endParaRPr lang="en-US" sz="900" dirty="0"/>
          </a:p>
        </p:txBody>
      </p:sp>
      <p:sp>
        <p:nvSpPr>
          <p:cNvPr id="5" name="Shape 3"/>
          <p:cNvSpPr/>
          <p:nvPr/>
        </p:nvSpPr>
        <p:spPr>
          <a:xfrm>
            <a:off x="548640" y="1742823"/>
            <a:ext cx="3515258" cy="2634541"/>
          </a:xfrm>
          <a:prstGeom prst="roundRect">
            <a:avLst>
              <a:gd name="adj" fmla="val 3471"/>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6" name="Text 4"/>
          <p:cNvSpPr txBox="1"/>
          <p:nvPr/>
        </p:nvSpPr>
        <p:spPr>
          <a:xfrm>
            <a:off x="822960" y="1949453"/>
            <a:ext cx="2966618" cy="361604"/>
          </a:xfrm>
          <a:prstGeom prst="rect">
            <a:avLst/>
          </a:prstGeom>
          <a:noFill/>
          <a:ln/>
        </p:spPr>
        <p:txBody>
          <a:bodyPr wrap="square" lIns="0" tIns="0" rIns="0" bIns="0" rtlCol="0" anchor="t"/>
          <a:lstStyle/>
          <a:p>
            <a:pPr indent="0" marL="0">
              <a:buNone/>
            </a:pPr>
            <a:r>
              <a:rPr lang="en-US" sz="1400" b="1" dirty="0">
                <a:solidFill>
                  <a:schemeClr val="tx2"/>
                </a:solidFill>
              </a:rPr>
              <a:t>介護関係職種の有効求人倍率</a:t>
            </a:r>
            <a:endParaRPr lang="en-US" sz="1400" dirty="0"/>
          </a:p>
        </p:txBody>
      </p:sp>
      <p:sp>
        <p:nvSpPr>
          <p:cNvPr id="7" name="Text 5"/>
          <p:cNvSpPr txBox="1"/>
          <p:nvPr/>
        </p:nvSpPr>
        <p:spPr>
          <a:xfrm>
            <a:off x="822960" y="2362715"/>
            <a:ext cx="2966618" cy="929838"/>
          </a:xfrm>
          <a:prstGeom prst="rect">
            <a:avLst/>
          </a:prstGeom>
          <a:noFill/>
          <a:ln/>
        </p:spPr>
        <p:txBody>
          <a:bodyPr wrap="square" lIns="0" tIns="0" rIns="0" bIns="0" rtlCol="0" anchor="ctr"/>
          <a:lstStyle/>
          <a:p>
            <a:pPr indent="0" marL="0">
              <a:buNone/>
            </a:pPr>
            <a:r>
              <a:rPr lang="en-US" sz="4400" b="1" dirty="0">
                <a:solidFill>
                  <a:schemeClr val="accent1"/>
                </a:solidFill>
              </a:rPr>
              <a:t>3.87</a:t>
            </a:r>
            <a:pPr indent="0" marL="0">
              <a:buNone/>
            </a:pPr>
            <a:r>
              <a:rPr lang="en-US" sz="1800" b="1" dirty="0">
                <a:solidFill>
                  <a:schemeClr val="accent1"/>
                </a:solidFill>
              </a:rPr>
              <a:t>倍</a:t>
            </a:r>
            <a:endParaRPr lang="en-US" sz="1400" dirty="0"/>
          </a:p>
        </p:txBody>
      </p:sp>
      <p:sp>
        <p:nvSpPr>
          <p:cNvPr id="8" name="Text 6"/>
          <p:cNvSpPr txBox="1"/>
          <p:nvPr/>
        </p:nvSpPr>
        <p:spPr>
          <a:xfrm>
            <a:off x="822960" y="3344210"/>
            <a:ext cx="2966618" cy="878180"/>
          </a:xfrm>
          <a:prstGeom prst="rect">
            <a:avLst/>
          </a:prstGeom>
          <a:noFill/>
          <a:ln/>
        </p:spPr>
        <p:txBody>
          <a:bodyPr wrap="square" lIns="0" tIns="0" rIns="0" bIns="0" rtlCol="0" anchor="t"/>
          <a:lstStyle/>
          <a:p>
            <a:pPr indent="0" marL="0">
              <a:buNone/>
            </a:pPr>
            <a:r>
              <a:rPr lang="en-US" sz="1300" dirty="0">
                <a:solidFill>
                  <a:schemeClr val="tx1"/>
                </a:solidFill>
              </a:rPr>
              <a:t>全職業平均（1.05倍）の約3.7倍。採用難は一段と深刻に（2025年6月）</a:t>
            </a:r>
            <a:endParaRPr lang="en-US" sz="1300" dirty="0"/>
          </a:p>
        </p:txBody>
      </p:sp>
      <p:sp>
        <p:nvSpPr>
          <p:cNvPr id="9" name="Shape 7"/>
          <p:cNvSpPr/>
          <p:nvPr/>
        </p:nvSpPr>
        <p:spPr>
          <a:xfrm>
            <a:off x="4338218" y="1742823"/>
            <a:ext cx="3515258" cy="2634541"/>
          </a:xfrm>
          <a:prstGeom prst="roundRect">
            <a:avLst>
              <a:gd name="adj" fmla="val 3471"/>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10" name="Text 8"/>
          <p:cNvSpPr txBox="1"/>
          <p:nvPr/>
        </p:nvSpPr>
        <p:spPr>
          <a:xfrm>
            <a:off x="4612538" y="1949453"/>
            <a:ext cx="2966618" cy="361604"/>
          </a:xfrm>
          <a:prstGeom prst="rect">
            <a:avLst/>
          </a:prstGeom>
          <a:noFill/>
          <a:ln/>
        </p:spPr>
        <p:txBody>
          <a:bodyPr wrap="square" lIns="0" tIns="0" rIns="0" bIns="0" rtlCol="0" anchor="t"/>
          <a:lstStyle/>
          <a:p>
            <a:pPr indent="0" marL="0">
              <a:buNone/>
            </a:pPr>
            <a:r>
              <a:rPr lang="en-US" sz="1400" b="1" dirty="0">
                <a:solidFill>
                  <a:schemeClr val="tx2"/>
                </a:solidFill>
              </a:rPr>
              <a:t>2040年度に追加で必要な介護職員</a:t>
            </a:r>
            <a:endParaRPr lang="en-US" sz="1400" dirty="0"/>
          </a:p>
        </p:txBody>
      </p:sp>
      <p:sp>
        <p:nvSpPr>
          <p:cNvPr id="11" name="Text 9"/>
          <p:cNvSpPr txBox="1"/>
          <p:nvPr/>
        </p:nvSpPr>
        <p:spPr>
          <a:xfrm>
            <a:off x="4612538" y="2362715"/>
            <a:ext cx="2966618" cy="929838"/>
          </a:xfrm>
          <a:prstGeom prst="rect">
            <a:avLst/>
          </a:prstGeom>
          <a:noFill/>
          <a:ln/>
        </p:spPr>
        <p:txBody>
          <a:bodyPr wrap="square" lIns="0" tIns="0" rIns="0" bIns="0" rtlCol="0" anchor="ctr"/>
          <a:lstStyle/>
          <a:p>
            <a:pPr indent="0" marL="0">
              <a:buNone/>
            </a:pPr>
            <a:r>
              <a:rPr lang="en-US" sz="4400" b="1" dirty="0">
                <a:solidFill>
                  <a:schemeClr val="accent1"/>
                </a:solidFill>
              </a:rPr>
              <a:t>約57</a:t>
            </a:r>
            <a:pPr indent="0" marL="0">
              <a:buNone/>
            </a:pPr>
            <a:r>
              <a:rPr lang="en-US" sz="1800" b="1" dirty="0">
                <a:solidFill>
                  <a:schemeClr val="accent1"/>
                </a:solidFill>
              </a:rPr>
              <a:t>万人</a:t>
            </a:r>
            <a:endParaRPr lang="en-US" sz="1400" dirty="0"/>
          </a:p>
        </p:txBody>
      </p:sp>
      <p:sp>
        <p:nvSpPr>
          <p:cNvPr id="12" name="Text 10"/>
          <p:cNvSpPr txBox="1"/>
          <p:nvPr/>
        </p:nvSpPr>
        <p:spPr>
          <a:xfrm>
            <a:off x="4612538" y="3344210"/>
            <a:ext cx="2966618" cy="878180"/>
          </a:xfrm>
          <a:prstGeom prst="rect">
            <a:avLst/>
          </a:prstGeom>
          <a:noFill/>
          <a:ln/>
        </p:spPr>
        <p:txBody>
          <a:bodyPr wrap="square" lIns="0" tIns="0" rIns="0" bIns="0" rtlCol="0" anchor="t"/>
          <a:lstStyle/>
          <a:p>
            <a:pPr indent="0" marL="0">
              <a:buNone/>
            </a:pPr>
            <a:r>
              <a:rPr lang="en-US" sz="1300" dirty="0">
                <a:solidFill>
                  <a:schemeClr val="tx1"/>
                </a:solidFill>
              </a:rPr>
              <a:t>2022年度（約215万人）から2040年度には約272万人が必要と推計</a:t>
            </a:r>
            <a:endParaRPr lang="en-US" sz="1300" dirty="0"/>
          </a:p>
        </p:txBody>
      </p:sp>
      <p:sp>
        <p:nvSpPr>
          <p:cNvPr id="13" name="Shape 11"/>
          <p:cNvSpPr/>
          <p:nvPr/>
        </p:nvSpPr>
        <p:spPr>
          <a:xfrm>
            <a:off x="8127797" y="1742823"/>
            <a:ext cx="3515258" cy="2634541"/>
          </a:xfrm>
          <a:prstGeom prst="roundRect">
            <a:avLst>
              <a:gd name="adj" fmla="val 3471"/>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14" name="Text 12"/>
          <p:cNvSpPr txBox="1"/>
          <p:nvPr/>
        </p:nvSpPr>
        <p:spPr>
          <a:xfrm>
            <a:off x="8402117" y="1949453"/>
            <a:ext cx="2966618" cy="361604"/>
          </a:xfrm>
          <a:prstGeom prst="rect">
            <a:avLst/>
          </a:prstGeom>
          <a:noFill/>
          <a:ln/>
        </p:spPr>
        <p:txBody>
          <a:bodyPr wrap="square" lIns="0" tIns="0" rIns="0" bIns="0" rtlCol="0" anchor="t"/>
          <a:lstStyle/>
          <a:p>
            <a:pPr indent="0" marL="0">
              <a:buNone/>
            </a:pPr>
            <a:r>
              <a:rPr lang="en-US" sz="1400" b="1" dirty="0">
                <a:solidFill>
                  <a:schemeClr val="tx2"/>
                </a:solidFill>
              </a:rPr>
              <a:t>ICT 導入事業所の効果</a:t>
            </a:r>
            <a:endParaRPr lang="en-US" sz="1400" dirty="0"/>
          </a:p>
        </p:txBody>
      </p:sp>
      <p:sp>
        <p:nvSpPr>
          <p:cNvPr id="15" name="Text 13"/>
          <p:cNvSpPr txBox="1"/>
          <p:nvPr/>
        </p:nvSpPr>
        <p:spPr>
          <a:xfrm>
            <a:off x="8402117" y="2362715"/>
            <a:ext cx="2966618" cy="929838"/>
          </a:xfrm>
          <a:prstGeom prst="rect">
            <a:avLst/>
          </a:prstGeom>
          <a:noFill/>
          <a:ln/>
        </p:spPr>
        <p:txBody>
          <a:bodyPr wrap="square" lIns="0" tIns="0" rIns="0" bIns="0" rtlCol="0" anchor="ctr"/>
          <a:lstStyle/>
          <a:p>
            <a:pPr indent="0" marL="0">
              <a:buNone/>
            </a:pPr>
            <a:r>
              <a:rPr lang="en-US" sz="4400" b="1" dirty="0">
                <a:solidFill>
                  <a:schemeClr val="accent1"/>
                </a:solidFill>
              </a:rPr>
              <a:t>81.9</a:t>
            </a:r>
            <a:pPr indent="0" marL="0">
              <a:buNone/>
            </a:pPr>
            <a:r>
              <a:rPr lang="en-US" sz="1800" b="1" dirty="0">
                <a:solidFill>
                  <a:schemeClr val="accent1"/>
                </a:solidFill>
              </a:rPr>
              <a:t>%</a:t>
            </a:r>
            <a:endParaRPr lang="en-US" sz="1400" dirty="0"/>
          </a:p>
        </p:txBody>
      </p:sp>
      <p:sp>
        <p:nvSpPr>
          <p:cNvPr id="16" name="Text 14"/>
          <p:cNvSpPr txBox="1"/>
          <p:nvPr/>
        </p:nvSpPr>
        <p:spPr>
          <a:xfrm>
            <a:off x="8402117" y="3344210"/>
            <a:ext cx="2966618" cy="878180"/>
          </a:xfrm>
          <a:prstGeom prst="rect">
            <a:avLst/>
          </a:prstGeom>
          <a:noFill/>
          <a:ln/>
        </p:spPr>
        <p:txBody>
          <a:bodyPr wrap="square" lIns="0" tIns="0" rIns="0" bIns="0" rtlCol="0" anchor="t"/>
          <a:lstStyle/>
          <a:p>
            <a:pPr indent="0" marL="0">
              <a:buNone/>
            </a:pPr>
            <a:r>
              <a:rPr lang="en-US" sz="1300" dirty="0">
                <a:solidFill>
                  <a:schemeClr val="tx1"/>
                </a:solidFill>
              </a:rPr>
              <a:t>が「文書作成の時間が短くなった」と回答（厚労省 ICT 導入支援事業・令和3年度・5,058事業所）</a:t>
            </a:r>
            <a:endParaRPr lang="en-US" sz="1300" dirty="0"/>
          </a:p>
        </p:txBody>
      </p:sp>
      <p:sp>
        <p:nvSpPr>
          <p:cNvPr id="17" name="Shape 15"/>
          <p:cNvSpPr/>
          <p:nvPr/>
        </p:nvSpPr>
        <p:spPr>
          <a:xfrm>
            <a:off x="548640" y="4635652"/>
            <a:ext cx="11094415" cy="1549730"/>
          </a:xfrm>
          <a:prstGeom prst="roundRect">
            <a:avLst>
              <a:gd name="adj" fmla="val 5900"/>
            </a:avLst>
          </a:prstGeom>
          <a:solidFill>
            <a:schemeClr val="accent1">
              <a:alpha val="10000"/>
            </a:schemeClr>
          </a:solidFill>
          <a:ln/>
        </p:spPr>
      </p:sp>
      <p:pic>
        <p:nvPicPr>
          <p:cNvPr id="18" name="Image 0" descr="light-bulb">    </p:cNvPr>
          <p:cNvPicPr>
            <a:picLocks noChangeAspect="1"/>
          </p:cNvPicPr>
          <p:nvPr/>
        </p:nvPicPr>
        <p:blipFill>
          <a:blip r:embed="rId1"/>
          <a:stretch>
            <a:fillRect/>
          </a:stretch>
        </p:blipFill>
        <p:spPr>
          <a:xfrm>
            <a:off x="806958" y="5074475"/>
            <a:ext cx="672084" cy="672084"/>
          </a:xfrm>
          <a:prstGeom prst="rect">
            <a:avLst/>
          </a:prstGeom>
        </p:spPr>
      </p:pic>
      <p:sp>
        <p:nvSpPr>
          <p:cNvPr id="19" name="Text 16"/>
          <p:cNvSpPr txBox="1"/>
          <p:nvPr/>
        </p:nvSpPr>
        <p:spPr>
          <a:xfrm>
            <a:off x="1691640" y="4842282"/>
            <a:ext cx="2743200" cy="361604"/>
          </a:xfrm>
          <a:prstGeom prst="rect">
            <a:avLst/>
          </a:prstGeom>
          <a:noFill/>
          <a:ln/>
        </p:spPr>
        <p:txBody>
          <a:bodyPr wrap="square" lIns="0" tIns="0" rIns="0" bIns="0" rtlCol="0" anchor="t"/>
          <a:lstStyle/>
          <a:p>
            <a:pPr indent="0" marL="0">
              <a:buNone/>
            </a:pPr>
            <a:r>
              <a:rPr lang="en-US" sz="1500" b="1" dirty="0">
                <a:solidFill>
                  <a:schemeClr val="tx2"/>
                </a:solidFill>
              </a:rPr>
              <a:t>貴社にとっての意味</a:t>
            </a:r>
            <a:endParaRPr lang="en-US" sz="1500" dirty="0"/>
          </a:p>
        </p:txBody>
      </p:sp>
      <p:sp>
        <p:nvSpPr>
          <p:cNvPr id="20" name="Text 17"/>
          <p:cNvSpPr txBox="1"/>
          <p:nvPr/>
        </p:nvSpPr>
        <p:spPr>
          <a:xfrm>
            <a:off x="1691640" y="5234881"/>
            <a:ext cx="9677095" cy="878180"/>
          </a:xfrm>
          <a:prstGeom prst="rect">
            <a:avLst/>
          </a:prstGeom>
          <a:noFill/>
          <a:ln/>
        </p:spPr>
        <p:txBody>
          <a:bodyPr wrap="square" lIns="0" tIns="0" rIns="0" bIns="0" rtlCol="0" anchor="t"/>
          <a:lstStyle/>
          <a:p>
            <a:pPr indent="0" marL="0">
              <a:buNone/>
            </a:pPr>
            <a:r>
              <a:rPr lang="en-US" sz="1400" dirty="0">
                <a:solidFill>
                  <a:schemeClr val="tx1"/>
                </a:solidFill>
              </a:rPr>
              <a:t>人を増やし続けることが難しい以上、管理職・バックオフィスの事務時間を減らし、ケアや人材育成、新たな事業展開に振り向けることが重要です。導入済みの Google Workspace は、そのための「すぐに使える武器」です。</a:t>
            </a:r>
            <a:endParaRPr lang="en-US" sz="1400" dirty="0"/>
          </a:p>
        </p:txBody>
      </p:sp>
      <p:sp>
        <p:nvSpPr>
          <p:cNvPr id="21" name="source"/>
          <p:cNvSpPr txBox="1"/>
          <p:nvPr/>
        </p:nvSpPr>
        <p:spPr>
          <a:xfrm>
            <a:off x="548640" y="6336792"/>
            <a:ext cx="11094415" cy="201168"/>
          </a:xfrm>
          <a:prstGeom prst="rect">
            <a:avLst/>
          </a:prstGeom>
          <a:noFill/>
          <a:ln/>
        </p:spPr>
        <p:txBody>
          <a:bodyPr wrap="square" lIns="0" tIns="0" rIns="0" bIns="0" rtlCol="0" anchor="ctr"/>
          <a:lstStyle/>
          <a:p>
            <a:pPr indent="0" marL="0">
              <a:buNone/>
            </a:pPr>
            <a:r>
              <a:rPr lang="en-US" sz="900" dirty="0">
                <a:solidFill>
                  <a:schemeClr val="accent6"/>
                </a:solidFill>
              </a:rPr>
              <a:t>出典：厚生労働省 第247回介護給付費分科会資料（2025年9月）、「第9期介護保険事業計画に基づく介護職員の必要数について」（2024年7月）、「ICT導入支援事業 令和3年度 導入効果報告取りまとめ」</a:t>
            </a:r>
            <a:endParaRPr lang="en-US" sz="9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制度面でも、生産性向上の取り組みが評価されています</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生産性向上推進体制加算は処遇改善加算・上位区分の主な取得要件となり、Workspace 活用がその土台になり得ます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01｜現状のご理解</a:t>
            </a:r>
            <a:endParaRPr lang="en-US" sz="900" dirty="0"/>
          </a:p>
        </p:txBody>
      </p:sp>
      <p:sp>
        <p:nvSpPr>
          <p:cNvPr id="5" name="Shape 3"/>
          <p:cNvSpPr/>
          <p:nvPr/>
        </p:nvSpPr>
        <p:spPr>
          <a:xfrm>
            <a:off x="548640" y="1691165"/>
            <a:ext cx="4297680" cy="2014649"/>
          </a:xfrm>
          <a:prstGeom prst="roundRect">
            <a:avLst>
              <a:gd name="adj" fmla="val 4539"/>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6" name="Text 4"/>
          <p:cNvSpPr txBox="1"/>
          <p:nvPr/>
        </p:nvSpPr>
        <p:spPr>
          <a:xfrm>
            <a:off x="777240" y="1918459"/>
            <a:ext cx="1554480" cy="289283"/>
          </a:xfrm>
          <a:prstGeom prst="roundRect">
            <a:avLst>
              <a:gd name="adj" fmla="val 18966"/>
            </a:avLst>
          </a:prstGeom>
          <a:solidFill>
            <a:schemeClr val="accent2"/>
          </a:solidFill>
          <a:ln/>
        </p:spPr>
        <p:txBody>
          <a:bodyPr wrap="square" lIns="0" tIns="0" rIns="0" bIns="0" rtlCol="0" anchor="ctr"/>
          <a:lstStyle/>
          <a:p>
            <a:pPr algn="ctr" indent="0" marL="0">
              <a:buNone/>
            </a:pPr>
            <a:r>
              <a:rPr lang="en-US" sz="1000" b="1" dirty="0">
                <a:solidFill>
                  <a:schemeClr val="bg1"/>
                </a:solidFill>
              </a:rPr>
              <a:t>2024年度 改定</a:t>
            </a:r>
            <a:endParaRPr lang="en-US" sz="1000" dirty="0"/>
          </a:p>
        </p:txBody>
      </p:sp>
      <p:sp>
        <p:nvSpPr>
          <p:cNvPr id="7" name="Text 5"/>
          <p:cNvSpPr txBox="1"/>
          <p:nvPr/>
        </p:nvSpPr>
        <p:spPr>
          <a:xfrm>
            <a:off x="777240" y="2311057"/>
            <a:ext cx="3840480" cy="392598"/>
          </a:xfrm>
          <a:prstGeom prst="rect">
            <a:avLst/>
          </a:prstGeom>
          <a:noFill/>
          <a:ln/>
        </p:spPr>
        <p:txBody>
          <a:bodyPr wrap="square" lIns="0" tIns="0" rIns="0" bIns="0" rtlCol="0" anchor="t"/>
          <a:lstStyle/>
          <a:p>
            <a:pPr indent="0" marL="0">
              <a:buNone/>
            </a:pPr>
            <a:r>
              <a:rPr lang="en-US" sz="1500" b="1" dirty="0">
                <a:solidFill>
                  <a:schemeClr val="tx2"/>
                </a:solidFill>
              </a:rPr>
              <a:t>生産性向上推進体制加算を新設</a:t>
            </a:r>
            <a:endParaRPr lang="en-US" sz="1500" dirty="0"/>
          </a:p>
        </p:txBody>
      </p:sp>
      <p:sp>
        <p:nvSpPr>
          <p:cNvPr id="8" name="Text 6"/>
          <p:cNvSpPr txBox="1"/>
          <p:nvPr/>
        </p:nvSpPr>
        <p:spPr>
          <a:xfrm>
            <a:off x="777240" y="2724318"/>
            <a:ext cx="3840480" cy="909175"/>
          </a:xfrm>
          <a:prstGeom prst="rect">
            <a:avLst/>
          </a:prstGeom>
          <a:noFill/>
          <a:ln/>
        </p:spPr>
        <p:txBody>
          <a:bodyPr wrap="square" lIns="0" tIns="0" rIns="0" bIns="0" rtlCol="0" anchor="t"/>
          <a:lstStyle/>
          <a:p>
            <a:pPr indent="0" marL="0">
              <a:buNone/>
            </a:pPr>
            <a:r>
              <a:rPr lang="en-US" sz="1300" dirty="0">
                <a:solidFill>
                  <a:schemeClr val="tx1"/>
                </a:solidFill>
              </a:rPr>
              <a:t>（Ⅰ）100単位／月、（Ⅱ）10単位／月。生産性向上の委員会の設置も義務化（3年の経過措置は2027年3月末まで）</a:t>
            </a:r>
            <a:endParaRPr lang="en-US" sz="1300" dirty="0"/>
          </a:p>
        </p:txBody>
      </p:sp>
      <p:sp>
        <p:nvSpPr>
          <p:cNvPr id="9" name="Shape 7"/>
          <p:cNvSpPr/>
          <p:nvPr/>
        </p:nvSpPr>
        <p:spPr>
          <a:xfrm>
            <a:off x="2551176" y="3736808"/>
            <a:ext cx="292608" cy="206631"/>
          </a:xfrm>
          <a:prstGeom prst="downArrow">
            <a:avLst/>
          </a:prstGeom>
          <a:solidFill>
            <a:schemeClr val="accent6"/>
          </a:solidFill>
          <a:ln/>
        </p:spPr>
      </p:sp>
      <p:sp>
        <p:nvSpPr>
          <p:cNvPr id="10" name="Shape 8"/>
          <p:cNvSpPr/>
          <p:nvPr/>
        </p:nvSpPr>
        <p:spPr>
          <a:xfrm>
            <a:off x="548640" y="3964102"/>
            <a:ext cx="4297680" cy="2014649"/>
          </a:xfrm>
          <a:prstGeom prst="roundRect">
            <a:avLst>
              <a:gd name="adj" fmla="val 4539"/>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11" name="Text 9"/>
          <p:cNvSpPr txBox="1"/>
          <p:nvPr/>
        </p:nvSpPr>
        <p:spPr>
          <a:xfrm>
            <a:off x="777240" y="4191396"/>
            <a:ext cx="1554480" cy="289283"/>
          </a:xfrm>
          <a:prstGeom prst="roundRect">
            <a:avLst>
              <a:gd name="adj" fmla="val 18966"/>
            </a:avLst>
          </a:prstGeom>
          <a:solidFill>
            <a:schemeClr val="accent1"/>
          </a:solidFill>
          <a:ln/>
        </p:spPr>
        <p:txBody>
          <a:bodyPr wrap="square" lIns="0" tIns="0" rIns="0" bIns="0" rtlCol="0" anchor="ctr"/>
          <a:lstStyle/>
          <a:p>
            <a:pPr algn="ctr" indent="0" marL="0">
              <a:buNone/>
            </a:pPr>
            <a:r>
              <a:rPr lang="en-US" sz="1000" b="1" dirty="0">
                <a:solidFill>
                  <a:schemeClr val="bg1"/>
                </a:solidFill>
              </a:rPr>
              <a:t>2026年6月 改定</a:t>
            </a:r>
            <a:endParaRPr lang="en-US" sz="1000" dirty="0"/>
          </a:p>
        </p:txBody>
      </p:sp>
      <p:sp>
        <p:nvSpPr>
          <p:cNvPr id="12" name="Text 10"/>
          <p:cNvSpPr txBox="1"/>
          <p:nvPr/>
        </p:nvSpPr>
        <p:spPr>
          <a:xfrm>
            <a:off x="777240" y="4583994"/>
            <a:ext cx="3840480" cy="392598"/>
          </a:xfrm>
          <a:prstGeom prst="rect">
            <a:avLst/>
          </a:prstGeom>
          <a:noFill/>
          <a:ln/>
        </p:spPr>
        <p:txBody>
          <a:bodyPr wrap="square" lIns="0" tIns="0" rIns="0" bIns="0" rtlCol="0" anchor="t"/>
          <a:lstStyle/>
          <a:p>
            <a:pPr indent="0" marL="0">
              <a:buNone/>
            </a:pPr>
            <a:r>
              <a:rPr lang="en-US" sz="1500" b="1" dirty="0">
                <a:solidFill>
                  <a:schemeClr val="tx2"/>
                </a:solidFill>
              </a:rPr>
              <a:t>処遇改善加算に上位区分「ロ」</a:t>
            </a:r>
            <a:endParaRPr lang="en-US" sz="1500" dirty="0"/>
          </a:p>
        </p:txBody>
      </p:sp>
      <p:sp>
        <p:nvSpPr>
          <p:cNvPr id="13" name="Text 11"/>
          <p:cNvSpPr txBox="1"/>
          <p:nvPr/>
        </p:nvSpPr>
        <p:spPr>
          <a:xfrm>
            <a:off x="777240" y="4997255"/>
            <a:ext cx="3840480" cy="909175"/>
          </a:xfrm>
          <a:prstGeom prst="rect">
            <a:avLst/>
          </a:prstGeom>
          <a:noFill/>
          <a:ln/>
        </p:spPr>
        <p:txBody>
          <a:bodyPr wrap="square" lIns="0" tIns="0" rIns="0" bIns="0" rtlCol="0" anchor="t"/>
          <a:lstStyle/>
          <a:p>
            <a:pPr indent="0" marL="0">
              <a:buNone/>
            </a:pPr>
            <a:r>
              <a:rPr lang="en-US" sz="1300" dirty="0">
                <a:solidFill>
                  <a:schemeClr val="tx1"/>
                </a:solidFill>
              </a:rPr>
              <a:t>グループホーム：Ⅱイ 20.2% → Ⅱロ 22.0%。ロ区分の取得には生産性向上推進体制加算の算定等が必要（申請時は誓約で可）</a:t>
            </a:r>
            <a:endParaRPr lang="en-US" sz="1300" dirty="0"/>
          </a:p>
        </p:txBody>
      </p:sp>
      <p:sp>
        <p:nvSpPr>
          <p:cNvPr id="14" name="Text 12"/>
          <p:cNvSpPr txBox="1"/>
          <p:nvPr/>
        </p:nvSpPr>
        <p:spPr>
          <a:xfrm>
            <a:off x="5212080" y="1691165"/>
            <a:ext cx="3063240" cy="309946"/>
          </a:xfrm>
          <a:prstGeom prst="rect">
            <a:avLst/>
          </a:prstGeom>
          <a:noFill/>
          <a:ln/>
        </p:spPr>
        <p:txBody>
          <a:bodyPr wrap="square" lIns="0" tIns="0" rIns="0" bIns="0" rtlCol="0" anchor="t"/>
          <a:lstStyle/>
          <a:p>
            <a:pPr indent="0" marL="0">
              <a:buNone/>
            </a:pPr>
            <a:r>
              <a:rPr lang="en-US" sz="1200" b="1" dirty="0">
                <a:solidFill>
                  <a:schemeClr val="accent6"/>
                </a:solidFill>
              </a:rPr>
              <a:t>生産性向上推進体制加算（Ⅱ）の主な要件</a:t>
            </a:r>
            <a:endParaRPr lang="en-US" sz="1200" dirty="0"/>
          </a:p>
        </p:txBody>
      </p:sp>
      <p:sp>
        <p:nvSpPr>
          <p:cNvPr id="15" name="Text 13"/>
          <p:cNvSpPr txBox="1"/>
          <p:nvPr/>
        </p:nvSpPr>
        <p:spPr>
          <a:xfrm>
            <a:off x="8686800" y="1691165"/>
            <a:ext cx="2956255" cy="309946"/>
          </a:xfrm>
          <a:prstGeom prst="rect">
            <a:avLst/>
          </a:prstGeom>
          <a:noFill/>
          <a:ln/>
        </p:spPr>
        <p:txBody>
          <a:bodyPr wrap="square" lIns="0" tIns="0" rIns="0" bIns="0" rtlCol="0" anchor="t"/>
          <a:lstStyle/>
          <a:p>
            <a:pPr indent="0" marL="0">
              <a:buNone/>
            </a:pPr>
            <a:r>
              <a:rPr lang="en-US" sz="1200" b="1" dirty="0">
                <a:solidFill>
                  <a:schemeClr val="accent6"/>
                </a:solidFill>
              </a:rPr>
              <a:t>Google Workspace での支え方</a:t>
            </a:r>
            <a:endParaRPr lang="en-US" sz="1200" dirty="0"/>
          </a:p>
        </p:txBody>
      </p:sp>
      <p:sp>
        <p:nvSpPr>
          <p:cNvPr id="16" name="Shape 14"/>
          <p:cNvSpPr/>
          <p:nvPr/>
        </p:nvSpPr>
        <p:spPr>
          <a:xfrm>
            <a:off x="5212080" y="2104426"/>
            <a:ext cx="3063240" cy="929838"/>
          </a:xfrm>
          <a:prstGeom prst="roundRect">
            <a:avLst>
              <a:gd name="adj" fmla="val 7867"/>
            </a:avLst>
          </a:prstGeom>
          <a:solidFill>
            <a:srgbClr val="F1F1F4"/>
          </a:solidFill>
          <a:ln/>
        </p:spPr>
      </p:sp>
      <p:sp>
        <p:nvSpPr>
          <p:cNvPr id="17" name="Text 15"/>
          <p:cNvSpPr txBox="1"/>
          <p:nvPr/>
        </p:nvSpPr>
        <p:spPr>
          <a:xfrm>
            <a:off x="5349240" y="2104426"/>
            <a:ext cx="2788920" cy="929838"/>
          </a:xfrm>
          <a:prstGeom prst="rect">
            <a:avLst/>
          </a:prstGeom>
          <a:noFill/>
          <a:ln/>
        </p:spPr>
        <p:txBody>
          <a:bodyPr wrap="square" lIns="0" tIns="0" rIns="0" bIns="0" rtlCol="0" anchor="ctr"/>
          <a:lstStyle/>
          <a:p>
            <a:pPr indent="0" marL="0">
              <a:buNone/>
            </a:pPr>
            <a:r>
              <a:rPr lang="en-US" sz="1200" dirty="0">
                <a:solidFill>
                  <a:schemeClr val="tx1"/>
                </a:solidFill>
              </a:rPr>
              <a:t>生産性向上の委員会（3ヶ月に1回以上、オンライン可）</a:t>
            </a:r>
            <a:endParaRPr lang="en-US" sz="1200" dirty="0"/>
          </a:p>
        </p:txBody>
      </p:sp>
      <p:sp>
        <p:nvSpPr>
          <p:cNvPr id="18" name="Shape 16"/>
          <p:cNvSpPr/>
          <p:nvPr/>
        </p:nvSpPr>
        <p:spPr>
          <a:xfrm>
            <a:off x="8348472" y="2393709"/>
            <a:ext cx="274320" cy="351272"/>
          </a:xfrm>
          <a:prstGeom prst="rightArrow">
            <a:avLst/>
          </a:prstGeom>
          <a:solidFill>
            <a:schemeClr val="accent3"/>
          </a:solidFill>
          <a:ln/>
        </p:spPr>
      </p:sp>
      <p:sp>
        <p:nvSpPr>
          <p:cNvPr id="19" name="Shape 17"/>
          <p:cNvSpPr/>
          <p:nvPr/>
        </p:nvSpPr>
        <p:spPr>
          <a:xfrm>
            <a:off x="8686800" y="2104426"/>
            <a:ext cx="2956255" cy="929838"/>
          </a:xfrm>
          <a:prstGeom prst="roundRect">
            <a:avLst>
              <a:gd name="adj" fmla="val 7867"/>
            </a:avLst>
          </a:prstGeom>
          <a:solidFill>
            <a:schemeClr val="accent3">
              <a:alpha val="12000"/>
            </a:schemeClr>
          </a:solidFill>
          <a:ln/>
        </p:spPr>
      </p:sp>
      <p:sp>
        <p:nvSpPr>
          <p:cNvPr id="20" name="Text 18"/>
          <p:cNvSpPr txBox="1"/>
          <p:nvPr/>
        </p:nvSpPr>
        <p:spPr>
          <a:xfrm>
            <a:off x="8823960" y="2104426"/>
            <a:ext cx="2681935" cy="929838"/>
          </a:xfrm>
          <a:prstGeom prst="rect">
            <a:avLst/>
          </a:prstGeom>
          <a:noFill/>
          <a:ln/>
        </p:spPr>
        <p:txBody>
          <a:bodyPr wrap="square" lIns="0" tIns="0" rIns="0" bIns="0" rtlCol="0" anchor="ctr"/>
          <a:lstStyle/>
          <a:p>
            <a:pPr indent="0" marL="0">
              <a:buNone/>
            </a:pPr>
            <a:r>
              <a:rPr lang="en-US" sz="1200" b="1" dirty="0">
                <a:solidFill>
                  <a:schemeClr val="tx2"/>
                </a:solidFill>
              </a:rPr>
              <a:t>Meet で開催し、自動メモで議事録・ToDo を作成</a:t>
            </a:r>
            <a:endParaRPr lang="en-US" sz="1200" dirty="0"/>
          </a:p>
        </p:txBody>
      </p:sp>
      <p:sp>
        <p:nvSpPr>
          <p:cNvPr id="21" name="Shape 19"/>
          <p:cNvSpPr/>
          <p:nvPr/>
        </p:nvSpPr>
        <p:spPr>
          <a:xfrm>
            <a:off x="5212080" y="3189237"/>
            <a:ext cx="3063240" cy="929838"/>
          </a:xfrm>
          <a:prstGeom prst="roundRect">
            <a:avLst>
              <a:gd name="adj" fmla="val 7867"/>
            </a:avLst>
          </a:prstGeom>
          <a:solidFill>
            <a:srgbClr val="F1F1F4"/>
          </a:solidFill>
          <a:ln/>
        </p:spPr>
      </p:sp>
      <p:sp>
        <p:nvSpPr>
          <p:cNvPr id="22" name="Text 20"/>
          <p:cNvSpPr txBox="1"/>
          <p:nvPr/>
        </p:nvSpPr>
        <p:spPr>
          <a:xfrm>
            <a:off x="5349240" y="3189237"/>
            <a:ext cx="2788920" cy="929838"/>
          </a:xfrm>
          <a:prstGeom prst="rect">
            <a:avLst/>
          </a:prstGeom>
          <a:noFill/>
          <a:ln/>
        </p:spPr>
        <p:txBody>
          <a:bodyPr wrap="square" lIns="0" tIns="0" rIns="0" bIns="0" rtlCol="0" anchor="ctr"/>
          <a:lstStyle/>
          <a:p>
            <a:pPr indent="0" marL="0">
              <a:buNone/>
            </a:pPr>
            <a:r>
              <a:rPr lang="en-US" sz="1200" dirty="0">
                <a:solidFill>
                  <a:schemeClr val="tx1"/>
                </a:solidFill>
              </a:rPr>
              <a:t>テクノロジーの導入（見守り機器／インカム等／介護記録ソフトのいずれか）</a:t>
            </a:r>
            <a:endParaRPr lang="en-US" sz="1200" dirty="0"/>
          </a:p>
        </p:txBody>
      </p:sp>
      <p:sp>
        <p:nvSpPr>
          <p:cNvPr id="23" name="Shape 21"/>
          <p:cNvSpPr/>
          <p:nvPr/>
        </p:nvSpPr>
        <p:spPr>
          <a:xfrm>
            <a:off x="8348472" y="3478520"/>
            <a:ext cx="274320" cy="351272"/>
          </a:xfrm>
          <a:prstGeom prst="rightArrow">
            <a:avLst/>
          </a:prstGeom>
          <a:solidFill>
            <a:schemeClr val="accent3"/>
          </a:solidFill>
          <a:ln/>
        </p:spPr>
      </p:sp>
      <p:sp>
        <p:nvSpPr>
          <p:cNvPr id="24" name="Shape 22"/>
          <p:cNvSpPr/>
          <p:nvPr/>
        </p:nvSpPr>
        <p:spPr>
          <a:xfrm>
            <a:off x="8686800" y="3189237"/>
            <a:ext cx="2956255" cy="929838"/>
          </a:xfrm>
          <a:prstGeom prst="roundRect">
            <a:avLst>
              <a:gd name="adj" fmla="val 7867"/>
            </a:avLst>
          </a:prstGeom>
          <a:solidFill>
            <a:schemeClr val="accent3">
              <a:alpha val="12000"/>
            </a:schemeClr>
          </a:solidFill>
          <a:ln/>
        </p:spPr>
      </p:sp>
      <p:sp>
        <p:nvSpPr>
          <p:cNvPr id="25" name="Text 23"/>
          <p:cNvSpPr txBox="1"/>
          <p:nvPr/>
        </p:nvSpPr>
        <p:spPr>
          <a:xfrm>
            <a:off x="8823960" y="3189237"/>
            <a:ext cx="2681935" cy="929838"/>
          </a:xfrm>
          <a:prstGeom prst="rect">
            <a:avLst/>
          </a:prstGeom>
          <a:noFill/>
          <a:ln/>
        </p:spPr>
        <p:txBody>
          <a:bodyPr wrap="square" lIns="0" tIns="0" rIns="0" bIns="0" rtlCol="0" anchor="ctr"/>
          <a:lstStyle/>
          <a:p>
            <a:pPr indent="0" marL="0">
              <a:buNone/>
            </a:pPr>
            <a:r>
              <a:rPr lang="en-US" sz="1200" b="1" dirty="0">
                <a:solidFill>
                  <a:schemeClr val="tx2"/>
                </a:solidFill>
              </a:rPr>
              <a:t>「インカム等」にはビジネスチャットの活用も含まれる ※</a:t>
            </a:r>
            <a:endParaRPr lang="en-US" sz="1200" dirty="0"/>
          </a:p>
        </p:txBody>
      </p:sp>
      <p:sp>
        <p:nvSpPr>
          <p:cNvPr id="26" name="Shape 24"/>
          <p:cNvSpPr/>
          <p:nvPr/>
        </p:nvSpPr>
        <p:spPr>
          <a:xfrm>
            <a:off x="5212080" y="4274048"/>
            <a:ext cx="3063240" cy="929838"/>
          </a:xfrm>
          <a:prstGeom prst="roundRect">
            <a:avLst>
              <a:gd name="adj" fmla="val 7867"/>
            </a:avLst>
          </a:prstGeom>
          <a:solidFill>
            <a:srgbClr val="F1F1F4"/>
          </a:solidFill>
          <a:ln/>
        </p:spPr>
      </p:sp>
      <p:sp>
        <p:nvSpPr>
          <p:cNvPr id="27" name="Text 25"/>
          <p:cNvSpPr txBox="1"/>
          <p:nvPr/>
        </p:nvSpPr>
        <p:spPr>
          <a:xfrm>
            <a:off x="5349240" y="4274048"/>
            <a:ext cx="2788920" cy="929838"/>
          </a:xfrm>
          <a:prstGeom prst="rect">
            <a:avLst/>
          </a:prstGeom>
          <a:noFill/>
          <a:ln/>
        </p:spPr>
        <p:txBody>
          <a:bodyPr wrap="square" lIns="0" tIns="0" rIns="0" bIns="0" rtlCol="0" anchor="ctr"/>
          <a:lstStyle/>
          <a:p>
            <a:pPr indent="0" marL="0">
              <a:buNone/>
            </a:pPr>
            <a:r>
              <a:rPr lang="en-US" sz="1200" dirty="0">
                <a:solidFill>
                  <a:schemeClr val="tx1"/>
                </a:solidFill>
              </a:rPr>
              <a:t>業務改善の継続と、年1回のデータ提出</a:t>
            </a:r>
            <a:endParaRPr lang="en-US" sz="1200" dirty="0"/>
          </a:p>
        </p:txBody>
      </p:sp>
      <p:sp>
        <p:nvSpPr>
          <p:cNvPr id="28" name="Shape 26"/>
          <p:cNvSpPr/>
          <p:nvPr/>
        </p:nvSpPr>
        <p:spPr>
          <a:xfrm>
            <a:off x="8348472" y="4563331"/>
            <a:ext cx="274320" cy="351272"/>
          </a:xfrm>
          <a:prstGeom prst="rightArrow">
            <a:avLst/>
          </a:prstGeom>
          <a:solidFill>
            <a:schemeClr val="accent3"/>
          </a:solidFill>
          <a:ln/>
        </p:spPr>
      </p:sp>
      <p:sp>
        <p:nvSpPr>
          <p:cNvPr id="29" name="Shape 27"/>
          <p:cNvSpPr/>
          <p:nvPr/>
        </p:nvSpPr>
        <p:spPr>
          <a:xfrm>
            <a:off x="8686800" y="4274048"/>
            <a:ext cx="2956255" cy="929838"/>
          </a:xfrm>
          <a:prstGeom prst="roundRect">
            <a:avLst>
              <a:gd name="adj" fmla="val 7867"/>
            </a:avLst>
          </a:prstGeom>
          <a:solidFill>
            <a:schemeClr val="accent3">
              <a:alpha val="12000"/>
            </a:schemeClr>
          </a:solidFill>
          <a:ln/>
        </p:spPr>
      </p:sp>
      <p:sp>
        <p:nvSpPr>
          <p:cNvPr id="30" name="Text 28"/>
          <p:cNvSpPr txBox="1"/>
          <p:nvPr/>
        </p:nvSpPr>
        <p:spPr>
          <a:xfrm>
            <a:off x="8823960" y="4274048"/>
            <a:ext cx="2681935" cy="929838"/>
          </a:xfrm>
          <a:prstGeom prst="rect">
            <a:avLst/>
          </a:prstGeom>
          <a:noFill/>
          <a:ln/>
        </p:spPr>
        <p:txBody>
          <a:bodyPr wrap="square" lIns="0" tIns="0" rIns="0" bIns="0" rtlCol="0" anchor="ctr"/>
          <a:lstStyle/>
          <a:p>
            <a:pPr indent="0" marL="0">
              <a:buNone/>
            </a:pPr>
            <a:r>
              <a:rPr lang="en-US" sz="1200" b="1" dirty="0">
                <a:solidFill>
                  <a:schemeClr val="tx2"/>
                </a:solidFill>
              </a:rPr>
              <a:t>スプレッドシートで業務時間や改善の記録を管理</a:t>
            </a:r>
            <a:endParaRPr lang="en-US" sz="1200" dirty="0"/>
          </a:p>
        </p:txBody>
      </p:sp>
      <p:sp>
        <p:nvSpPr>
          <p:cNvPr id="31" name="Text 29"/>
          <p:cNvSpPr txBox="1"/>
          <p:nvPr/>
        </p:nvSpPr>
        <p:spPr>
          <a:xfrm>
            <a:off x="5212080" y="5410517"/>
            <a:ext cx="6430975" cy="826523"/>
          </a:xfrm>
          <a:prstGeom prst="rect">
            <a:avLst/>
          </a:prstGeom>
          <a:noFill/>
          <a:ln/>
        </p:spPr>
        <p:txBody>
          <a:bodyPr wrap="square" lIns="0" tIns="0" rIns="0" bIns="0" rtlCol="0" anchor="t"/>
          <a:lstStyle/>
          <a:p>
            <a:pPr indent="0" marL="0">
              <a:buNone/>
            </a:pPr>
            <a:r>
              <a:rPr lang="en-US" sz="1100" dirty="0">
                <a:solidFill>
                  <a:schemeClr val="tx1"/>
                </a:solidFill>
              </a:rPr>
              <a:t>※ 算定の可否は各事業所の指定権者（名古屋市・春日井市・尾張旭市・江南市・刈谷市）の判断によります。チャットツールで算定する場合は、同じ時間帯の介護職員全員の使用が条件のため、現場職員分のアカウントが必要です。</a:t>
            </a:r>
            <a:endParaRPr lang="en-US" sz="1100" dirty="0"/>
          </a:p>
        </p:txBody>
      </p:sp>
      <p:sp>
        <p:nvSpPr>
          <p:cNvPr id="32" name="source"/>
          <p:cNvSpPr txBox="1"/>
          <p:nvPr/>
        </p:nvSpPr>
        <p:spPr>
          <a:xfrm>
            <a:off x="548640" y="6336792"/>
            <a:ext cx="11094415" cy="201168"/>
          </a:xfrm>
          <a:prstGeom prst="rect">
            <a:avLst/>
          </a:prstGeom>
          <a:noFill/>
          <a:ln/>
        </p:spPr>
        <p:txBody>
          <a:bodyPr wrap="square" lIns="0" tIns="0" rIns="0" bIns="0" rtlCol="0" anchor="ctr"/>
          <a:lstStyle/>
          <a:p>
            <a:pPr indent="0" marL="0">
              <a:buNone/>
            </a:pPr>
            <a:r>
              <a:rPr lang="en-US" sz="900" dirty="0">
                <a:solidFill>
                  <a:schemeClr val="accent6"/>
                </a:solidFill>
              </a:rPr>
              <a:t>出典：厚生労働省 老高発0315第4号（2024年3月15日）、令和8年度介護報酬改定（処遇改善加算）資料</a:t>
            </a:r>
            <a:endParaRPr lang="en-US" sz="9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貴社の事業から見た、Workspace 活用のポイント</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地域密着で多拠点を運営する貴社では、本部と拠点の情報共有と管理者の事務負担軽減が効果の出やすい領域です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01｜現状のご理解</a:t>
            </a:r>
            <a:endParaRPr lang="en-US" sz="900" dirty="0"/>
          </a:p>
        </p:txBody>
      </p:sp>
      <p:sp>
        <p:nvSpPr>
          <p:cNvPr id="5" name="Shape 3"/>
          <p:cNvSpPr/>
          <p:nvPr/>
        </p:nvSpPr>
        <p:spPr>
          <a:xfrm>
            <a:off x="548640" y="1639507"/>
            <a:ext cx="4160520" cy="4649190"/>
          </a:xfrm>
          <a:prstGeom prst="roundRect">
            <a:avLst>
              <a:gd name="adj" fmla="val 2637"/>
            </a:avLst>
          </a:prstGeom>
          <a:solidFill>
            <a:schemeClr val="bg2"/>
          </a:solidFill>
          <a:ln/>
        </p:spPr>
      </p:sp>
      <p:sp>
        <p:nvSpPr>
          <p:cNvPr id="6" name="Text 4"/>
          <p:cNvSpPr txBox="1"/>
          <p:nvPr/>
        </p:nvSpPr>
        <p:spPr>
          <a:xfrm>
            <a:off x="822960" y="1846138"/>
            <a:ext cx="3611880" cy="330609"/>
          </a:xfrm>
          <a:prstGeom prst="rect">
            <a:avLst/>
          </a:prstGeom>
          <a:noFill/>
          <a:ln/>
        </p:spPr>
        <p:txBody>
          <a:bodyPr wrap="square" lIns="0" tIns="0" rIns="0" bIns="0" rtlCol="0" anchor="t"/>
          <a:lstStyle/>
          <a:p>
            <a:pPr indent="0" marL="0">
              <a:buNone/>
            </a:pPr>
            <a:r>
              <a:rPr lang="en-US" sz="1400" b="1" dirty="0">
                <a:solidFill>
                  <a:schemeClr val="accent1"/>
                </a:solidFill>
              </a:rPr>
              <a:t>貴社の事業（公開情報より）</a:t>
            </a:r>
            <a:endParaRPr lang="en-US" sz="1400" dirty="0"/>
          </a:p>
        </p:txBody>
      </p:sp>
      <p:sp>
        <p:nvSpPr>
          <p:cNvPr id="7" name="Text 5"/>
          <p:cNvSpPr txBox="1"/>
          <p:nvPr/>
        </p:nvSpPr>
        <p:spPr>
          <a:xfrm>
            <a:off x="822960" y="2238736"/>
            <a:ext cx="1783080" cy="640555"/>
          </a:xfrm>
          <a:prstGeom prst="rect">
            <a:avLst/>
          </a:prstGeom>
          <a:noFill/>
          <a:ln/>
        </p:spPr>
        <p:txBody>
          <a:bodyPr wrap="square" lIns="0" tIns="0" rIns="0" bIns="0" rtlCol="0" anchor="ctr"/>
          <a:lstStyle/>
          <a:p>
            <a:pPr indent="0" marL="0">
              <a:buNone/>
            </a:pPr>
            <a:r>
              <a:rPr lang="en-US" sz="3600" b="1" dirty="0">
                <a:solidFill>
                  <a:schemeClr val="tx1"/>
                </a:solidFill>
              </a:rPr>
              <a:t>11</a:t>
            </a:r>
            <a:pPr indent="0" marL="0">
              <a:buNone/>
            </a:pPr>
            <a:r>
              <a:rPr lang="en-US" sz="1200" dirty="0">
                <a:solidFill>
                  <a:schemeClr val="tx1"/>
                </a:solidFill>
              </a:rPr>
              <a:t> 事業所</a:t>
            </a:r>
            <a:endParaRPr lang="en-US" sz="1400" dirty="0"/>
          </a:p>
        </p:txBody>
      </p:sp>
      <p:sp>
        <p:nvSpPr>
          <p:cNvPr id="8" name="Text 6"/>
          <p:cNvSpPr txBox="1"/>
          <p:nvPr/>
        </p:nvSpPr>
        <p:spPr>
          <a:xfrm>
            <a:off x="822960" y="2879291"/>
            <a:ext cx="1783080" cy="309946"/>
          </a:xfrm>
          <a:prstGeom prst="rect">
            <a:avLst/>
          </a:prstGeom>
          <a:noFill/>
          <a:ln/>
        </p:spPr>
        <p:txBody>
          <a:bodyPr wrap="square" lIns="0" tIns="0" rIns="0" bIns="0" rtlCol="0" anchor="t"/>
          <a:lstStyle/>
          <a:p>
            <a:pPr indent="0" marL="0">
              <a:buNone/>
            </a:pPr>
            <a:r>
              <a:rPr lang="en-US" sz="1100" dirty="0">
                <a:solidFill>
                  <a:schemeClr val="tx1"/>
                </a:solidFill>
              </a:rPr>
              <a:t>グループホーム</a:t>
            </a:r>
            <a:endParaRPr lang="en-US" sz="1100" dirty="0"/>
          </a:p>
        </p:txBody>
      </p:sp>
      <p:sp>
        <p:nvSpPr>
          <p:cNvPr id="9" name="Text 7"/>
          <p:cNvSpPr txBox="1"/>
          <p:nvPr/>
        </p:nvSpPr>
        <p:spPr>
          <a:xfrm>
            <a:off x="2697480" y="2238736"/>
            <a:ext cx="1783080" cy="640555"/>
          </a:xfrm>
          <a:prstGeom prst="rect">
            <a:avLst/>
          </a:prstGeom>
          <a:noFill/>
          <a:ln/>
        </p:spPr>
        <p:txBody>
          <a:bodyPr wrap="square" lIns="0" tIns="0" rIns="0" bIns="0" rtlCol="0" anchor="ctr"/>
          <a:lstStyle/>
          <a:p>
            <a:pPr indent="0" marL="0">
              <a:buNone/>
            </a:pPr>
            <a:r>
              <a:rPr lang="en-US" sz="3600" b="1" dirty="0">
                <a:solidFill>
                  <a:schemeClr val="tx1"/>
                </a:solidFill>
              </a:rPr>
              <a:t>7</a:t>
            </a:r>
            <a:pPr indent="0" marL="0">
              <a:buNone/>
            </a:pPr>
            <a:r>
              <a:rPr lang="en-US" sz="1200" dirty="0">
                <a:solidFill>
                  <a:schemeClr val="tx1"/>
                </a:solidFill>
              </a:rPr>
              <a:t> 事業所</a:t>
            </a:r>
            <a:endParaRPr lang="en-US" sz="1400" dirty="0"/>
          </a:p>
        </p:txBody>
      </p:sp>
      <p:sp>
        <p:nvSpPr>
          <p:cNvPr id="10" name="Text 8"/>
          <p:cNvSpPr txBox="1"/>
          <p:nvPr/>
        </p:nvSpPr>
        <p:spPr>
          <a:xfrm>
            <a:off x="2697480" y="2879291"/>
            <a:ext cx="1783080" cy="309946"/>
          </a:xfrm>
          <a:prstGeom prst="rect">
            <a:avLst/>
          </a:prstGeom>
          <a:noFill/>
          <a:ln/>
        </p:spPr>
        <p:txBody>
          <a:bodyPr wrap="square" lIns="0" tIns="0" rIns="0" bIns="0" rtlCol="0" anchor="t"/>
          <a:lstStyle/>
          <a:p>
            <a:pPr indent="0" marL="0">
              <a:buNone/>
            </a:pPr>
            <a:r>
              <a:rPr lang="en-US" sz="1100" dirty="0">
                <a:solidFill>
                  <a:schemeClr val="tx1"/>
                </a:solidFill>
              </a:rPr>
              <a:t>小規模多機能型居宅介護</a:t>
            </a:r>
            <a:endParaRPr lang="en-US" sz="1100" dirty="0"/>
          </a:p>
        </p:txBody>
      </p:sp>
      <p:sp>
        <p:nvSpPr>
          <p:cNvPr id="11" name="Text 9"/>
          <p:cNvSpPr txBox="1"/>
          <p:nvPr/>
        </p:nvSpPr>
        <p:spPr>
          <a:xfrm>
            <a:off x="822960" y="3271889"/>
            <a:ext cx="3611880" cy="516577"/>
          </a:xfrm>
          <a:prstGeom prst="rect">
            <a:avLst/>
          </a:prstGeom>
          <a:noFill/>
          <a:ln/>
        </p:spPr>
        <p:txBody>
          <a:bodyPr wrap="square" lIns="0" tIns="0" rIns="0" bIns="0" rtlCol="0" anchor="t"/>
          <a:lstStyle/>
          <a:p>
            <a:pPr indent="0" marL="0">
              <a:buNone/>
            </a:pPr>
            <a:r>
              <a:rPr lang="en-US" sz="1100" dirty="0">
                <a:solidFill>
                  <a:schemeClr val="tx1"/>
                </a:solidFill>
              </a:rPr>
              <a:t>「あじさい」ブランドで地域密着型の介護サービスを展開。ほかに訪問看護ステーション、デイサービス（きそじ併設）</a:t>
            </a:r>
            <a:endParaRPr lang="en-US" sz="1100" dirty="0"/>
          </a:p>
        </p:txBody>
      </p:sp>
      <p:sp>
        <p:nvSpPr>
          <p:cNvPr id="12" name="Text 10"/>
          <p:cNvSpPr txBox="1"/>
          <p:nvPr/>
        </p:nvSpPr>
        <p:spPr>
          <a:xfrm>
            <a:off x="822960" y="3809129"/>
            <a:ext cx="3611880" cy="516577"/>
          </a:xfrm>
          <a:prstGeom prst="rect">
            <a:avLst/>
          </a:prstGeom>
          <a:noFill/>
          <a:ln/>
        </p:spPr>
        <p:txBody>
          <a:bodyPr wrap="square" lIns="0" tIns="0" rIns="0" bIns="0" rtlCol="0" anchor="t"/>
          <a:lstStyle/>
          <a:p>
            <a:pPr indent="0" marL="0">
              <a:buNone/>
            </a:pPr>
            <a:r>
              <a:rPr lang="en-US" sz="1100" dirty="0">
                <a:solidFill>
                  <a:schemeClr val="tx1"/>
                </a:solidFill>
              </a:rPr>
              <a:t>エリア：名古屋市（西区・北区・昭和区）、春日井市、尾張旭市、江南市、刈谷市</a:t>
            </a:r>
            <a:endParaRPr lang="en-US" sz="1100" dirty="0"/>
          </a:p>
        </p:txBody>
      </p:sp>
      <p:sp>
        <p:nvSpPr>
          <p:cNvPr id="13" name="Shape 11"/>
          <p:cNvSpPr/>
          <p:nvPr/>
        </p:nvSpPr>
        <p:spPr>
          <a:xfrm>
            <a:off x="822960" y="4429021"/>
            <a:ext cx="3611880" cy="0"/>
          </a:xfrm>
          <a:prstGeom prst="line">
            <a:avLst/>
          </a:prstGeom>
          <a:noFill/>
          <a:ln w="9525">
            <a:solidFill>
              <a:srgbClr val="D5D2EE"/>
            </a:solidFill>
            <a:prstDash val="solid"/>
          </a:ln>
        </p:spPr>
      </p:sp>
      <p:sp>
        <p:nvSpPr>
          <p:cNvPr id="14" name="Text 12"/>
          <p:cNvSpPr txBox="1"/>
          <p:nvPr/>
        </p:nvSpPr>
        <p:spPr>
          <a:xfrm>
            <a:off x="822960" y="4552999"/>
            <a:ext cx="3611880" cy="154973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chemeClr val="tx1"/>
                </a:solidFill>
              </a:rPr>
              <a:t>本部からの情報伝達は毎月の施設会議</a:t>
            </a:r>
            <a:endParaRPr lang="en-US" sz="1200" dirty="0"/>
          </a:p>
          <a:p>
            <a:pPr marL="152400" indent="-152400">
              <a:spcAft>
                <a:spcPts val="800"/>
              </a:spcAft>
              <a:buSzPct val="100000"/>
              <a:buChar char="•"/>
            </a:pPr>
            <a:r>
              <a:rPr lang="en-US" sz="1200" dirty="0">
                <a:solidFill>
                  <a:schemeClr val="tx1"/>
                </a:solidFill>
              </a:rPr>
              <a:t>タブレット導入による ICT 化を推進</a:t>
            </a:r>
            <a:endParaRPr lang="en-US" sz="1200" dirty="0"/>
          </a:p>
          <a:p>
            <a:pPr marL="152400" indent="-152400">
              <a:spcAft>
                <a:spcPts val="800"/>
              </a:spcAft>
              <a:buSzPct val="100000"/>
              <a:buChar char="•"/>
            </a:pPr>
            <a:r>
              <a:rPr lang="en-US" sz="1200" dirty="0">
                <a:solidFill>
                  <a:schemeClr val="tx1"/>
                </a:solidFill>
              </a:rPr>
              <a:t>SDGs 宣言で「社内システムの最新化」を掲げる</a:t>
            </a:r>
            <a:endParaRPr lang="en-US" sz="1200" dirty="0"/>
          </a:p>
        </p:txBody>
      </p:sp>
      <p:sp>
        <p:nvSpPr>
          <p:cNvPr id="15" name="Shape 13"/>
          <p:cNvSpPr/>
          <p:nvPr/>
        </p:nvSpPr>
        <p:spPr>
          <a:xfrm>
            <a:off x="5029200" y="1639507"/>
            <a:ext cx="3169768" cy="2169622"/>
          </a:xfrm>
          <a:prstGeom prst="roundRect">
            <a:avLst>
              <a:gd name="adj" fmla="val 4215"/>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16" name="Image 0" descr="office-building">    </p:cNvPr>
          <p:cNvPicPr>
            <a:picLocks noChangeAspect="1"/>
          </p:cNvPicPr>
          <p:nvPr/>
        </p:nvPicPr>
        <p:blipFill>
          <a:blip r:embed="rId1"/>
          <a:stretch>
            <a:fillRect/>
          </a:stretch>
        </p:blipFill>
        <p:spPr>
          <a:xfrm>
            <a:off x="5245227" y="1917880"/>
            <a:ext cx="528066" cy="528066"/>
          </a:xfrm>
          <a:prstGeom prst="rect">
            <a:avLst/>
          </a:prstGeom>
        </p:spPr>
      </p:pic>
      <p:sp>
        <p:nvSpPr>
          <p:cNvPr id="17" name="Text 14"/>
          <p:cNvSpPr txBox="1"/>
          <p:nvPr/>
        </p:nvSpPr>
        <p:spPr>
          <a:xfrm>
            <a:off x="5897880" y="1897796"/>
            <a:ext cx="2163928" cy="568234"/>
          </a:xfrm>
          <a:prstGeom prst="rect">
            <a:avLst/>
          </a:prstGeom>
          <a:noFill/>
          <a:ln/>
        </p:spPr>
        <p:txBody>
          <a:bodyPr wrap="square" lIns="0" tIns="0" rIns="0" bIns="0" rtlCol="0" anchor="ctr"/>
          <a:lstStyle/>
          <a:p>
            <a:pPr indent="0" marL="0">
              <a:buNone/>
            </a:pPr>
            <a:r>
              <a:rPr lang="en-US" sz="1500" b="1" dirty="0">
                <a:solidFill>
                  <a:schemeClr val="tx2"/>
                </a:solidFill>
              </a:rPr>
              <a:t>本部と拠点をつなぐ</a:t>
            </a:r>
            <a:endParaRPr lang="en-US" sz="1500" dirty="0"/>
          </a:p>
        </p:txBody>
      </p:sp>
      <p:sp>
        <p:nvSpPr>
          <p:cNvPr id="18" name="Text 15"/>
          <p:cNvSpPr txBox="1"/>
          <p:nvPr/>
        </p:nvSpPr>
        <p:spPr>
          <a:xfrm>
            <a:off x="5257800" y="2621003"/>
            <a:ext cx="2804008" cy="1084811"/>
          </a:xfrm>
          <a:prstGeom prst="rect">
            <a:avLst/>
          </a:prstGeom>
          <a:noFill/>
          <a:ln/>
        </p:spPr>
        <p:txBody>
          <a:bodyPr wrap="square" lIns="0" tIns="0" rIns="0" bIns="0" rtlCol="0" anchor="t"/>
          <a:lstStyle/>
          <a:p>
            <a:pPr indent="0" marL="0">
              <a:buNone/>
            </a:pPr>
            <a:r>
              <a:rPr lang="en-US" sz="1200" dirty="0">
                <a:solidFill>
                  <a:schemeClr val="tx1"/>
                </a:solidFill>
              </a:rPr>
              <a:t>施設会議の資料・議事録を Meet とドキュメントで共有。欠席者も要点をすぐに確認できる</a:t>
            </a:r>
            <a:endParaRPr lang="en-US" sz="1200" dirty="0"/>
          </a:p>
        </p:txBody>
      </p:sp>
      <p:sp>
        <p:nvSpPr>
          <p:cNvPr id="19" name="Shape 16"/>
          <p:cNvSpPr/>
          <p:nvPr/>
        </p:nvSpPr>
        <p:spPr>
          <a:xfrm>
            <a:off x="8473288" y="1639507"/>
            <a:ext cx="3169768" cy="2169622"/>
          </a:xfrm>
          <a:prstGeom prst="roundRect">
            <a:avLst>
              <a:gd name="adj" fmla="val 4215"/>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20" name="Image 1" descr="spiral-notepad">    </p:cNvPr>
          <p:cNvPicPr>
            <a:picLocks noChangeAspect="1"/>
          </p:cNvPicPr>
          <p:nvPr/>
        </p:nvPicPr>
        <p:blipFill>
          <a:blip r:embed="rId2"/>
          <a:stretch>
            <a:fillRect/>
          </a:stretch>
        </p:blipFill>
        <p:spPr>
          <a:xfrm>
            <a:off x="8689315" y="1917880"/>
            <a:ext cx="528066" cy="528066"/>
          </a:xfrm>
          <a:prstGeom prst="rect">
            <a:avLst/>
          </a:prstGeom>
        </p:spPr>
      </p:pic>
      <p:sp>
        <p:nvSpPr>
          <p:cNvPr id="21" name="Text 17"/>
          <p:cNvSpPr txBox="1"/>
          <p:nvPr/>
        </p:nvSpPr>
        <p:spPr>
          <a:xfrm>
            <a:off x="9341968" y="1897796"/>
            <a:ext cx="2163928" cy="568234"/>
          </a:xfrm>
          <a:prstGeom prst="rect">
            <a:avLst/>
          </a:prstGeom>
          <a:noFill/>
          <a:ln/>
        </p:spPr>
        <p:txBody>
          <a:bodyPr wrap="square" lIns="0" tIns="0" rIns="0" bIns="0" rtlCol="0" anchor="ctr"/>
          <a:lstStyle/>
          <a:p>
            <a:pPr indent="0" marL="0">
              <a:buNone/>
            </a:pPr>
            <a:r>
              <a:rPr lang="en-US" sz="1500" b="1" dirty="0">
                <a:solidFill>
                  <a:schemeClr val="tx2"/>
                </a:solidFill>
              </a:rPr>
              <a:t>管理者の事務を軽くする</a:t>
            </a:r>
            <a:endParaRPr lang="en-US" sz="1500" dirty="0"/>
          </a:p>
        </p:txBody>
      </p:sp>
      <p:sp>
        <p:nvSpPr>
          <p:cNvPr id="22" name="Text 18"/>
          <p:cNvSpPr txBox="1"/>
          <p:nvPr/>
        </p:nvSpPr>
        <p:spPr>
          <a:xfrm>
            <a:off x="8701888" y="2621003"/>
            <a:ext cx="2804008" cy="1084811"/>
          </a:xfrm>
          <a:prstGeom prst="rect">
            <a:avLst/>
          </a:prstGeom>
          <a:noFill/>
          <a:ln/>
        </p:spPr>
        <p:txBody>
          <a:bodyPr wrap="square" lIns="0" tIns="0" rIns="0" bIns="0" rtlCol="0" anchor="t"/>
          <a:lstStyle/>
          <a:p>
            <a:pPr indent="0" marL="0">
              <a:buNone/>
            </a:pPr>
            <a:r>
              <a:rPr lang="en-US" sz="1200" dirty="0">
                <a:solidFill>
                  <a:schemeClr val="tx1"/>
                </a:solidFill>
              </a:rPr>
              <a:t>加算・運営指導の書類準備や、シフト・稼働データの集計を AI で効率化する</a:t>
            </a:r>
            <a:endParaRPr lang="en-US" sz="1200" dirty="0"/>
          </a:p>
        </p:txBody>
      </p:sp>
      <p:sp>
        <p:nvSpPr>
          <p:cNvPr id="23" name="Shape 19"/>
          <p:cNvSpPr/>
          <p:nvPr/>
        </p:nvSpPr>
        <p:spPr>
          <a:xfrm>
            <a:off x="5029200" y="4119075"/>
            <a:ext cx="3169768" cy="2169622"/>
          </a:xfrm>
          <a:prstGeom prst="roundRect">
            <a:avLst>
              <a:gd name="adj" fmla="val 4215"/>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24" name="Image 2" descr="speech-balloon">    </p:cNvPr>
          <p:cNvPicPr>
            <a:picLocks noChangeAspect="1"/>
          </p:cNvPicPr>
          <p:nvPr/>
        </p:nvPicPr>
        <p:blipFill>
          <a:blip r:embed="rId3"/>
          <a:stretch>
            <a:fillRect/>
          </a:stretch>
        </p:blipFill>
        <p:spPr>
          <a:xfrm>
            <a:off x="5245227" y="4397448"/>
            <a:ext cx="528066" cy="528066"/>
          </a:xfrm>
          <a:prstGeom prst="rect">
            <a:avLst/>
          </a:prstGeom>
        </p:spPr>
      </p:pic>
      <p:sp>
        <p:nvSpPr>
          <p:cNvPr id="25" name="Text 20"/>
          <p:cNvSpPr txBox="1"/>
          <p:nvPr/>
        </p:nvSpPr>
        <p:spPr>
          <a:xfrm>
            <a:off x="5897880" y="4377363"/>
            <a:ext cx="2163928" cy="568234"/>
          </a:xfrm>
          <a:prstGeom prst="rect">
            <a:avLst/>
          </a:prstGeom>
          <a:noFill/>
          <a:ln/>
        </p:spPr>
        <p:txBody>
          <a:bodyPr wrap="square" lIns="0" tIns="0" rIns="0" bIns="0" rtlCol="0" anchor="ctr"/>
          <a:lstStyle/>
          <a:p>
            <a:pPr indent="0" marL="0">
              <a:buNone/>
            </a:pPr>
            <a:r>
              <a:rPr lang="en-US" sz="1500" b="1" dirty="0">
                <a:solidFill>
                  <a:schemeClr val="tx2"/>
                </a:solidFill>
              </a:rPr>
              <a:t>多様な職員を支える</a:t>
            </a:r>
            <a:endParaRPr lang="en-US" sz="1500" dirty="0"/>
          </a:p>
        </p:txBody>
      </p:sp>
      <p:sp>
        <p:nvSpPr>
          <p:cNvPr id="26" name="Text 21"/>
          <p:cNvSpPr txBox="1"/>
          <p:nvPr/>
        </p:nvSpPr>
        <p:spPr>
          <a:xfrm>
            <a:off x="5257800" y="5100571"/>
            <a:ext cx="2804008" cy="1084811"/>
          </a:xfrm>
          <a:prstGeom prst="rect">
            <a:avLst/>
          </a:prstGeom>
          <a:noFill/>
          <a:ln/>
        </p:spPr>
        <p:txBody>
          <a:bodyPr wrap="square" lIns="0" tIns="0" rIns="0" bIns="0" rtlCol="0" anchor="t"/>
          <a:lstStyle/>
          <a:p>
            <a:pPr indent="0" marL="0">
              <a:buNone/>
            </a:pPr>
            <a:r>
              <a:rPr lang="en-US" sz="1200" dirty="0">
                <a:solidFill>
                  <a:schemeClr val="tx1"/>
                </a:solidFill>
              </a:rPr>
              <a:t>外国籍の職員向けに、マニュアルの翻訳や、やさしい日本語への書き換えに。基礎研修の教材づくりにも</a:t>
            </a:r>
            <a:endParaRPr lang="en-US" sz="1200" dirty="0"/>
          </a:p>
        </p:txBody>
      </p:sp>
      <p:sp>
        <p:nvSpPr>
          <p:cNvPr id="27" name="Shape 22"/>
          <p:cNvSpPr/>
          <p:nvPr/>
        </p:nvSpPr>
        <p:spPr>
          <a:xfrm>
            <a:off x="8473288" y="4119075"/>
            <a:ext cx="3169768" cy="2169622"/>
          </a:xfrm>
          <a:prstGeom prst="roundRect">
            <a:avLst>
              <a:gd name="adj" fmla="val 4215"/>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28" name="Image 3" descr="seedling">    </p:cNvPr>
          <p:cNvPicPr>
            <a:picLocks noChangeAspect="1"/>
          </p:cNvPicPr>
          <p:nvPr/>
        </p:nvPicPr>
        <p:blipFill>
          <a:blip r:embed="rId4"/>
          <a:stretch>
            <a:fillRect/>
          </a:stretch>
        </p:blipFill>
        <p:spPr>
          <a:xfrm>
            <a:off x="8689315" y="4397448"/>
            <a:ext cx="528066" cy="528066"/>
          </a:xfrm>
          <a:prstGeom prst="rect">
            <a:avLst/>
          </a:prstGeom>
        </p:spPr>
      </p:pic>
      <p:sp>
        <p:nvSpPr>
          <p:cNvPr id="29" name="Text 23"/>
          <p:cNvSpPr txBox="1"/>
          <p:nvPr/>
        </p:nvSpPr>
        <p:spPr>
          <a:xfrm>
            <a:off x="9341968" y="4377363"/>
            <a:ext cx="2163928" cy="568234"/>
          </a:xfrm>
          <a:prstGeom prst="rect">
            <a:avLst/>
          </a:prstGeom>
          <a:noFill/>
          <a:ln/>
        </p:spPr>
        <p:txBody>
          <a:bodyPr wrap="square" lIns="0" tIns="0" rIns="0" bIns="0" rtlCol="0" anchor="ctr"/>
          <a:lstStyle/>
          <a:p>
            <a:pPr indent="0" marL="0">
              <a:buNone/>
            </a:pPr>
            <a:r>
              <a:rPr lang="en-US" sz="1500" b="1" dirty="0">
                <a:solidFill>
                  <a:schemeClr val="tx2"/>
                </a:solidFill>
              </a:rPr>
              <a:t>新拠点の立ち上げを速く</a:t>
            </a:r>
            <a:endParaRPr lang="en-US" sz="1500" dirty="0"/>
          </a:p>
        </p:txBody>
      </p:sp>
      <p:sp>
        <p:nvSpPr>
          <p:cNvPr id="30" name="Text 24"/>
          <p:cNvSpPr txBox="1"/>
          <p:nvPr/>
        </p:nvSpPr>
        <p:spPr>
          <a:xfrm>
            <a:off x="8701888" y="5100571"/>
            <a:ext cx="2804008" cy="1084811"/>
          </a:xfrm>
          <a:prstGeom prst="rect">
            <a:avLst/>
          </a:prstGeom>
          <a:noFill/>
          <a:ln/>
        </p:spPr>
        <p:txBody>
          <a:bodyPr wrap="square" lIns="0" tIns="0" rIns="0" bIns="0" rtlCol="0" anchor="t"/>
          <a:lstStyle/>
          <a:p>
            <a:pPr indent="0" marL="0">
              <a:buNone/>
            </a:pPr>
            <a:r>
              <a:rPr lang="en-US" sz="1200" dirty="0">
                <a:solidFill>
                  <a:schemeClr val="tx1"/>
                </a:solidFill>
              </a:rPr>
              <a:t>開設準備のチェックリストや採用広報をテンプレート化し、次の開設に活かす</a:t>
            </a:r>
            <a:endParaRPr lang="en-US" sz="1200" dirty="0"/>
          </a:p>
        </p:txBody>
      </p:sp>
      <p:sp>
        <p:nvSpPr>
          <p:cNvPr id="31" name="source"/>
          <p:cNvSpPr txBox="1"/>
          <p:nvPr/>
        </p:nvSpPr>
        <p:spPr>
          <a:xfrm>
            <a:off x="548640" y="6336792"/>
            <a:ext cx="11094415" cy="201168"/>
          </a:xfrm>
          <a:prstGeom prst="rect">
            <a:avLst/>
          </a:prstGeom>
          <a:noFill/>
          <a:ln/>
        </p:spPr>
        <p:txBody>
          <a:bodyPr wrap="square" lIns="0" tIns="0" rIns="0" bIns="0" rtlCol="0" anchor="ctr"/>
          <a:lstStyle/>
          <a:p>
            <a:pPr indent="0" marL="0">
              <a:buNone/>
            </a:pPr>
            <a:r>
              <a:rPr lang="en-US" sz="900" dirty="0">
                <a:solidFill>
                  <a:schemeClr val="accent6"/>
                </a:solidFill>
              </a:rPr>
              <a:t>出典：貴社ウェブサイト（2026年10月26日閲覧）。事業所数は令和7年度 処遇改善に関する公表資料より</a:t>
            </a:r>
            <a:endParaRPr lang="en-US" sz="9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貴社の現状：基盤は整い、「使いこなし」の段階へ</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Workspace はすぐ使える一方、Dropbox・無料 Gmail・Office が併存し、データとルールが分散しています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01｜現状のご理解</a:t>
            </a:r>
            <a:endParaRPr lang="en-US" sz="900" dirty="0"/>
          </a:p>
        </p:txBody>
      </p:sp>
      <p:sp>
        <p:nvSpPr>
          <p:cNvPr id="5" name="Shape 3"/>
          <p:cNvSpPr/>
          <p:nvPr/>
        </p:nvSpPr>
        <p:spPr>
          <a:xfrm>
            <a:off x="548640" y="1691165"/>
            <a:ext cx="3657600" cy="1425751"/>
          </a:xfrm>
          <a:prstGeom prst="roundRect">
            <a:avLst>
              <a:gd name="adj" fmla="val 6413"/>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6" name="Shape 4"/>
          <p:cNvSpPr/>
          <p:nvPr/>
        </p:nvSpPr>
        <p:spPr>
          <a:xfrm>
            <a:off x="4434840" y="1691165"/>
            <a:ext cx="3657600" cy="1425751"/>
          </a:xfrm>
          <a:prstGeom prst="roundRect">
            <a:avLst>
              <a:gd name="adj" fmla="val 6413"/>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7" name="Shape 5"/>
          <p:cNvSpPr/>
          <p:nvPr/>
        </p:nvSpPr>
        <p:spPr>
          <a:xfrm>
            <a:off x="548640" y="3323547"/>
            <a:ext cx="3657600" cy="1425751"/>
          </a:xfrm>
          <a:prstGeom prst="roundRect">
            <a:avLst>
              <a:gd name="adj" fmla="val 6413"/>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8" name="Shape 6"/>
          <p:cNvSpPr/>
          <p:nvPr/>
        </p:nvSpPr>
        <p:spPr>
          <a:xfrm>
            <a:off x="4434840" y="3323547"/>
            <a:ext cx="3657600" cy="1425751"/>
          </a:xfrm>
          <a:prstGeom prst="roundRect">
            <a:avLst>
              <a:gd name="adj" fmla="val 6413"/>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9" name="Shape 7"/>
          <p:cNvSpPr/>
          <p:nvPr/>
        </p:nvSpPr>
        <p:spPr>
          <a:xfrm>
            <a:off x="548640" y="4955929"/>
            <a:ext cx="7543800" cy="1425751"/>
          </a:xfrm>
          <a:prstGeom prst="roundRect">
            <a:avLst>
              <a:gd name="adj" fmla="val 6413"/>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10" name="Image 0" descr="cloud">    </p:cNvPr>
          <p:cNvPicPr>
            <a:picLocks noChangeAspect="1"/>
          </p:cNvPicPr>
          <p:nvPr/>
        </p:nvPicPr>
        <p:blipFill>
          <a:blip r:embed="rId1"/>
          <a:stretch>
            <a:fillRect/>
          </a:stretch>
        </p:blipFill>
        <p:spPr>
          <a:xfrm>
            <a:off x="737235" y="1938543"/>
            <a:ext cx="528066" cy="528066"/>
          </a:xfrm>
          <a:prstGeom prst="rect">
            <a:avLst/>
          </a:prstGeom>
        </p:spPr>
      </p:pic>
      <p:sp>
        <p:nvSpPr>
          <p:cNvPr id="11" name="Text 8"/>
          <p:cNvSpPr txBox="1"/>
          <p:nvPr/>
        </p:nvSpPr>
        <p:spPr>
          <a:xfrm>
            <a:off x="1389888" y="1897796"/>
            <a:ext cx="1737360" cy="330609"/>
          </a:xfrm>
          <a:prstGeom prst="rect">
            <a:avLst/>
          </a:prstGeom>
          <a:noFill/>
          <a:ln/>
        </p:spPr>
        <p:txBody>
          <a:bodyPr wrap="square" lIns="0" tIns="0" rIns="0" bIns="0" rtlCol="0" anchor="t"/>
          <a:lstStyle/>
          <a:p>
            <a:pPr indent="0" marL="0">
              <a:buNone/>
            </a:pPr>
            <a:r>
              <a:rPr lang="en-US" sz="1400" b="1" dirty="0">
                <a:solidFill>
                  <a:schemeClr val="tx2"/>
                </a:solidFill>
              </a:rPr>
              <a:t>Google Workspace</a:t>
            </a:r>
            <a:endParaRPr lang="en-US" sz="1400" dirty="0"/>
          </a:p>
        </p:txBody>
      </p:sp>
      <p:sp>
        <p:nvSpPr>
          <p:cNvPr id="12" name="Text 9"/>
          <p:cNvSpPr txBox="1"/>
          <p:nvPr/>
        </p:nvSpPr>
        <p:spPr>
          <a:xfrm>
            <a:off x="3218688" y="1918459"/>
            <a:ext cx="841248" cy="289283"/>
          </a:xfrm>
          <a:prstGeom prst="roundRect">
            <a:avLst>
              <a:gd name="adj" fmla="val 18966"/>
            </a:avLst>
          </a:prstGeom>
          <a:solidFill>
            <a:schemeClr val="accent3"/>
          </a:solidFill>
          <a:ln/>
        </p:spPr>
        <p:txBody>
          <a:bodyPr wrap="square" lIns="0" tIns="0" rIns="0" bIns="0" rtlCol="0" anchor="ctr"/>
          <a:lstStyle/>
          <a:p>
            <a:pPr algn="ctr" indent="0" marL="0">
              <a:buNone/>
            </a:pPr>
            <a:r>
              <a:rPr lang="en-US" sz="1000" b="1" dirty="0">
                <a:solidFill>
                  <a:schemeClr val="bg1"/>
                </a:solidFill>
              </a:rPr>
              <a:t>導入済</a:t>
            </a:r>
            <a:endParaRPr lang="en-US" sz="1000" dirty="0"/>
          </a:p>
        </p:txBody>
      </p:sp>
      <p:sp>
        <p:nvSpPr>
          <p:cNvPr id="13" name="Text 10"/>
          <p:cNvSpPr txBox="1"/>
          <p:nvPr/>
        </p:nvSpPr>
        <p:spPr>
          <a:xfrm>
            <a:off x="1389888" y="2290394"/>
            <a:ext cx="2651760" cy="774865"/>
          </a:xfrm>
          <a:prstGeom prst="rect">
            <a:avLst/>
          </a:prstGeom>
          <a:noFill/>
          <a:ln/>
        </p:spPr>
        <p:txBody>
          <a:bodyPr wrap="square" lIns="0" tIns="0" rIns="0" bIns="0" rtlCol="0" anchor="t"/>
          <a:lstStyle/>
          <a:p>
            <a:pPr indent="0" marL="0">
              <a:buNone/>
            </a:pPr>
            <a:r>
              <a:rPr lang="en-US" sz="1200" dirty="0">
                <a:solidFill>
                  <a:schemeClr val="tx1"/>
                </a:solidFill>
              </a:rPr>
              <a:t>Drive でファイル共有、カレンダーで一部スケジュール管理（同じ業務の担当者同士で実績記録）、スプレッドシートで提出物管理・郵便物処理記録</a:t>
            </a:r>
            <a:endParaRPr lang="en-US" sz="1200" dirty="0"/>
          </a:p>
        </p:txBody>
      </p:sp>
      <p:pic>
        <p:nvPicPr>
          <p:cNvPr id="14" name="Image 1" descr="sparkles">    </p:cNvPr>
          <p:cNvPicPr>
            <a:picLocks noChangeAspect="1"/>
          </p:cNvPicPr>
          <p:nvPr/>
        </p:nvPicPr>
        <p:blipFill>
          <a:blip r:embed="rId2"/>
          <a:stretch>
            <a:fillRect/>
          </a:stretch>
        </p:blipFill>
        <p:spPr>
          <a:xfrm>
            <a:off x="4623435" y="1938543"/>
            <a:ext cx="528066" cy="528066"/>
          </a:xfrm>
          <a:prstGeom prst="rect">
            <a:avLst/>
          </a:prstGeom>
        </p:spPr>
      </p:pic>
      <p:sp>
        <p:nvSpPr>
          <p:cNvPr id="15" name="Text 11"/>
          <p:cNvSpPr txBox="1"/>
          <p:nvPr/>
        </p:nvSpPr>
        <p:spPr>
          <a:xfrm>
            <a:off x="5276088" y="1897796"/>
            <a:ext cx="1737360" cy="330609"/>
          </a:xfrm>
          <a:prstGeom prst="rect">
            <a:avLst/>
          </a:prstGeom>
          <a:noFill/>
          <a:ln/>
        </p:spPr>
        <p:txBody>
          <a:bodyPr wrap="square" lIns="0" tIns="0" rIns="0" bIns="0" rtlCol="0" anchor="t"/>
          <a:lstStyle/>
          <a:p>
            <a:pPr indent="0" marL="0">
              <a:buNone/>
            </a:pPr>
            <a:r>
              <a:rPr lang="en-US" sz="1400" b="1" dirty="0">
                <a:solidFill>
                  <a:schemeClr val="tx2"/>
                </a:solidFill>
              </a:rPr>
              <a:t>Gemini</a:t>
            </a:r>
            <a:endParaRPr lang="en-US" sz="1400" dirty="0"/>
          </a:p>
        </p:txBody>
      </p:sp>
      <p:sp>
        <p:nvSpPr>
          <p:cNvPr id="16" name="Text 12"/>
          <p:cNvSpPr txBox="1"/>
          <p:nvPr/>
        </p:nvSpPr>
        <p:spPr>
          <a:xfrm>
            <a:off x="7104888" y="1918459"/>
            <a:ext cx="841248" cy="289283"/>
          </a:xfrm>
          <a:prstGeom prst="roundRect">
            <a:avLst>
              <a:gd name="adj" fmla="val 18966"/>
            </a:avLst>
          </a:prstGeom>
          <a:solidFill>
            <a:schemeClr val="accent2"/>
          </a:solidFill>
          <a:ln/>
        </p:spPr>
        <p:txBody>
          <a:bodyPr wrap="square" lIns="0" tIns="0" rIns="0" bIns="0" rtlCol="0" anchor="ctr"/>
          <a:lstStyle/>
          <a:p>
            <a:pPr algn="ctr" indent="0" marL="0">
              <a:buNone/>
            </a:pPr>
            <a:r>
              <a:rPr lang="en-US" sz="1000" b="1" dirty="0">
                <a:solidFill>
                  <a:schemeClr val="bg1"/>
                </a:solidFill>
              </a:rPr>
              <a:t>テスト導入中</a:t>
            </a:r>
            <a:endParaRPr lang="en-US" sz="1000" dirty="0"/>
          </a:p>
        </p:txBody>
      </p:sp>
      <p:sp>
        <p:nvSpPr>
          <p:cNvPr id="17" name="Text 13"/>
          <p:cNvSpPr txBox="1"/>
          <p:nvPr/>
        </p:nvSpPr>
        <p:spPr>
          <a:xfrm>
            <a:off x="5276088" y="2290394"/>
            <a:ext cx="2651760" cy="774865"/>
          </a:xfrm>
          <a:prstGeom prst="rect">
            <a:avLst/>
          </a:prstGeom>
          <a:noFill/>
          <a:ln/>
        </p:spPr>
        <p:txBody>
          <a:bodyPr wrap="square" lIns="0" tIns="0" rIns="0" bIns="0" rtlCol="0" anchor="t"/>
          <a:lstStyle/>
          <a:p>
            <a:pPr indent="0" marL="0">
              <a:buNone/>
            </a:pPr>
            <a:r>
              <a:rPr lang="en-US" sz="1200" dirty="0">
                <a:solidFill>
                  <a:schemeClr val="tx1"/>
                </a:solidFill>
              </a:rPr>
              <a:t>担当部署8名で試行。資料作成で大幅な時間削減を実感</a:t>
            </a:r>
            <a:endParaRPr lang="en-US" sz="1200" dirty="0"/>
          </a:p>
        </p:txBody>
      </p:sp>
      <p:pic>
        <p:nvPicPr>
          <p:cNvPr id="18" name="Image 2" descr="package">    </p:cNvPr>
          <p:cNvPicPr>
            <a:picLocks noChangeAspect="1"/>
          </p:cNvPicPr>
          <p:nvPr/>
        </p:nvPicPr>
        <p:blipFill>
          <a:blip r:embed="rId3"/>
          <a:stretch>
            <a:fillRect/>
          </a:stretch>
        </p:blipFill>
        <p:spPr>
          <a:xfrm>
            <a:off x="737235" y="3570925"/>
            <a:ext cx="528066" cy="528066"/>
          </a:xfrm>
          <a:prstGeom prst="rect">
            <a:avLst/>
          </a:prstGeom>
        </p:spPr>
      </p:pic>
      <p:sp>
        <p:nvSpPr>
          <p:cNvPr id="19" name="Text 14"/>
          <p:cNvSpPr txBox="1"/>
          <p:nvPr/>
        </p:nvSpPr>
        <p:spPr>
          <a:xfrm>
            <a:off x="1389888" y="3530178"/>
            <a:ext cx="1737360" cy="330609"/>
          </a:xfrm>
          <a:prstGeom prst="rect">
            <a:avLst/>
          </a:prstGeom>
          <a:noFill/>
          <a:ln/>
        </p:spPr>
        <p:txBody>
          <a:bodyPr wrap="square" lIns="0" tIns="0" rIns="0" bIns="0" rtlCol="0" anchor="t"/>
          <a:lstStyle/>
          <a:p>
            <a:pPr indent="0" marL="0">
              <a:buNone/>
            </a:pPr>
            <a:r>
              <a:rPr lang="en-US" sz="1400" b="1" dirty="0">
                <a:solidFill>
                  <a:schemeClr val="tx2"/>
                </a:solidFill>
              </a:rPr>
              <a:t>Dropbox</a:t>
            </a:r>
            <a:endParaRPr lang="en-US" sz="1400" dirty="0"/>
          </a:p>
        </p:txBody>
      </p:sp>
      <p:sp>
        <p:nvSpPr>
          <p:cNvPr id="20" name="Text 15"/>
          <p:cNvSpPr txBox="1"/>
          <p:nvPr/>
        </p:nvSpPr>
        <p:spPr>
          <a:xfrm>
            <a:off x="3218688" y="3550841"/>
            <a:ext cx="841248" cy="289283"/>
          </a:xfrm>
          <a:prstGeom prst="roundRect">
            <a:avLst>
              <a:gd name="adj" fmla="val 18966"/>
            </a:avLst>
          </a:prstGeom>
          <a:solidFill>
            <a:schemeClr val="accent5"/>
          </a:solidFill>
          <a:ln/>
        </p:spPr>
        <p:txBody>
          <a:bodyPr wrap="square" lIns="0" tIns="0" rIns="0" bIns="0" rtlCol="0" anchor="ctr"/>
          <a:lstStyle/>
          <a:p>
            <a:pPr algn="ctr" indent="0" marL="0">
              <a:buNone/>
            </a:pPr>
            <a:r>
              <a:rPr lang="en-US" sz="1000" b="1" dirty="0">
                <a:solidFill>
                  <a:schemeClr val="bg1"/>
                </a:solidFill>
              </a:rPr>
              <a:t>移行対象</a:t>
            </a:r>
            <a:endParaRPr lang="en-US" sz="1000" dirty="0"/>
          </a:p>
        </p:txBody>
      </p:sp>
      <p:sp>
        <p:nvSpPr>
          <p:cNvPr id="21" name="Text 16"/>
          <p:cNvSpPr txBox="1"/>
          <p:nvPr/>
        </p:nvSpPr>
        <p:spPr>
          <a:xfrm>
            <a:off x="1389888" y="3922776"/>
            <a:ext cx="2651760" cy="774865"/>
          </a:xfrm>
          <a:prstGeom prst="rect">
            <a:avLst/>
          </a:prstGeom>
          <a:noFill/>
          <a:ln/>
        </p:spPr>
        <p:txBody>
          <a:bodyPr wrap="square" lIns="0" tIns="0" rIns="0" bIns="0" rtlCol="0" anchor="t"/>
          <a:lstStyle/>
          <a:p>
            <a:pPr indent="0" marL="0">
              <a:buNone/>
            </a:pPr>
            <a:r>
              <a:rPr lang="en-US" sz="1200" dirty="0">
                <a:solidFill>
                  <a:schemeClr val="tx1"/>
                </a:solidFill>
              </a:rPr>
              <a:t>現行のデータ保管先。Google Driveへの早期切替を希望</a:t>
            </a:r>
            <a:endParaRPr lang="en-US" sz="1200" dirty="0"/>
          </a:p>
        </p:txBody>
      </p:sp>
      <p:pic>
        <p:nvPicPr>
          <p:cNvPr id="22" name="Image 3" descr="page-facing-up">    </p:cNvPr>
          <p:cNvPicPr>
            <a:picLocks noChangeAspect="1"/>
          </p:cNvPicPr>
          <p:nvPr/>
        </p:nvPicPr>
        <p:blipFill>
          <a:blip r:embed="rId4"/>
          <a:stretch>
            <a:fillRect/>
          </a:stretch>
        </p:blipFill>
        <p:spPr>
          <a:xfrm>
            <a:off x="4623435" y="3570925"/>
            <a:ext cx="528066" cy="528066"/>
          </a:xfrm>
          <a:prstGeom prst="rect">
            <a:avLst/>
          </a:prstGeom>
        </p:spPr>
      </p:pic>
      <p:sp>
        <p:nvSpPr>
          <p:cNvPr id="23" name="Text 17"/>
          <p:cNvSpPr txBox="1"/>
          <p:nvPr/>
        </p:nvSpPr>
        <p:spPr>
          <a:xfrm>
            <a:off x="5276088" y="3530178"/>
            <a:ext cx="1737360" cy="330609"/>
          </a:xfrm>
          <a:prstGeom prst="rect">
            <a:avLst/>
          </a:prstGeom>
          <a:noFill/>
          <a:ln/>
        </p:spPr>
        <p:txBody>
          <a:bodyPr wrap="square" lIns="0" tIns="0" rIns="0" bIns="0" rtlCol="0" anchor="t"/>
          <a:lstStyle/>
          <a:p>
            <a:pPr indent="0" marL="0">
              <a:buNone/>
            </a:pPr>
            <a:r>
              <a:rPr lang="en-US" sz="1400" b="1" dirty="0">
                <a:solidFill>
                  <a:schemeClr val="tx2"/>
                </a:solidFill>
              </a:rPr>
              <a:t>Office 2024</a:t>
            </a:r>
            <a:endParaRPr lang="en-US" sz="1400" dirty="0"/>
          </a:p>
        </p:txBody>
      </p:sp>
      <p:sp>
        <p:nvSpPr>
          <p:cNvPr id="24" name="Text 18"/>
          <p:cNvSpPr txBox="1"/>
          <p:nvPr/>
        </p:nvSpPr>
        <p:spPr>
          <a:xfrm>
            <a:off x="7104888" y="3550841"/>
            <a:ext cx="841248" cy="289283"/>
          </a:xfrm>
          <a:prstGeom prst="roundRect">
            <a:avLst>
              <a:gd name="adj" fmla="val 18966"/>
            </a:avLst>
          </a:prstGeom>
          <a:solidFill>
            <a:schemeClr val="accent6"/>
          </a:solidFill>
          <a:ln/>
        </p:spPr>
        <p:txBody>
          <a:bodyPr wrap="square" lIns="0" tIns="0" rIns="0" bIns="0" rtlCol="0" anchor="ctr"/>
          <a:lstStyle/>
          <a:p>
            <a:pPr algn="ctr" indent="0" marL="0">
              <a:buNone/>
            </a:pPr>
            <a:r>
              <a:rPr lang="en-US" sz="1000" b="1" dirty="0">
                <a:solidFill>
                  <a:schemeClr val="bg1"/>
                </a:solidFill>
              </a:rPr>
              <a:t>併用</a:t>
            </a:r>
            <a:endParaRPr lang="en-US" sz="1000" dirty="0"/>
          </a:p>
        </p:txBody>
      </p:sp>
      <p:sp>
        <p:nvSpPr>
          <p:cNvPr id="25" name="Text 19"/>
          <p:cNvSpPr txBox="1"/>
          <p:nvPr/>
        </p:nvSpPr>
        <p:spPr>
          <a:xfrm>
            <a:off x="5276088" y="3922776"/>
            <a:ext cx="2651760" cy="774865"/>
          </a:xfrm>
          <a:prstGeom prst="rect">
            <a:avLst/>
          </a:prstGeom>
          <a:noFill/>
          <a:ln/>
        </p:spPr>
        <p:txBody>
          <a:bodyPr wrap="square" lIns="0" tIns="0" rIns="0" bIns="0" rtlCol="0" anchor="t"/>
          <a:lstStyle/>
          <a:p>
            <a:pPr indent="0" marL="0">
              <a:buNone/>
            </a:pPr>
            <a:r>
              <a:rPr lang="en-US" sz="1200" dirty="0">
                <a:solidFill>
                  <a:schemeClr val="tx1"/>
                </a:solidFill>
              </a:rPr>
              <a:t>Microsoft Office 2024（買い切り版）。Excel／Word資料との併用ルールが必要</a:t>
            </a:r>
            <a:endParaRPr lang="en-US" sz="1200" dirty="0"/>
          </a:p>
        </p:txBody>
      </p:sp>
      <p:pic>
        <p:nvPicPr>
          <p:cNvPr id="26" name="Image 4" descr="envelope">    </p:cNvPr>
          <p:cNvPicPr>
            <a:picLocks noChangeAspect="1"/>
          </p:cNvPicPr>
          <p:nvPr/>
        </p:nvPicPr>
        <p:blipFill>
          <a:blip r:embed="rId5"/>
          <a:stretch>
            <a:fillRect/>
          </a:stretch>
        </p:blipFill>
        <p:spPr>
          <a:xfrm>
            <a:off x="737235" y="5203307"/>
            <a:ext cx="528066" cy="528066"/>
          </a:xfrm>
          <a:prstGeom prst="rect">
            <a:avLst/>
          </a:prstGeom>
        </p:spPr>
      </p:pic>
      <p:sp>
        <p:nvSpPr>
          <p:cNvPr id="27" name="Text 20"/>
          <p:cNvSpPr txBox="1"/>
          <p:nvPr/>
        </p:nvSpPr>
        <p:spPr>
          <a:xfrm>
            <a:off x="1389888" y="5162560"/>
            <a:ext cx="5623560" cy="330609"/>
          </a:xfrm>
          <a:prstGeom prst="rect">
            <a:avLst/>
          </a:prstGeom>
          <a:noFill/>
          <a:ln/>
        </p:spPr>
        <p:txBody>
          <a:bodyPr wrap="square" lIns="0" tIns="0" rIns="0" bIns="0" rtlCol="0" anchor="t"/>
          <a:lstStyle/>
          <a:p>
            <a:pPr indent="0" marL="0">
              <a:buNone/>
            </a:pPr>
            <a:r>
              <a:rPr lang="en-US" sz="1400" b="1" dirty="0">
                <a:solidFill>
                  <a:schemeClr val="tx2"/>
                </a:solidFill>
              </a:rPr>
              <a:t>Gmail（無料版）</a:t>
            </a:r>
            <a:endParaRPr lang="en-US" sz="1400" dirty="0"/>
          </a:p>
        </p:txBody>
      </p:sp>
      <p:sp>
        <p:nvSpPr>
          <p:cNvPr id="28" name="Text 21"/>
          <p:cNvSpPr txBox="1"/>
          <p:nvPr/>
        </p:nvSpPr>
        <p:spPr>
          <a:xfrm>
            <a:off x="7104888" y="5183223"/>
            <a:ext cx="841248" cy="289283"/>
          </a:xfrm>
          <a:prstGeom prst="roundRect">
            <a:avLst>
              <a:gd name="adj" fmla="val 18966"/>
            </a:avLst>
          </a:prstGeom>
          <a:solidFill>
            <a:schemeClr val="accent5"/>
          </a:solidFill>
          <a:ln/>
        </p:spPr>
        <p:txBody>
          <a:bodyPr wrap="square" lIns="0" tIns="0" rIns="0" bIns="0" rtlCol="0" anchor="ctr"/>
          <a:lstStyle/>
          <a:p>
            <a:pPr algn="ctr" indent="0" marL="0">
              <a:buNone/>
            </a:pPr>
            <a:r>
              <a:rPr lang="en-US" sz="1000" b="1" dirty="0">
                <a:solidFill>
                  <a:schemeClr val="bg1"/>
                </a:solidFill>
              </a:rPr>
              <a:t>要整理</a:t>
            </a:r>
            <a:endParaRPr lang="en-US" sz="1000" dirty="0"/>
          </a:p>
        </p:txBody>
      </p:sp>
      <p:sp>
        <p:nvSpPr>
          <p:cNvPr id="29" name="Text 22"/>
          <p:cNvSpPr txBox="1"/>
          <p:nvPr/>
        </p:nvSpPr>
        <p:spPr>
          <a:xfrm>
            <a:off x="1389888" y="5555158"/>
            <a:ext cx="6537960" cy="774865"/>
          </a:xfrm>
          <a:prstGeom prst="rect">
            <a:avLst/>
          </a:prstGeom>
          <a:noFill/>
          <a:ln/>
        </p:spPr>
        <p:txBody>
          <a:bodyPr wrap="square" lIns="0" tIns="0" rIns="0" bIns="0" rtlCol="0" anchor="t"/>
          <a:lstStyle/>
          <a:p>
            <a:pPr indent="0" marL="0">
              <a:buNone/>
            </a:pPr>
            <a:r>
              <a:rPr lang="en-US" sz="1200" dirty="0">
                <a:solidFill>
                  <a:schemeClr val="tx1"/>
                </a:solidFill>
              </a:rPr>
              <a:t>一部業務で利用中。組織の管理外で、無料版の AI は入力内容が学習等に使われ得るため、Workspace への集約を推奨。なお、現行システムのサーバーはクラウド</a:t>
            </a:r>
            <a:endParaRPr lang="en-US" sz="1200" dirty="0"/>
          </a:p>
        </p:txBody>
      </p:sp>
      <p:sp>
        <p:nvSpPr>
          <p:cNvPr id="30" name="Shape 23"/>
          <p:cNvSpPr/>
          <p:nvPr/>
        </p:nvSpPr>
        <p:spPr>
          <a:xfrm>
            <a:off x="8412480" y="1691165"/>
            <a:ext cx="3230575" cy="4504548"/>
          </a:xfrm>
          <a:prstGeom prst="roundRect">
            <a:avLst>
              <a:gd name="adj" fmla="val 3397"/>
            </a:avLst>
          </a:prstGeom>
          <a:solidFill>
            <a:schemeClr val="bg2"/>
          </a:solidFill>
          <a:ln/>
        </p:spPr>
      </p:sp>
      <p:sp>
        <p:nvSpPr>
          <p:cNvPr id="31" name="Text 24"/>
          <p:cNvSpPr txBox="1"/>
          <p:nvPr/>
        </p:nvSpPr>
        <p:spPr>
          <a:xfrm>
            <a:off x="8686800" y="1949453"/>
            <a:ext cx="2681935" cy="361604"/>
          </a:xfrm>
          <a:prstGeom prst="rect">
            <a:avLst/>
          </a:prstGeom>
          <a:noFill/>
          <a:ln/>
        </p:spPr>
        <p:txBody>
          <a:bodyPr wrap="square" lIns="0" tIns="0" rIns="0" bIns="0" rtlCol="0" anchor="t"/>
          <a:lstStyle/>
          <a:p>
            <a:pPr indent="0" marL="0">
              <a:buNone/>
            </a:pPr>
            <a:r>
              <a:rPr lang="en-US" sz="1500" b="1" dirty="0">
                <a:solidFill>
                  <a:schemeClr val="accent1"/>
                </a:solidFill>
              </a:rPr>
              <a:t>すでにある「成功体験」</a:t>
            </a:r>
            <a:endParaRPr lang="en-US" sz="1500" dirty="0"/>
          </a:p>
        </p:txBody>
      </p:sp>
      <p:sp>
        <p:nvSpPr>
          <p:cNvPr id="32" name="Text 25"/>
          <p:cNvSpPr txBox="1"/>
          <p:nvPr/>
        </p:nvSpPr>
        <p:spPr>
          <a:xfrm>
            <a:off x="8686800" y="2414372"/>
            <a:ext cx="2681935" cy="1343099"/>
          </a:xfrm>
          <a:prstGeom prst="rect">
            <a:avLst/>
          </a:prstGeom>
          <a:noFill/>
          <a:ln/>
        </p:spPr>
        <p:txBody>
          <a:bodyPr wrap="square" lIns="0" tIns="0" rIns="0" bIns="0" rtlCol="0" anchor="t"/>
          <a:lstStyle/>
          <a:p>
            <a:pPr indent="0" marL="0">
              <a:buNone/>
            </a:pPr>
            <a:r>
              <a:rPr lang="en-US" sz="1500" dirty="0">
                <a:solidFill>
                  <a:schemeClr val="tx2"/>
                </a:solidFill>
              </a:rPr>
              <a:t>「資料作成でAIを活用した際、数分で高クオリティな成果物が完成し、大幅な時間削減を実感」</a:t>
            </a:r>
            <a:endParaRPr lang="en-US" sz="1500" dirty="0"/>
          </a:p>
        </p:txBody>
      </p:sp>
      <p:sp>
        <p:nvSpPr>
          <p:cNvPr id="33" name="Text 26"/>
          <p:cNvSpPr txBox="1"/>
          <p:nvPr/>
        </p:nvSpPr>
        <p:spPr>
          <a:xfrm>
            <a:off x="8686800" y="3912444"/>
            <a:ext cx="2681935" cy="1239784"/>
          </a:xfrm>
          <a:prstGeom prst="rect">
            <a:avLst/>
          </a:prstGeom>
          <a:noFill/>
          <a:ln/>
        </p:spPr>
        <p:txBody>
          <a:bodyPr wrap="square" lIns="0" tIns="0" rIns="0" bIns="0" rtlCol="0" anchor="t"/>
          <a:lstStyle/>
          <a:p>
            <a:pPr indent="0" marL="0">
              <a:buNone/>
            </a:pPr>
            <a:r>
              <a:rPr lang="en-US" sz="1300" dirty="0">
                <a:solidFill>
                  <a:schemeClr val="tx1"/>
                </a:solidFill>
              </a:rPr>
              <a:t>テスト導入  </a:t>
            </a:r>
            <a:pPr indent="0" marL="0">
              <a:buNone/>
            </a:pPr>
            <a:r>
              <a:rPr lang="en-US" sz="2400" b="1" dirty="0">
                <a:solidFill>
                  <a:schemeClr val="tx1"/>
                </a:solidFill>
              </a:rPr>
              <a:t>8名</a:t>
            </a:r>
            <a:endParaRPr lang="en-US" sz="1400" dirty="0"/>
          </a:p>
          <a:p>
            <a:pPr indent="0" marL="0">
              <a:buNone/>
            </a:pPr>
            <a:r>
              <a:rPr lang="en-US" sz="1300" dirty="0">
                <a:solidFill>
                  <a:schemeClr val="tx1"/>
                </a:solidFill>
              </a:rPr>
              <a:t>展開予定  </a:t>
            </a:r>
            <a:pPr indent="0" marL="0">
              <a:buNone/>
            </a:pPr>
            <a:r>
              <a:rPr lang="en-US" sz="2400" b="1" dirty="0">
                <a:solidFill>
                  <a:schemeClr val="accent1"/>
                </a:solidFill>
              </a:rPr>
              <a:t>50〜70名</a:t>
            </a:r>
            <a:endParaRPr lang="en-US" sz="1400" dirty="0"/>
          </a:p>
        </p:txBody>
      </p:sp>
      <p:sp>
        <p:nvSpPr>
          <p:cNvPr id="34" name="Text 27"/>
          <p:cNvSpPr txBox="1"/>
          <p:nvPr/>
        </p:nvSpPr>
        <p:spPr>
          <a:xfrm>
            <a:off x="8686800" y="5410517"/>
            <a:ext cx="2681935" cy="516577"/>
          </a:xfrm>
          <a:prstGeom prst="rect">
            <a:avLst/>
          </a:prstGeom>
          <a:noFill/>
          <a:ln/>
        </p:spPr>
        <p:txBody>
          <a:bodyPr wrap="square" lIns="0" tIns="0" rIns="0" bIns="0" rtlCol="0" anchor="t"/>
          <a:lstStyle/>
          <a:p>
            <a:pPr indent="0" marL="0">
              <a:buNone/>
            </a:pPr>
            <a:r>
              <a:rPr lang="en-US" sz="1400" b="1" dirty="0">
                <a:solidFill>
                  <a:schemeClr val="tx1"/>
                </a:solidFill>
              </a:rPr>
              <a:t>この体験を、管理部門・管理職の「当たり前」に</a:t>
            </a:r>
            <a:endParaRPr lang="en-US" sz="14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課題は3つのテーマに集約されます</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背景要因は「ルール」「活用シーン」「展開体制」の未整備にあり、テーマごとに打ち手を定めます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01｜現状のご理解</a:t>
            </a:r>
            <a:endParaRPr lang="en-US" sz="900" dirty="0"/>
          </a:p>
        </p:txBody>
      </p:sp>
      <p:sp>
        <p:nvSpPr>
          <p:cNvPr id="5" name="Text 3"/>
          <p:cNvSpPr txBox="1"/>
          <p:nvPr/>
        </p:nvSpPr>
        <p:spPr>
          <a:xfrm>
            <a:off x="548640" y="1536192"/>
            <a:ext cx="2240280" cy="309946"/>
          </a:xfrm>
          <a:prstGeom prst="rect">
            <a:avLst/>
          </a:prstGeom>
          <a:noFill/>
          <a:ln/>
        </p:spPr>
        <p:txBody>
          <a:bodyPr wrap="square" lIns="0" tIns="0" rIns="0" bIns="0" rtlCol="0" anchor="t"/>
          <a:lstStyle/>
          <a:p>
            <a:pPr indent="0" marL="0">
              <a:buNone/>
            </a:pPr>
            <a:r>
              <a:rPr lang="en-US" sz="1200" b="1" dirty="0">
                <a:solidFill>
                  <a:schemeClr val="accent6"/>
                </a:solidFill>
              </a:rPr>
              <a:t>テーマ</a:t>
            </a:r>
            <a:endParaRPr lang="en-US" sz="1200" dirty="0"/>
          </a:p>
        </p:txBody>
      </p:sp>
      <p:sp>
        <p:nvSpPr>
          <p:cNvPr id="6" name="Text 4"/>
          <p:cNvSpPr txBox="1"/>
          <p:nvPr/>
        </p:nvSpPr>
        <p:spPr>
          <a:xfrm>
            <a:off x="2926080" y="1536192"/>
            <a:ext cx="3703320" cy="309946"/>
          </a:xfrm>
          <a:prstGeom prst="rect">
            <a:avLst/>
          </a:prstGeom>
          <a:noFill/>
          <a:ln/>
        </p:spPr>
        <p:txBody>
          <a:bodyPr wrap="square" lIns="0" tIns="0" rIns="0" bIns="0" rtlCol="0" anchor="t"/>
          <a:lstStyle/>
          <a:p>
            <a:pPr indent="0" marL="0">
              <a:buNone/>
            </a:pPr>
            <a:r>
              <a:rPr lang="en-US" sz="1200" b="1" dirty="0">
                <a:solidFill>
                  <a:schemeClr val="accent6"/>
                </a:solidFill>
              </a:rPr>
              <a:t>現在の課題（いただいた情報）</a:t>
            </a:r>
            <a:endParaRPr lang="en-US" sz="1200" dirty="0"/>
          </a:p>
        </p:txBody>
      </p:sp>
      <p:sp>
        <p:nvSpPr>
          <p:cNvPr id="7" name="Text 5"/>
          <p:cNvSpPr txBox="1"/>
          <p:nvPr/>
        </p:nvSpPr>
        <p:spPr>
          <a:xfrm>
            <a:off x="6766560" y="1536192"/>
            <a:ext cx="2240280" cy="309946"/>
          </a:xfrm>
          <a:prstGeom prst="rect">
            <a:avLst/>
          </a:prstGeom>
          <a:noFill/>
          <a:ln/>
        </p:spPr>
        <p:txBody>
          <a:bodyPr wrap="square" lIns="0" tIns="0" rIns="0" bIns="0" rtlCol="0" anchor="t"/>
          <a:lstStyle/>
          <a:p>
            <a:pPr indent="0" marL="0">
              <a:buNone/>
            </a:pPr>
            <a:r>
              <a:rPr lang="en-US" sz="1200" b="1" dirty="0">
                <a:solidFill>
                  <a:schemeClr val="accent6"/>
                </a:solidFill>
              </a:rPr>
              <a:t>背景にある要因</a:t>
            </a:r>
            <a:endParaRPr lang="en-US" sz="1200" dirty="0"/>
          </a:p>
        </p:txBody>
      </p:sp>
      <p:sp>
        <p:nvSpPr>
          <p:cNvPr id="8" name="Text 6"/>
          <p:cNvSpPr txBox="1"/>
          <p:nvPr/>
        </p:nvSpPr>
        <p:spPr>
          <a:xfrm>
            <a:off x="9372600" y="1536192"/>
            <a:ext cx="2270455" cy="309946"/>
          </a:xfrm>
          <a:prstGeom prst="rect">
            <a:avLst/>
          </a:prstGeom>
          <a:noFill/>
          <a:ln/>
        </p:spPr>
        <p:txBody>
          <a:bodyPr wrap="square" lIns="0" tIns="0" rIns="0" bIns="0" rtlCol="0" anchor="t"/>
          <a:lstStyle/>
          <a:p>
            <a:pPr indent="0" marL="0">
              <a:buNone/>
            </a:pPr>
            <a:r>
              <a:rPr lang="en-US" sz="1200" b="1" dirty="0">
                <a:solidFill>
                  <a:schemeClr val="accent6"/>
                </a:solidFill>
              </a:rPr>
              <a:t>打ち手の方向性</a:t>
            </a:r>
            <a:endParaRPr lang="en-US" sz="1200" dirty="0"/>
          </a:p>
        </p:txBody>
      </p:sp>
      <p:sp>
        <p:nvSpPr>
          <p:cNvPr id="9" name="Shape 7"/>
          <p:cNvSpPr/>
          <p:nvPr/>
        </p:nvSpPr>
        <p:spPr>
          <a:xfrm>
            <a:off x="548640" y="1928790"/>
            <a:ext cx="11094415" cy="1343099"/>
          </a:xfrm>
          <a:prstGeom prst="roundRect">
            <a:avLst>
              <a:gd name="adj" fmla="val 6808"/>
            </a:avLst>
          </a:prstGeom>
          <a:solidFill>
            <a:schemeClr val="bg1"/>
          </a:solidFill>
          <a:ln w="9525">
            <a:solidFill>
              <a:srgbClr val="E2E1EE"/>
            </a:solidFill>
            <a:prstDash val="solid"/>
          </a:ln>
        </p:spPr>
      </p:sp>
      <p:pic>
        <p:nvPicPr>
          <p:cNvPr id="10" name="Image 0" descr="shield">    </p:cNvPr>
          <p:cNvPicPr>
            <a:picLocks noChangeAspect="1"/>
          </p:cNvPicPr>
          <p:nvPr/>
        </p:nvPicPr>
        <p:blipFill>
          <a:blip r:embed="rId1"/>
          <a:stretch>
            <a:fillRect/>
          </a:stretch>
        </p:blipFill>
        <p:spPr>
          <a:xfrm>
            <a:off x="699059" y="2292371"/>
            <a:ext cx="595274" cy="595274"/>
          </a:xfrm>
          <a:prstGeom prst="rect">
            <a:avLst/>
          </a:prstGeom>
        </p:spPr>
      </p:pic>
      <p:sp>
        <p:nvSpPr>
          <p:cNvPr id="11" name="Text 8"/>
          <p:cNvSpPr txBox="1"/>
          <p:nvPr/>
        </p:nvSpPr>
        <p:spPr>
          <a:xfrm>
            <a:off x="1417320" y="2187079"/>
            <a:ext cx="1417320" cy="826523"/>
          </a:xfrm>
          <a:prstGeom prst="rect">
            <a:avLst/>
          </a:prstGeom>
          <a:noFill/>
          <a:ln/>
        </p:spPr>
        <p:txBody>
          <a:bodyPr wrap="square" lIns="0" tIns="0" rIns="0" bIns="0" rtlCol="0" anchor="ctr"/>
          <a:lstStyle/>
          <a:p>
            <a:pPr indent="0" marL="0">
              <a:buNone/>
            </a:pPr>
            <a:r>
              <a:rPr lang="en-US" sz="1400" b="1" dirty="0">
                <a:solidFill>
                  <a:schemeClr val="tx2"/>
                </a:solidFill>
              </a:rPr>
              <a:t>A. データ管理・</a:t>
            </a:r>
            <a:endParaRPr lang="en-US" sz="1400" dirty="0"/>
          </a:p>
          <a:p>
            <a:pPr indent="0" marL="0">
              <a:buNone/>
            </a:pPr>
            <a:r>
              <a:rPr lang="en-US" sz="1400" b="1" dirty="0">
                <a:solidFill>
                  <a:schemeClr val="tx2"/>
                </a:solidFill>
              </a:rPr>
              <a:t>セキュリティ</a:t>
            </a:r>
            <a:endParaRPr lang="en-US" sz="1400" dirty="0"/>
          </a:p>
        </p:txBody>
      </p:sp>
      <p:sp>
        <p:nvSpPr>
          <p:cNvPr id="12" name="Text 9"/>
          <p:cNvSpPr txBox="1"/>
          <p:nvPr/>
        </p:nvSpPr>
        <p:spPr>
          <a:xfrm>
            <a:off x="2926080" y="2104426"/>
            <a:ext cx="3703320" cy="1033153"/>
          </a:xfrm>
          <a:prstGeom prst="rect">
            <a:avLst/>
          </a:prstGeom>
          <a:noFill/>
          <a:ln/>
        </p:spPr>
        <p:txBody>
          <a:bodyPr wrap="square" lIns="0" tIns="0" rIns="0" bIns="0" rtlCol="0" anchor="ctr"/>
          <a:lstStyle/>
          <a:p>
            <a:pPr marL="177800" indent="-177800">
              <a:spcAft>
                <a:spcPts val="400"/>
              </a:spcAft>
              <a:buSzPct val="100000"/>
              <a:buChar char="•"/>
            </a:pPr>
            <a:r>
              <a:rPr lang="en-US" sz="1200" dirty="0">
                <a:solidFill>
                  <a:schemeClr val="tx1"/>
                </a:solidFill>
              </a:rPr>
              <a:t>Drive のリンク共有で、ロックをかけても一度リンクを開いた人が閲覧できてしまう</a:t>
            </a:r>
            <a:endParaRPr lang="en-US" sz="1200" dirty="0"/>
          </a:p>
          <a:p>
            <a:pPr marL="177800" indent="-177800">
              <a:spcAft>
                <a:spcPts val="400"/>
              </a:spcAft>
              <a:buSzPct val="100000"/>
              <a:buChar char="•"/>
            </a:pPr>
            <a:r>
              <a:rPr lang="en-US" sz="1200" dirty="0">
                <a:solidFill>
                  <a:schemeClr val="tx1"/>
                </a:solidFill>
              </a:rPr>
              <a:t>個人情報を含むデータの移行に不安があり、Dropbox切替が進まない</a:t>
            </a:r>
            <a:endParaRPr lang="en-US" sz="1200" dirty="0"/>
          </a:p>
        </p:txBody>
      </p:sp>
      <p:sp>
        <p:nvSpPr>
          <p:cNvPr id="13" name="Text 10"/>
          <p:cNvSpPr txBox="1"/>
          <p:nvPr/>
        </p:nvSpPr>
        <p:spPr>
          <a:xfrm>
            <a:off x="6766560" y="2104426"/>
            <a:ext cx="2240280" cy="1033153"/>
          </a:xfrm>
          <a:prstGeom prst="rect">
            <a:avLst/>
          </a:prstGeom>
          <a:noFill/>
          <a:ln/>
        </p:spPr>
        <p:txBody>
          <a:bodyPr wrap="square" lIns="0" tIns="0" rIns="0" bIns="0" rtlCol="0" anchor="ctr"/>
          <a:lstStyle/>
          <a:p>
            <a:pPr indent="0" marL="0">
              <a:buNone/>
            </a:pPr>
            <a:r>
              <a:rPr lang="en-US" sz="1200" dirty="0">
                <a:solidFill>
                  <a:schemeClr val="tx1"/>
                </a:solidFill>
              </a:rPr>
              <a:t>共有範囲・権限の設計と、情報の区分ルールが未整備</a:t>
            </a:r>
            <a:endParaRPr lang="en-US" sz="1200" dirty="0"/>
          </a:p>
        </p:txBody>
      </p:sp>
      <p:sp>
        <p:nvSpPr>
          <p:cNvPr id="14" name="Shape 11"/>
          <p:cNvSpPr/>
          <p:nvPr/>
        </p:nvSpPr>
        <p:spPr>
          <a:xfrm>
            <a:off x="9079992" y="2424704"/>
            <a:ext cx="219456" cy="351272"/>
          </a:xfrm>
          <a:prstGeom prst="rightArrow">
            <a:avLst/>
          </a:prstGeom>
          <a:solidFill>
            <a:schemeClr val="accent1"/>
          </a:solidFill>
          <a:ln/>
        </p:spPr>
      </p:sp>
      <p:sp>
        <p:nvSpPr>
          <p:cNvPr id="15" name="Shape 12"/>
          <p:cNvSpPr/>
          <p:nvPr/>
        </p:nvSpPr>
        <p:spPr>
          <a:xfrm>
            <a:off x="9372600" y="2052769"/>
            <a:ext cx="2160727" cy="1095142"/>
          </a:xfrm>
          <a:prstGeom prst="roundRect">
            <a:avLst>
              <a:gd name="adj" fmla="val 6680"/>
            </a:avLst>
          </a:prstGeom>
          <a:solidFill>
            <a:schemeClr val="accent1">
              <a:alpha val="12000"/>
            </a:schemeClr>
          </a:solidFill>
          <a:ln/>
        </p:spPr>
      </p:sp>
      <p:sp>
        <p:nvSpPr>
          <p:cNvPr id="16" name="Text 13"/>
          <p:cNvSpPr txBox="1"/>
          <p:nvPr/>
        </p:nvSpPr>
        <p:spPr>
          <a:xfrm>
            <a:off x="9482328" y="2104426"/>
            <a:ext cx="1996135" cy="991827"/>
          </a:xfrm>
          <a:prstGeom prst="rect">
            <a:avLst/>
          </a:prstGeom>
          <a:noFill/>
          <a:ln/>
        </p:spPr>
        <p:txBody>
          <a:bodyPr wrap="square" lIns="0" tIns="0" rIns="0" bIns="0" rtlCol="0" anchor="ctr"/>
          <a:lstStyle/>
          <a:p>
            <a:pPr indent="0" marL="0">
              <a:buNone/>
            </a:pPr>
            <a:r>
              <a:rPr lang="en-US" sz="1200" b="1" dirty="0">
                <a:solidFill>
                  <a:schemeClr val="tx2"/>
                </a:solidFill>
              </a:rPr>
              <a:t>管理者設定と共有ドライブで「仕組みで守る」状態にしてから移行</a:t>
            </a:r>
            <a:endParaRPr lang="en-US" sz="1200" dirty="0"/>
          </a:p>
        </p:txBody>
      </p:sp>
      <p:sp>
        <p:nvSpPr>
          <p:cNvPr id="17" name="Shape 14"/>
          <p:cNvSpPr/>
          <p:nvPr/>
        </p:nvSpPr>
        <p:spPr>
          <a:xfrm>
            <a:off x="548640" y="3395868"/>
            <a:ext cx="11094415" cy="1343099"/>
          </a:xfrm>
          <a:prstGeom prst="roundRect">
            <a:avLst>
              <a:gd name="adj" fmla="val 6808"/>
            </a:avLst>
          </a:prstGeom>
          <a:solidFill>
            <a:schemeClr val="bg1"/>
          </a:solidFill>
          <a:ln w="9525">
            <a:solidFill>
              <a:srgbClr val="E2E1EE"/>
            </a:solidFill>
            <a:prstDash val="solid"/>
          </a:ln>
        </p:spPr>
      </p:sp>
      <p:pic>
        <p:nvPicPr>
          <p:cNvPr id="18" name="Image 1" descr="sparkles">    </p:cNvPr>
          <p:cNvPicPr>
            <a:picLocks noChangeAspect="1"/>
          </p:cNvPicPr>
          <p:nvPr/>
        </p:nvPicPr>
        <p:blipFill>
          <a:blip r:embed="rId2"/>
          <a:stretch>
            <a:fillRect/>
          </a:stretch>
        </p:blipFill>
        <p:spPr>
          <a:xfrm>
            <a:off x="699059" y="3759449"/>
            <a:ext cx="595274" cy="595274"/>
          </a:xfrm>
          <a:prstGeom prst="rect">
            <a:avLst/>
          </a:prstGeom>
        </p:spPr>
      </p:pic>
      <p:sp>
        <p:nvSpPr>
          <p:cNvPr id="19" name="Text 15"/>
          <p:cNvSpPr txBox="1"/>
          <p:nvPr/>
        </p:nvSpPr>
        <p:spPr>
          <a:xfrm>
            <a:off x="1417320" y="3654156"/>
            <a:ext cx="1417320" cy="826523"/>
          </a:xfrm>
          <a:prstGeom prst="rect">
            <a:avLst/>
          </a:prstGeom>
          <a:noFill/>
          <a:ln/>
        </p:spPr>
        <p:txBody>
          <a:bodyPr wrap="square" lIns="0" tIns="0" rIns="0" bIns="0" rtlCol="0" anchor="ctr"/>
          <a:lstStyle/>
          <a:p>
            <a:pPr indent="0" marL="0">
              <a:buNone/>
            </a:pPr>
            <a:r>
              <a:rPr lang="en-US" sz="1400" b="1" dirty="0">
                <a:solidFill>
                  <a:schemeClr val="tx2"/>
                </a:solidFill>
              </a:rPr>
              <a:t>B. AI 活用の</a:t>
            </a:r>
            <a:endParaRPr lang="en-US" sz="1400" dirty="0"/>
          </a:p>
          <a:p>
            <a:pPr indent="0" marL="0">
              <a:buNone/>
            </a:pPr>
            <a:r>
              <a:rPr lang="en-US" sz="1400" b="1" dirty="0">
                <a:solidFill>
                  <a:schemeClr val="tx2"/>
                </a:solidFill>
              </a:rPr>
              <a:t>具体化</a:t>
            </a:r>
            <a:endParaRPr lang="en-US" sz="1400" dirty="0"/>
          </a:p>
        </p:txBody>
      </p:sp>
      <p:sp>
        <p:nvSpPr>
          <p:cNvPr id="20" name="Text 16"/>
          <p:cNvSpPr txBox="1"/>
          <p:nvPr/>
        </p:nvSpPr>
        <p:spPr>
          <a:xfrm>
            <a:off x="2926080" y="3571504"/>
            <a:ext cx="3703320" cy="1033153"/>
          </a:xfrm>
          <a:prstGeom prst="rect">
            <a:avLst/>
          </a:prstGeom>
          <a:noFill/>
          <a:ln/>
        </p:spPr>
        <p:txBody>
          <a:bodyPr wrap="square" lIns="0" tIns="0" rIns="0" bIns="0" rtlCol="0" anchor="ctr"/>
          <a:lstStyle/>
          <a:p>
            <a:pPr marL="177800" indent="-177800">
              <a:spcAft>
                <a:spcPts val="400"/>
              </a:spcAft>
              <a:buSzPct val="100000"/>
              <a:buChar char="•"/>
            </a:pPr>
            <a:r>
              <a:rPr lang="en-US" sz="1200" dirty="0">
                <a:solidFill>
                  <a:schemeClr val="tx1"/>
                </a:solidFill>
              </a:rPr>
              <a:t>Workspaceの機能を使いこなせていない可能性</a:t>
            </a:r>
            <a:endParaRPr lang="en-US" sz="1200" dirty="0"/>
          </a:p>
          <a:p>
            <a:pPr marL="177800" indent="-177800">
              <a:spcAft>
                <a:spcPts val="400"/>
              </a:spcAft>
              <a:buSzPct val="100000"/>
              <a:buChar char="•"/>
            </a:pPr>
            <a:r>
              <a:rPr lang="en-US" sz="1200" dirty="0">
                <a:solidFill>
                  <a:schemeClr val="tx1"/>
                </a:solidFill>
              </a:rPr>
              <a:t>部門・担当者ごとに業務が異なり、最適な使い方が見えない</a:t>
            </a:r>
            <a:endParaRPr lang="en-US" sz="1200" dirty="0"/>
          </a:p>
        </p:txBody>
      </p:sp>
      <p:sp>
        <p:nvSpPr>
          <p:cNvPr id="21" name="Text 17"/>
          <p:cNvSpPr txBox="1"/>
          <p:nvPr/>
        </p:nvSpPr>
        <p:spPr>
          <a:xfrm>
            <a:off x="6766560" y="3571504"/>
            <a:ext cx="2240280" cy="1033153"/>
          </a:xfrm>
          <a:prstGeom prst="rect">
            <a:avLst/>
          </a:prstGeom>
          <a:noFill/>
          <a:ln/>
        </p:spPr>
        <p:txBody>
          <a:bodyPr wrap="square" lIns="0" tIns="0" rIns="0" bIns="0" rtlCol="0" anchor="ctr"/>
          <a:lstStyle/>
          <a:p>
            <a:pPr indent="0" marL="0">
              <a:buNone/>
            </a:pPr>
            <a:r>
              <a:rPr lang="en-US" sz="1200" dirty="0">
                <a:solidFill>
                  <a:schemeClr val="tx1"/>
                </a:solidFill>
              </a:rPr>
              <a:t>業務起点の活用シーン（ユースケース）が未定義</a:t>
            </a:r>
            <a:endParaRPr lang="en-US" sz="1200" dirty="0"/>
          </a:p>
        </p:txBody>
      </p:sp>
      <p:sp>
        <p:nvSpPr>
          <p:cNvPr id="22" name="Shape 18"/>
          <p:cNvSpPr/>
          <p:nvPr/>
        </p:nvSpPr>
        <p:spPr>
          <a:xfrm>
            <a:off x="9079992" y="3891781"/>
            <a:ext cx="219456" cy="351272"/>
          </a:xfrm>
          <a:prstGeom prst="rightArrow">
            <a:avLst/>
          </a:prstGeom>
          <a:solidFill>
            <a:schemeClr val="accent2"/>
          </a:solidFill>
          <a:ln/>
        </p:spPr>
      </p:sp>
      <p:sp>
        <p:nvSpPr>
          <p:cNvPr id="23" name="Shape 19"/>
          <p:cNvSpPr/>
          <p:nvPr/>
        </p:nvSpPr>
        <p:spPr>
          <a:xfrm>
            <a:off x="9372600" y="3519846"/>
            <a:ext cx="2160727" cy="1095142"/>
          </a:xfrm>
          <a:prstGeom prst="roundRect">
            <a:avLst>
              <a:gd name="adj" fmla="val 6680"/>
            </a:avLst>
          </a:prstGeom>
          <a:solidFill>
            <a:schemeClr val="accent2">
              <a:alpha val="12000"/>
            </a:schemeClr>
          </a:solidFill>
          <a:ln/>
        </p:spPr>
      </p:sp>
      <p:sp>
        <p:nvSpPr>
          <p:cNvPr id="24" name="Text 20"/>
          <p:cNvSpPr txBox="1"/>
          <p:nvPr/>
        </p:nvSpPr>
        <p:spPr>
          <a:xfrm>
            <a:off x="9482328" y="3571504"/>
            <a:ext cx="1996135" cy="991827"/>
          </a:xfrm>
          <a:prstGeom prst="rect">
            <a:avLst/>
          </a:prstGeom>
          <a:noFill/>
          <a:ln/>
        </p:spPr>
        <p:txBody>
          <a:bodyPr wrap="square" lIns="0" tIns="0" rIns="0" bIns="0" rtlCol="0" anchor="ctr"/>
          <a:lstStyle/>
          <a:p>
            <a:pPr indent="0" marL="0">
              <a:buNone/>
            </a:pPr>
            <a:r>
              <a:rPr lang="en-US" sz="1200" b="1" dirty="0">
                <a:solidFill>
                  <a:schemeClr val="tx2"/>
                </a:solidFill>
              </a:rPr>
              <a:t>業務を棚卸しし、効果の大きい業務から「型」（テンプレート・Gem）にする</a:t>
            </a:r>
            <a:endParaRPr lang="en-US" sz="1200" dirty="0"/>
          </a:p>
        </p:txBody>
      </p:sp>
      <p:sp>
        <p:nvSpPr>
          <p:cNvPr id="25" name="Shape 21"/>
          <p:cNvSpPr/>
          <p:nvPr/>
        </p:nvSpPr>
        <p:spPr>
          <a:xfrm>
            <a:off x="548640" y="4862945"/>
            <a:ext cx="11094415" cy="1343099"/>
          </a:xfrm>
          <a:prstGeom prst="roundRect">
            <a:avLst>
              <a:gd name="adj" fmla="val 6808"/>
            </a:avLst>
          </a:prstGeom>
          <a:solidFill>
            <a:schemeClr val="bg1"/>
          </a:solidFill>
          <a:ln w="9525">
            <a:solidFill>
              <a:srgbClr val="E2E1EE"/>
            </a:solidFill>
            <a:prstDash val="solid"/>
          </a:ln>
        </p:spPr>
      </p:sp>
      <p:pic>
        <p:nvPicPr>
          <p:cNvPr id="26" name="Image 2" descr="busts-in-silhouette">    </p:cNvPr>
          <p:cNvPicPr>
            <a:picLocks noChangeAspect="1"/>
          </p:cNvPicPr>
          <p:nvPr/>
        </p:nvPicPr>
        <p:blipFill>
          <a:blip r:embed="rId3"/>
          <a:stretch>
            <a:fillRect/>
          </a:stretch>
        </p:blipFill>
        <p:spPr>
          <a:xfrm>
            <a:off x="699059" y="5226526"/>
            <a:ext cx="595274" cy="595274"/>
          </a:xfrm>
          <a:prstGeom prst="rect">
            <a:avLst/>
          </a:prstGeom>
        </p:spPr>
      </p:pic>
      <p:sp>
        <p:nvSpPr>
          <p:cNvPr id="27" name="Text 22"/>
          <p:cNvSpPr txBox="1"/>
          <p:nvPr/>
        </p:nvSpPr>
        <p:spPr>
          <a:xfrm>
            <a:off x="1417320" y="5121234"/>
            <a:ext cx="1417320" cy="826523"/>
          </a:xfrm>
          <a:prstGeom prst="rect">
            <a:avLst/>
          </a:prstGeom>
          <a:noFill/>
          <a:ln/>
        </p:spPr>
        <p:txBody>
          <a:bodyPr wrap="square" lIns="0" tIns="0" rIns="0" bIns="0" rtlCol="0" anchor="ctr"/>
          <a:lstStyle/>
          <a:p>
            <a:pPr indent="0" marL="0">
              <a:buNone/>
            </a:pPr>
            <a:r>
              <a:rPr lang="en-US" sz="1400" b="1" dirty="0">
                <a:solidFill>
                  <a:schemeClr val="tx2"/>
                </a:solidFill>
              </a:rPr>
              <a:t>C. 定着・</a:t>
            </a:r>
            <a:endParaRPr lang="en-US" sz="1400" dirty="0"/>
          </a:p>
          <a:p>
            <a:pPr indent="0" marL="0">
              <a:buNone/>
            </a:pPr>
            <a:r>
              <a:rPr lang="en-US" sz="1400" b="1" dirty="0">
                <a:solidFill>
                  <a:schemeClr val="tx2"/>
                </a:solidFill>
              </a:rPr>
              <a:t>社内展開</a:t>
            </a:r>
            <a:endParaRPr lang="en-US" sz="1400" dirty="0"/>
          </a:p>
        </p:txBody>
      </p:sp>
      <p:sp>
        <p:nvSpPr>
          <p:cNvPr id="28" name="Text 23"/>
          <p:cNvSpPr txBox="1"/>
          <p:nvPr/>
        </p:nvSpPr>
        <p:spPr>
          <a:xfrm>
            <a:off x="2926080" y="5038582"/>
            <a:ext cx="3703320" cy="1033153"/>
          </a:xfrm>
          <a:prstGeom prst="rect">
            <a:avLst/>
          </a:prstGeom>
          <a:noFill/>
          <a:ln/>
        </p:spPr>
        <p:txBody>
          <a:bodyPr wrap="square" lIns="0" tIns="0" rIns="0" bIns="0" rtlCol="0" anchor="ctr"/>
          <a:lstStyle/>
          <a:p>
            <a:pPr marL="177800" indent="-177800">
              <a:spcAft>
                <a:spcPts val="400"/>
              </a:spcAft>
              <a:buSzPct val="100000"/>
              <a:buChar char="•"/>
            </a:pPr>
            <a:r>
              <a:rPr lang="en-US" sz="1200" dirty="0">
                <a:solidFill>
                  <a:schemeClr val="tx1"/>
                </a:solidFill>
              </a:rPr>
              <a:t>使い方を変えることへの現場の抵抗、準備期間の負担</a:t>
            </a:r>
            <a:endParaRPr lang="en-US" sz="1200" dirty="0"/>
          </a:p>
          <a:p>
            <a:pPr marL="177800" indent="-177800">
              <a:spcAft>
                <a:spcPts val="400"/>
              </a:spcAft>
              <a:buSzPct val="100000"/>
              <a:buChar char="•"/>
            </a:pPr>
            <a:r>
              <a:rPr lang="en-US" sz="1200" dirty="0">
                <a:solidFill>
                  <a:schemeClr val="tx1"/>
                </a:solidFill>
              </a:rPr>
              <a:t>ご担当者様が学び、社内で指導できる体制が必要</a:t>
            </a:r>
            <a:endParaRPr lang="en-US" sz="1200" dirty="0"/>
          </a:p>
        </p:txBody>
      </p:sp>
      <p:sp>
        <p:nvSpPr>
          <p:cNvPr id="29" name="Text 24"/>
          <p:cNvSpPr txBox="1"/>
          <p:nvPr/>
        </p:nvSpPr>
        <p:spPr>
          <a:xfrm>
            <a:off x="6766560" y="5038582"/>
            <a:ext cx="2240280" cy="1033153"/>
          </a:xfrm>
          <a:prstGeom prst="rect">
            <a:avLst/>
          </a:prstGeom>
          <a:noFill/>
          <a:ln/>
        </p:spPr>
        <p:txBody>
          <a:bodyPr wrap="square" lIns="0" tIns="0" rIns="0" bIns="0" rtlCol="0" anchor="ctr"/>
          <a:lstStyle/>
          <a:p>
            <a:pPr indent="0" marL="0">
              <a:buNone/>
            </a:pPr>
            <a:r>
              <a:rPr lang="en-US" sz="1200" dirty="0">
                <a:solidFill>
                  <a:schemeClr val="tx1"/>
                </a:solidFill>
              </a:rPr>
              <a:t>展開の手順・教材・推進役が整っていない</a:t>
            </a:r>
            <a:endParaRPr lang="en-US" sz="1200" dirty="0"/>
          </a:p>
        </p:txBody>
      </p:sp>
      <p:sp>
        <p:nvSpPr>
          <p:cNvPr id="30" name="Shape 25"/>
          <p:cNvSpPr/>
          <p:nvPr/>
        </p:nvSpPr>
        <p:spPr>
          <a:xfrm>
            <a:off x="9079992" y="5358859"/>
            <a:ext cx="219456" cy="351272"/>
          </a:xfrm>
          <a:prstGeom prst="rightArrow">
            <a:avLst/>
          </a:prstGeom>
          <a:solidFill>
            <a:schemeClr val="accent3"/>
          </a:solidFill>
          <a:ln/>
        </p:spPr>
      </p:sp>
      <p:sp>
        <p:nvSpPr>
          <p:cNvPr id="31" name="Shape 26"/>
          <p:cNvSpPr/>
          <p:nvPr/>
        </p:nvSpPr>
        <p:spPr>
          <a:xfrm>
            <a:off x="9372600" y="4986924"/>
            <a:ext cx="2160727" cy="1095142"/>
          </a:xfrm>
          <a:prstGeom prst="roundRect">
            <a:avLst>
              <a:gd name="adj" fmla="val 6680"/>
            </a:avLst>
          </a:prstGeom>
          <a:solidFill>
            <a:schemeClr val="accent3">
              <a:alpha val="12000"/>
            </a:schemeClr>
          </a:solidFill>
          <a:ln/>
        </p:spPr>
      </p:sp>
      <p:sp>
        <p:nvSpPr>
          <p:cNvPr id="32" name="Text 27"/>
          <p:cNvSpPr txBox="1"/>
          <p:nvPr/>
        </p:nvSpPr>
        <p:spPr>
          <a:xfrm>
            <a:off x="9482328" y="5038582"/>
            <a:ext cx="1996135" cy="991827"/>
          </a:xfrm>
          <a:prstGeom prst="rect">
            <a:avLst/>
          </a:prstGeom>
          <a:noFill/>
          <a:ln/>
        </p:spPr>
        <p:txBody>
          <a:bodyPr wrap="square" lIns="0" tIns="0" rIns="0" bIns="0" rtlCol="0" anchor="ctr"/>
          <a:lstStyle/>
          <a:p>
            <a:pPr indent="0" marL="0">
              <a:buNone/>
            </a:pPr>
            <a:r>
              <a:rPr lang="en-US" sz="1200" b="1" dirty="0">
                <a:solidFill>
                  <a:schemeClr val="tx2"/>
                </a:solidFill>
              </a:rPr>
              <a:t>ご担当者様を「社内コーチ」に。教材を揃えて段階的に展開</a:t>
            </a:r>
            <a:endParaRPr lang="en-US" sz="12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6ヶ月後に目指す姿</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ご相談時の「達成すべきゴール」を、6ヶ月後の具体的な状態に置き換えました</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01｜現状のご理解</a:t>
            </a:r>
            <a:endParaRPr lang="en-US" sz="900" dirty="0"/>
          </a:p>
        </p:txBody>
      </p:sp>
      <p:sp>
        <p:nvSpPr>
          <p:cNvPr id="5" name="Text 3"/>
          <p:cNvSpPr txBox="1"/>
          <p:nvPr/>
        </p:nvSpPr>
        <p:spPr>
          <a:xfrm>
            <a:off x="548640" y="1536192"/>
            <a:ext cx="4480560" cy="361604"/>
          </a:xfrm>
          <a:prstGeom prst="rect">
            <a:avLst/>
          </a:prstGeom>
          <a:noFill/>
          <a:ln/>
        </p:spPr>
        <p:txBody>
          <a:bodyPr wrap="square" lIns="0" tIns="0" rIns="0" bIns="0" rtlCol="0" anchor="t"/>
          <a:lstStyle/>
          <a:p>
            <a:pPr indent="0" marL="0">
              <a:buNone/>
            </a:pPr>
            <a:r>
              <a:rPr lang="en-US" sz="1500" b="1" dirty="0">
                <a:solidFill>
                  <a:schemeClr val="accent6"/>
                </a:solidFill>
              </a:rPr>
              <a:t>現在</a:t>
            </a:r>
            <a:endParaRPr lang="en-US" sz="1500" dirty="0"/>
          </a:p>
        </p:txBody>
      </p:sp>
      <p:sp>
        <p:nvSpPr>
          <p:cNvPr id="6" name="Text 4"/>
          <p:cNvSpPr txBox="1"/>
          <p:nvPr/>
        </p:nvSpPr>
        <p:spPr>
          <a:xfrm>
            <a:off x="5806440" y="1536192"/>
            <a:ext cx="5836615" cy="361604"/>
          </a:xfrm>
          <a:prstGeom prst="rect">
            <a:avLst/>
          </a:prstGeom>
          <a:noFill/>
          <a:ln/>
        </p:spPr>
        <p:txBody>
          <a:bodyPr wrap="square" lIns="0" tIns="0" rIns="0" bIns="0" rtlCol="0" anchor="t"/>
          <a:lstStyle/>
          <a:p>
            <a:pPr indent="0" marL="0">
              <a:buNone/>
            </a:pPr>
            <a:r>
              <a:rPr lang="en-US" sz="1500" b="1" dirty="0">
                <a:solidFill>
                  <a:schemeClr val="accent1"/>
                </a:solidFill>
              </a:rPr>
              <a:t>6ヶ月後</a:t>
            </a:r>
            <a:endParaRPr lang="en-US" sz="1500" dirty="0"/>
          </a:p>
        </p:txBody>
      </p:sp>
      <p:sp>
        <p:nvSpPr>
          <p:cNvPr id="7" name="Shape 5"/>
          <p:cNvSpPr/>
          <p:nvPr/>
        </p:nvSpPr>
        <p:spPr>
          <a:xfrm>
            <a:off x="548640" y="2001111"/>
            <a:ext cx="4480560" cy="1239784"/>
          </a:xfrm>
          <a:prstGeom prst="roundRect">
            <a:avLst>
              <a:gd name="adj" fmla="val 7375"/>
            </a:avLst>
          </a:prstGeom>
          <a:solidFill>
            <a:srgbClr val="F1F1F4"/>
          </a:solidFill>
          <a:ln/>
        </p:spPr>
      </p:sp>
      <p:sp>
        <p:nvSpPr>
          <p:cNvPr id="8" name="Text 6"/>
          <p:cNvSpPr txBox="1"/>
          <p:nvPr/>
        </p:nvSpPr>
        <p:spPr>
          <a:xfrm>
            <a:off x="822960" y="2125089"/>
            <a:ext cx="4023360" cy="991827"/>
          </a:xfrm>
          <a:prstGeom prst="rect">
            <a:avLst/>
          </a:prstGeom>
          <a:noFill/>
          <a:ln/>
        </p:spPr>
        <p:txBody>
          <a:bodyPr wrap="square" lIns="0" tIns="0" rIns="0" bIns="0" rtlCol="0" anchor="ctr"/>
          <a:lstStyle/>
          <a:p>
            <a:pPr indent="0" marL="0">
              <a:buNone/>
            </a:pPr>
            <a:r>
              <a:rPr lang="en-US" sz="1300" dirty="0">
                <a:solidFill>
                  <a:schemeClr val="tx1"/>
                </a:solidFill>
              </a:rPr>
              <a:t>Dropbox と Drive にデータが分散。</a:t>
            </a:r>
            <a:endParaRPr lang="en-US" sz="1300" dirty="0"/>
          </a:p>
          <a:p>
            <a:pPr indent="0" marL="0">
              <a:buNone/>
            </a:pPr>
            <a:r>
              <a:rPr lang="en-US" sz="1300" dirty="0">
                <a:solidFill>
                  <a:schemeClr val="tx1"/>
                </a:solidFill>
              </a:rPr>
              <a:t>リンク共有の範囲に不安があり、個人情報を移せない</a:t>
            </a:r>
            <a:endParaRPr lang="en-US" sz="1300" dirty="0"/>
          </a:p>
        </p:txBody>
      </p:sp>
      <p:sp>
        <p:nvSpPr>
          <p:cNvPr id="9" name="Shape 7"/>
          <p:cNvSpPr/>
          <p:nvPr/>
        </p:nvSpPr>
        <p:spPr>
          <a:xfrm>
            <a:off x="5230368" y="2393709"/>
            <a:ext cx="365760" cy="464919"/>
          </a:xfrm>
          <a:prstGeom prst="chevron">
            <a:avLst/>
          </a:prstGeom>
          <a:solidFill>
            <a:schemeClr val="accent1"/>
          </a:solidFill>
          <a:ln/>
        </p:spPr>
      </p:sp>
      <p:sp>
        <p:nvSpPr>
          <p:cNvPr id="10" name="Shape 8"/>
          <p:cNvSpPr/>
          <p:nvPr/>
        </p:nvSpPr>
        <p:spPr>
          <a:xfrm>
            <a:off x="5806440" y="2001111"/>
            <a:ext cx="5836615" cy="1239784"/>
          </a:xfrm>
          <a:prstGeom prst="roundRect">
            <a:avLst>
              <a:gd name="adj" fmla="val 7375"/>
            </a:avLst>
          </a:prstGeom>
          <a:solidFill>
            <a:schemeClr val="accent1">
              <a:alpha val="10000"/>
            </a:schemeClr>
          </a:solidFill>
          <a:ln w="12700">
            <a:solidFill>
              <a:srgbClr val="5B4FC4"/>
            </a:solidFill>
            <a:prstDash val="solid"/>
          </a:ln>
        </p:spPr>
      </p:sp>
      <p:pic>
        <p:nvPicPr>
          <p:cNvPr id="11" name="Image 0" descr="open-file-folder">    </p:cNvPr>
          <p:cNvPicPr>
            <a:picLocks noChangeAspect="1"/>
          </p:cNvPicPr>
          <p:nvPr/>
        </p:nvPicPr>
        <p:blipFill>
          <a:blip r:embed="rId1"/>
          <a:stretch>
            <a:fillRect/>
          </a:stretch>
        </p:blipFill>
        <p:spPr>
          <a:xfrm>
            <a:off x="6021324" y="2332967"/>
            <a:ext cx="576072" cy="576072"/>
          </a:xfrm>
          <a:prstGeom prst="rect">
            <a:avLst/>
          </a:prstGeom>
        </p:spPr>
      </p:pic>
      <p:sp>
        <p:nvSpPr>
          <p:cNvPr id="12" name="Text 9"/>
          <p:cNvSpPr txBox="1"/>
          <p:nvPr/>
        </p:nvSpPr>
        <p:spPr>
          <a:xfrm>
            <a:off x="6766560" y="2125089"/>
            <a:ext cx="4693615" cy="991827"/>
          </a:xfrm>
          <a:prstGeom prst="rect">
            <a:avLst/>
          </a:prstGeom>
          <a:noFill/>
          <a:ln/>
        </p:spPr>
        <p:txBody>
          <a:bodyPr wrap="square" lIns="0" tIns="0" rIns="0" bIns="0" rtlCol="0" anchor="ctr"/>
          <a:lstStyle/>
          <a:p>
            <a:pPr indent="0" marL="0">
              <a:buNone/>
            </a:pPr>
            <a:r>
              <a:rPr lang="en-US" sz="1400" b="1" dirty="0">
                <a:solidFill>
                  <a:schemeClr val="tx2"/>
                </a:solidFill>
              </a:rPr>
              <a:t>Dropbox を解約し Drive に一本化。</a:t>
            </a:r>
            <a:endParaRPr lang="en-US" sz="1400" dirty="0"/>
          </a:p>
          <a:p>
            <a:pPr indent="0" marL="0">
              <a:buNone/>
            </a:pPr>
            <a:r>
              <a:rPr lang="en-US" sz="1400" b="1" dirty="0">
                <a:solidFill>
                  <a:schemeClr val="tx2"/>
                </a:solidFill>
              </a:rPr>
              <a:t>共有ドライブと管理者設定で個人情報を保護</a:t>
            </a:r>
            <a:endParaRPr lang="en-US" sz="1400" dirty="0"/>
          </a:p>
        </p:txBody>
      </p:sp>
      <p:sp>
        <p:nvSpPr>
          <p:cNvPr id="13" name="Shape 10"/>
          <p:cNvSpPr/>
          <p:nvPr/>
        </p:nvSpPr>
        <p:spPr>
          <a:xfrm>
            <a:off x="548640" y="3426862"/>
            <a:ext cx="4480560" cy="1239784"/>
          </a:xfrm>
          <a:prstGeom prst="roundRect">
            <a:avLst>
              <a:gd name="adj" fmla="val 7375"/>
            </a:avLst>
          </a:prstGeom>
          <a:solidFill>
            <a:srgbClr val="F1F1F4"/>
          </a:solidFill>
          <a:ln/>
        </p:spPr>
      </p:sp>
      <p:sp>
        <p:nvSpPr>
          <p:cNvPr id="14" name="Text 11"/>
          <p:cNvSpPr txBox="1"/>
          <p:nvPr/>
        </p:nvSpPr>
        <p:spPr>
          <a:xfrm>
            <a:off x="822960" y="3550841"/>
            <a:ext cx="4023360" cy="991827"/>
          </a:xfrm>
          <a:prstGeom prst="rect">
            <a:avLst/>
          </a:prstGeom>
          <a:noFill/>
          <a:ln/>
        </p:spPr>
        <p:txBody>
          <a:bodyPr wrap="square" lIns="0" tIns="0" rIns="0" bIns="0" rtlCol="0" anchor="ctr"/>
          <a:lstStyle/>
          <a:p>
            <a:pPr indent="0" marL="0">
              <a:buNone/>
            </a:pPr>
            <a:r>
              <a:rPr lang="en-US" sz="1300" dirty="0">
                <a:solidFill>
                  <a:schemeClr val="tx1"/>
                </a:solidFill>
              </a:rPr>
              <a:t>8名が個人の工夫で試行中。</a:t>
            </a:r>
            <a:endParaRPr lang="en-US" sz="1300" dirty="0"/>
          </a:p>
          <a:p>
            <a:pPr indent="0" marL="0">
              <a:buNone/>
            </a:pPr>
            <a:r>
              <a:rPr lang="en-US" sz="1300" dirty="0">
                <a:solidFill>
                  <a:schemeClr val="tx1"/>
                </a:solidFill>
              </a:rPr>
              <a:t>効果的な使い方が属人的</a:t>
            </a:r>
            <a:endParaRPr lang="en-US" sz="1300" dirty="0"/>
          </a:p>
        </p:txBody>
      </p:sp>
      <p:sp>
        <p:nvSpPr>
          <p:cNvPr id="15" name="Shape 12"/>
          <p:cNvSpPr/>
          <p:nvPr/>
        </p:nvSpPr>
        <p:spPr>
          <a:xfrm>
            <a:off x="5230368" y="3819461"/>
            <a:ext cx="365760" cy="464919"/>
          </a:xfrm>
          <a:prstGeom prst="chevron">
            <a:avLst/>
          </a:prstGeom>
          <a:solidFill>
            <a:schemeClr val="accent1"/>
          </a:solidFill>
          <a:ln/>
        </p:spPr>
      </p:sp>
      <p:sp>
        <p:nvSpPr>
          <p:cNvPr id="16" name="Shape 13"/>
          <p:cNvSpPr/>
          <p:nvPr/>
        </p:nvSpPr>
        <p:spPr>
          <a:xfrm>
            <a:off x="5806440" y="3426862"/>
            <a:ext cx="5836615" cy="1239784"/>
          </a:xfrm>
          <a:prstGeom prst="roundRect">
            <a:avLst>
              <a:gd name="adj" fmla="val 7375"/>
            </a:avLst>
          </a:prstGeom>
          <a:solidFill>
            <a:schemeClr val="accent1">
              <a:alpha val="10000"/>
            </a:schemeClr>
          </a:solidFill>
          <a:ln w="12700">
            <a:solidFill>
              <a:srgbClr val="5B4FC4"/>
            </a:solidFill>
            <a:prstDash val="solid"/>
          </a:ln>
        </p:spPr>
      </p:sp>
      <p:pic>
        <p:nvPicPr>
          <p:cNvPr id="17" name="Image 1" descr="sparkles">    </p:cNvPr>
          <p:cNvPicPr>
            <a:picLocks noChangeAspect="1"/>
          </p:cNvPicPr>
          <p:nvPr/>
        </p:nvPicPr>
        <p:blipFill>
          <a:blip r:embed="rId2"/>
          <a:stretch>
            <a:fillRect/>
          </a:stretch>
        </p:blipFill>
        <p:spPr>
          <a:xfrm>
            <a:off x="6021324" y="3758718"/>
            <a:ext cx="576072" cy="576072"/>
          </a:xfrm>
          <a:prstGeom prst="rect">
            <a:avLst/>
          </a:prstGeom>
        </p:spPr>
      </p:pic>
      <p:sp>
        <p:nvSpPr>
          <p:cNvPr id="18" name="Text 14"/>
          <p:cNvSpPr txBox="1"/>
          <p:nvPr/>
        </p:nvSpPr>
        <p:spPr>
          <a:xfrm>
            <a:off x="6766560" y="3550841"/>
            <a:ext cx="4693615" cy="991827"/>
          </a:xfrm>
          <a:prstGeom prst="rect">
            <a:avLst/>
          </a:prstGeom>
          <a:noFill/>
          <a:ln/>
        </p:spPr>
        <p:txBody>
          <a:bodyPr wrap="square" lIns="0" tIns="0" rIns="0" bIns="0" rtlCol="0" anchor="ctr"/>
          <a:lstStyle/>
          <a:p>
            <a:pPr indent="0" marL="0">
              <a:buNone/>
            </a:pPr>
            <a:r>
              <a:rPr lang="en-US" sz="1400" b="1" dirty="0">
                <a:solidFill>
                  <a:schemeClr val="tx2"/>
                </a:solidFill>
              </a:rPr>
              <a:t>部門別の活用テンプレート・Gemが揃い、</a:t>
            </a:r>
            <a:endParaRPr lang="en-US" sz="1400" dirty="0"/>
          </a:p>
          <a:p>
            <a:pPr indent="0" marL="0">
              <a:buNone/>
            </a:pPr>
            <a:r>
              <a:rPr lang="en-US" sz="1400" b="1" dirty="0">
                <a:solidFill>
                  <a:schemeClr val="tx2"/>
                </a:solidFill>
              </a:rPr>
              <a:t>資料作成・メール・議事録が日常的にAI化</a:t>
            </a:r>
            <a:endParaRPr lang="en-US" sz="1400" dirty="0"/>
          </a:p>
        </p:txBody>
      </p:sp>
      <p:sp>
        <p:nvSpPr>
          <p:cNvPr id="19" name="Shape 15"/>
          <p:cNvSpPr/>
          <p:nvPr/>
        </p:nvSpPr>
        <p:spPr>
          <a:xfrm>
            <a:off x="548640" y="4852614"/>
            <a:ext cx="4480560" cy="1239784"/>
          </a:xfrm>
          <a:prstGeom prst="roundRect">
            <a:avLst>
              <a:gd name="adj" fmla="val 7375"/>
            </a:avLst>
          </a:prstGeom>
          <a:solidFill>
            <a:srgbClr val="F1F1F4"/>
          </a:solidFill>
          <a:ln/>
        </p:spPr>
      </p:sp>
      <p:sp>
        <p:nvSpPr>
          <p:cNvPr id="20" name="Text 16"/>
          <p:cNvSpPr txBox="1"/>
          <p:nvPr/>
        </p:nvSpPr>
        <p:spPr>
          <a:xfrm>
            <a:off x="822960" y="4976592"/>
            <a:ext cx="4023360" cy="991827"/>
          </a:xfrm>
          <a:prstGeom prst="rect">
            <a:avLst/>
          </a:prstGeom>
          <a:noFill/>
          <a:ln/>
        </p:spPr>
        <p:txBody>
          <a:bodyPr wrap="square" lIns="0" tIns="0" rIns="0" bIns="0" rtlCol="0" anchor="ctr"/>
          <a:lstStyle/>
          <a:p>
            <a:pPr indent="0" marL="0">
              <a:buNone/>
            </a:pPr>
            <a:r>
              <a:rPr lang="en-US" sz="1300" dirty="0">
                <a:solidFill>
                  <a:schemeClr val="tx1"/>
                </a:solidFill>
              </a:rPr>
              <a:t>効果が定量化されておらず、</a:t>
            </a:r>
            <a:endParaRPr lang="en-US" sz="1300" dirty="0"/>
          </a:p>
          <a:p>
            <a:pPr indent="0" marL="0">
              <a:buNone/>
            </a:pPr>
            <a:r>
              <a:rPr lang="en-US" sz="1300" dirty="0">
                <a:solidFill>
                  <a:schemeClr val="tx1"/>
                </a:solidFill>
              </a:rPr>
              <a:t>展開判断の材料が少ない</a:t>
            </a:r>
            <a:endParaRPr lang="en-US" sz="1300" dirty="0"/>
          </a:p>
        </p:txBody>
      </p:sp>
      <p:sp>
        <p:nvSpPr>
          <p:cNvPr id="21" name="Shape 17"/>
          <p:cNvSpPr/>
          <p:nvPr/>
        </p:nvSpPr>
        <p:spPr>
          <a:xfrm>
            <a:off x="5230368" y="5245212"/>
            <a:ext cx="365760" cy="464919"/>
          </a:xfrm>
          <a:prstGeom prst="chevron">
            <a:avLst/>
          </a:prstGeom>
          <a:solidFill>
            <a:schemeClr val="accent1"/>
          </a:solidFill>
          <a:ln/>
        </p:spPr>
      </p:sp>
      <p:sp>
        <p:nvSpPr>
          <p:cNvPr id="22" name="Shape 18"/>
          <p:cNvSpPr/>
          <p:nvPr/>
        </p:nvSpPr>
        <p:spPr>
          <a:xfrm>
            <a:off x="5806440" y="4852614"/>
            <a:ext cx="5836615" cy="1239784"/>
          </a:xfrm>
          <a:prstGeom prst="roundRect">
            <a:avLst>
              <a:gd name="adj" fmla="val 7375"/>
            </a:avLst>
          </a:prstGeom>
          <a:solidFill>
            <a:schemeClr val="accent1">
              <a:alpha val="10000"/>
            </a:schemeClr>
          </a:solidFill>
          <a:ln w="12700">
            <a:solidFill>
              <a:srgbClr val="5B4FC4"/>
            </a:solidFill>
            <a:prstDash val="solid"/>
          </a:ln>
        </p:spPr>
      </p:sp>
      <p:pic>
        <p:nvPicPr>
          <p:cNvPr id="23" name="Image 2" descr="chart-increasing">    </p:cNvPr>
          <p:cNvPicPr>
            <a:picLocks noChangeAspect="1"/>
          </p:cNvPicPr>
          <p:nvPr/>
        </p:nvPicPr>
        <p:blipFill>
          <a:blip r:embed="rId3"/>
          <a:stretch>
            <a:fillRect/>
          </a:stretch>
        </p:blipFill>
        <p:spPr>
          <a:xfrm>
            <a:off x="6021324" y="5184470"/>
            <a:ext cx="576072" cy="576072"/>
          </a:xfrm>
          <a:prstGeom prst="rect">
            <a:avLst/>
          </a:prstGeom>
        </p:spPr>
      </p:pic>
      <p:sp>
        <p:nvSpPr>
          <p:cNvPr id="24" name="Text 19"/>
          <p:cNvSpPr txBox="1"/>
          <p:nvPr/>
        </p:nvSpPr>
        <p:spPr>
          <a:xfrm>
            <a:off x="6766560" y="4976592"/>
            <a:ext cx="4693615" cy="991827"/>
          </a:xfrm>
          <a:prstGeom prst="rect">
            <a:avLst/>
          </a:prstGeom>
          <a:noFill/>
          <a:ln/>
        </p:spPr>
        <p:txBody>
          <a:bodyPr wrap="square" lIns="0" tIns="0" rIns="0" bIns="0" rtlCol="0" anchor="ctr"/>
          <a:lstStyle/>
          <a:p>
            <a:pPr indent="0" marL="0">
              <a:buNone/>
            </a:pPr>
            <a:r>
              <a:rPr lang="en-US" sz="1400" b="1" dirty="0">
                <a:solidFill>
                  <a:schemeClr val="tx2"/>
                </a:solidFill>
              </a:rPr>
              <a:t>50〜70名に展開し、削減時間・利用率を毎月可視化。</a:t>
            </a:r>
            <a:endParaRPr lang="en-US" sz="1400" dirty="0"/>
          </a:p>
          <a:p>
            <a:pPr indent="0" marL="0">
              <a:buNone/>
            </a:pPr>
            <a:r>
              <a:rPr lang="en-US" sz="1400" b="1" dirty="0">
                <a:solidFill>
                  <a:schemeClr val="tx2"/>
                </a:solidFill>
              </a:rPr>
              <a:t>空いた時間を新規事業・付加価値業務へ</a:t>
            </a:r>
            <a:endParaRPr lang="en-US" sz="14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ご支援の全体像：3本の柱</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「安全なデータ基盤」→「業務別の活用の型」→「社内で広げる体制」の順に、3本の柱で一気通貫でご支援します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02｜ご提案内容</a:t>
            </a:r>
            <a:endParaRPr lang="en-US" sz="900" dirty="0"/>
          </a:p>
        </p:txBody>
      </p:sp>
      <p:sp>
        <p:nvSpPr>
          <p:cNvPr id="5" name="Shape 3"/>
          <p:cNvSpPr/>
          <p:nvPr/>
        </p:nvSpPr>
        <p:spPr>
          <a:xfrm>
            <a:off x="1097280" y="1484534"/>
            <a:ext cx="9997135" cy="929838"/>
          </a:xfrm>
          <a:prstGeom prst="triangle">
            <a:avLst/>
          </a:prstGeom>
          <a:solidFill>
            <a:schemeClr val="tx2"/>
          </a:solidFill>
          <a:ln/>
        </p:spPr>
      </p:sp>
      <p:sp>
        <p:nvSpPr>
          <p:cNvPr id="6" name="Text 4"/>
          <p:cNvSpPr txBox="1"/>
          <p:nvPr/>
        </p:nvSpPr>
        <p:spPr>
          <a:xfrm>
            <a:off x="3108960" y="1928790"/>
            <a:ext cx="5973775" cy="413261"/>
          </a:xfrm>
          <a:prstGeom prst="rect">
            <a:avLst/>
          </a:prstGeom>
          <a:noFill/>
          <a:ln/>
        </p:spPr>
        <p:txBody>
          <a:bodyPr wrap="square" lIns="0" tIns="0" rIns="0" bIns="0" rtlCol="0" anchor="t"/>
          <a:lstStyle/>
          <a:p>
            <a:pPr algn="ctr" indent="0" marL="0">
              <a:buNone/>
            </a:pPr>
            <a:r>
              <a:rPr lang="en-US" sz="1400" b="1" dirty="0">
                <a:solidFill>
                  <a:schemeClr val="bg1"/>
                </a:solidFill>
              </a:rPr>
              <a:t>定型業務を減らし、ケアと新たな事業展開に時間を使える組織へ</a:t>
            </a:r>
            <a:endParaRPr lang="en-US" sz="1400" dirty="0"/>
          </a:p>
        </p:txBody>
      </p:sp>
      <p:sp>
        <p:nvSpPr>
          <p:cNvPr id="7" name="Shape 5"/>
          <p:cNvSpPr/>
          <p:nvPr/>
        </p:nvSpPr>
        <p:spPr>
          <a:xfrm>
            <a:off x="860908" y="2569345"/>
            <a:ext cx="3246120" cy="2686198"/>
          </a:xfrm>
          <a:prstGeom prst="roundRect">
            <a:avLst>
              <a:gd name="adj" fmla="val 3404"/>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8" name="Image 0" descr="shield">    </p:cNvPr>
          <p:cNvPicPr>
            <a:picLocks noChangeAspect="1"/>
          </p:cNvPicPr>
          <p:nvPr/>
        </p:nvPicPr>
        <p:blipFill>
          <a:blip r:embed="rId1"/>
          <a:stretch>
            <a:fillRect/>
          </a:stretch>
        </p:blipFill>
        <p:spPr>
          <a:xfrm>
            <a:off x="1075334" y="2850274"/>
            <a:ext cx="595274" cy="595274"/>
          </a:xfrm>
          <a:prstGeom prst="rect">
            <a:avLst/>
          </a:prstGeom>
        </p:spPr>
      </p:pic>
      <p:sp>
        <p:nvSpPr>
          <p:cNvPr id="9" name="Text 6"/>
          <p:cNvSpPr txBox="1"/>
          <p:nvPr/>
        </p:nvSpPr>
        <p:spPr>
          <a:xfrm>
            <a:off x="1775308" y="2775976"/>
            <a:ext cx="914400" cy="289283"/>
          </a:xfrm>
          <a:prstGeom prst="rect">
            <a:avLst/>
          </a:prstGeom>
          <a:noFill/>
          <a:ln/>
        </p:spPr>
        <p:txBody>
          <a:bodyPr wrap="square" lIns="0" tIns="0" rIns="0" bIns="0" rtlCol="0" anchor="t"/>
          <a:lstStyle/>
          <a:p>
            <a:pPr indent="0" marL="0">
              <a:buNone/>
            </a:pPr>
            <a:r>
              <a:rPr lang="en-US" sz="1200" b="1" dirty="0">
                <a:solidFill>
                  <a:schemeClr val="accent1"/>
                </a:solidFill>
              </a:rPr>
              <a:t>柱①</a:t>
            </a:r>
            <a:endParaRPr lang="en-US" sz="1200" dirty="0"/>
          </a:p>
        </p:txBody>
      </p:sp>
      <p:sp>
        <p:nvSpPr>
          <p:cNvPr id="10" name="Text 7"/>
          <p:cNvSpPr txBox="1"/>
          <p:nvPr/>
        </p:nvSpPr>
        <p:spPr>
          <a:xfrm>
            <a:off x="1775308" y="3034264"/>
            <a:ext cx="2194560" cy="723207"/>
          </a:xfrm>
          <a:prstGeom prst="rect">
            <a:avLst/>
          </a:prstGeom>
          <a:noFill/>
          <a:ln/>
        </p:spPr>
        <p:txBody>
          <a:bodyPr wrap="square" lIns="0" tIns="0" rIns="0" bIns="0" rtlCol="0" anchor="t"/>
          <a:lstStyle/>
          <a:p>
            <a:pPr indent="0" marL="0">
              <a:buNone/>
            </a:pPr>
            <a:r>
              <a:rPr lang="en-US" sz="1500" b="1" dirty="0">
                <a:solidFill>
                  <a:schemeClr val="tx2"/>
                </a:solidFill>
              </a:rPr>
              <a:t>Drive 移行・</a:t>
            </a:r>
            <a:endParaRPr lang="en-US" sz="1500" dirty="0"/>
          </a:p>
          <a:p>
            <a:pPr indent="0" marL="0">
              <a:buNone/>
            </a:pPr>
            <a:r>
              <a:rPr lang="en-US" sz="1500" b="1" dirty="0">
                <a:solidFill>
                  <a:schemeClr val="tx2"/>
                </a:solidFill>
              </a:rPr>
              <a:t>セキュアな共有</a:t>
            </a:r>
            <a:endParaRPr lang="en-US" sz="1500" dirty="0"/>
          </a:p>
        </p:txBody>
      </p:sp>
      <p:sp>
        <p:nvSpPr>
          <p:cNvPr id="11" name="Text 8"/>
          <p:cNvSpPr txBox="1"/>
          <p:nvPr/>
        </p:nvSpPr>
        <p:spPr>
          <a:xfrm>
            <a:off x="1089508" y="3912444"/>
            <a:ext cx="2834640" cy="1239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Dropbox→Drive 移行計画・実行</a:t>
            </a:r>
            <a:endParaRPr lang="en-US" sz="1300" dirty="0"/>
          </a:p>
          <a:p>
            <a:pPr marL="177800" indent="-177800">
              <a:spcAft>
                <a:spcPts val="400"/>
              </a:spcAft>
              <a:buSzPct val="100000"/>
              <a:buChar char="•"/>
            </a:pPr>
            <a:r>
              <a:rPr lang="en-US" sz="1300" dirty="0">
                <a:solidFill>
                  <a:schemeClr val="tx1"/>
                </a:solidFill>
              </a:rPr>
              <a:t>共有ドライブ・権限の設計</a:t>
            </a:r>
            <a:endParaRPr lang="en-US" sz="1300" dirty="0"/>
          </a:p>
          <a:p>
            <a:pPr marL="177800" indent="-177800">
              <a:spcAft>
                <a:spcPts val="400"/>
              </a:spcAft>
              <a:buSzPct val="100000"/>
              <a:buChar char="•"/>
            </a:pPr>
            <a:r>
              <a:rPr lang="en-US" sz="1300" dirty="0">
                <a:solidFill>
                  <a:schemeClr val="tx1"/>
                </a:solidFill>
              </a:rPr>
              <a:t>管理者設定と情報区分ルール</a:t>
            </a:r>
            <a:endParaRPr lang="en-US" sz="1300" dirty="0"/>
          </a:p>
        </p:txBody>
      </p:sp>
      <p:sp>
        <p:nvSpPr>
          <p:cNvPr id="12" name="Shape 9"/>
          <p:cNvSpPr/>
          <p:nvPr/>
        </p:nvSpPr>
        <p:spPr>
          <a:xfrm>
            <a:off x="4472788" y="2569345"/>
            <a:ext cx="3246120" cy="2686198"/>
          </a:xfrm>
          <a:prstGeom prst="roundRect">
            <a:avLst>
              <a:gd name="adj" fmla="val 3404"/>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13" name="Image 1" descr="sparkles">    </p:cNvPr>
          <p:cNvPicPr>
            <a:picLocks noChangeAspect="1"/>
          </p:cNvPicPr>
          <p:nvPr/>
        </p:nvPicPr>
        <p:blipFill>
          <a:blip r:embed="rId2"/>
          <a:stretch>
            <a:fillRect/>
          </a:stretch>
        </p:blipFill>
        <p:spPr>
          <a:xfrm>
            <a:off x="4687214" y="2850274"/>
            <a:ext cx="595274" cy="595274"/>
          </a:xfrm>
          <a:prstGeom prst="rect">
            <a:avLst/>
          </a:prstGeom>
        </p:spPr>
      </p:pic>
      <p:sp>
        <p:nvSpPr>
          <p:cNvPr id="14" name="Text 10"/>
          <p:cNvSpPr txBox="1"/>
          <p:nvPr/>
        </p:nvSpPr>
        <p:spPr>
          <a:xfrm>
            <a:off x="5387188" y="2775976"/>
            <a:ext cx="914400" cy="289283"/>
          </a:xfrm>
          <a:prstGeom prst="rect">
            <a:avLst/>
          </a:prstGeom>
          <a:noFill/>
          <a:ln/>
        </p:spPr>
        <p:txBody>
          <a:bodyPr wrap="square" lIns="0" tIns="0" rIns="0" bIns="0" rtlCol="0" anchor="t"/>
          <a:lstStyle/>
          <a:p>
            <a:pPr indent="0" marL="0">
              <a:buNone/>
            </a:pPr>
            <a:r>
              <a:rPr lang="en-US" sz="1200" b="1" dirty="0">
                <a:solidFill>
                  <a:schemeClr val="accent2"/>
                </a:solidFill>
              </a:rPr>
              <a:t>柱②</a:t>
            </a:r>
            <a:endParaRPr lang="en-US" sz="1200" dirty="0"/>
          </a:p>
        </p:txBody>
      </p:sp>
      <p:sp>
        <p:nvSpPr>
          <p:cNvPr id="15" name="Text 11"/>
          <p:cNvSpPr txBox="1"/>
          <p:nvPr/>
        </p:nvSpPr>
        <p:spPr>
          <a:xfrm>
            <a:off x="5387188" y="3034264"/>
            <a:ext cx="2194560" cy="723207"/>
          </a:xfrm>
          <a:prstGeom prst="rect">
            <a:avLst/>
          </a:prstGeom>
          <a:noFill/>
          <a:ln/>
        </p:spPr>
        <p:txBody>
          <a:bodyPr wrap="square" lIns="0" tIns="0" rIns="0" bIns="0" rtlCol="0" anchor="t"/>
          <a:lstStyle/>
          <a:p>
            <a:pPr indent="0" marL="0">
              <a:buNone/>
            </a:pPr>
            <a:r>
              <a:rPr lang="en-US" sz="1500" b="1" dirty="0">
                <a:solidFill>
                  <a:schemeClr val="tx2"/>
                </a:solidFill>
              </a:rPr>
              <a:t>業務別 AI 活用の</a:t>
            </a:r>
            <a:endParaRPr lang="en-US" sz="1500" dirty="0"/>
          </a:p>
          <a:p>
            <a:pPr indent="0" marL="0">
              <a:buNone/>
            </a:pPr>
            <a:r>
              <a:rPr lang="en-US" sz="1500" b="1" dirty="0">
                <a:solidFill>
                  <a:schemeClr val="tx2"/>
                </a:solidFill>
              </a:rPr>
              <a:t>「型」づくり</a:t>
            </a:r>
            <a:endParaRPr lang="en-US" sz="1500" dirty="0"/>
          </a:p>
        </p:txBody>
      </p:sp>
      <p:sp>
        <p:nvSpPr>
          <p:cNvPr id="16" name="Text 12"/>
          <p:cNvSpPr txBox="1"/>
          <p:nvPr/>
        </p:nvSpPr>
        <p:spPr>
          <a:xfrm>
            <a:off x="4701388" y="3912444"/>
            <a:ext cx="2834640" cy="1239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8名の業務棚卸し・優先度付け</a:t>
            </a:r>
            <a:endParaRPr lang="en-US" sz="1300" dirty="0"/>
          </a:p>
          <a:p>
            <a:pPr marL="177800" indent="-177800">
              <a:spcAft>
                <a:spcPts val="400"/>
              </a:spcAft>
              <a:buSzPct val="100000"/>
              <a:buChar char="•"/>
            </a:pPr>
            <a:r>
              <a:rPr lang="en-US" sz="1300" dirty="0">
                <a:solidFill>
                  <a:schemeClr val="tx1"/>
                </a:solidFill>
              </a:rPr>
              <a:t>テンプレート・Gemの作成</a:t>
            </a:r>
            <a:endParaRPr lang="en-US" sz="1300" dirty="0"/>
          </a:p>
          <a:p>
            <a:pPr marL="177800" indent="-177800">
              <a:spcAft>
                <a:spcPts val="400"/>
              </a:spcAft>
              <a:buSzPct val="100000"/>
              <a:buChar char="•"/>
            </a:pPr>
            <a:r>
              <a:rPr lang="en-US" sz="1300" dirty="0">
                <a:solidFill>
                  <a:schemeClr val="tx1"/>
                </a:solidFill>
              </a:rPr>
              <a:t>提出物管理などの自動化</a:t>
            </a:r>
            <a:endParaRPr lang="en-US" sz="1300" dirty="0"/>
          </a:p>
        </p:txBody>
      </p:sp>
      <p:sp>
        <p:nvSpPr>
          <p:cNvPr id="17" name="Shape 13"/>
          <p:cNvSpPr/>
          <p:nvPr/>
        </p:nvSpPr>
        <p:spPr>
          <a:xfrm>
            <a:off x="8084668" y="2569345"/>
            <a:ext cx="3246120" cy="2686198"/>
          </a:xfrm>
          <a:prstGeom prst="roundRect">
            <a:avLst>
              <a:gd name="adj" fmla="val 3404"/>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18" name="Image 2" descr="busts-in-silhouette">    </p:cNvPr>
          <p:cNvPicPr>
            <a:picLocks noChangeAspect="1"/>
          </p:cNvPicPr>
          <p:nvPr/>
        </p:nvPicPr>
        <p:blipFill>
          <a:blip r:embed="rId3"/>
          <a:stretch>
            <a:fillRect/>
          </a:stretch>
        </p:blipFill>
        <p:spPr>
          <a:xfrm>
            <a:off x="8299094" y="2850274"/>
            <a:ext cx="595274" cy="595274"/>
          </a:xfrm>
          <a:prstGeom prst="rect">
            <a:avLst/>
          </a:prstGeom>
        </p:spPr>
      </p:pic>
      <p:sp>
        <p:nvSpPr>
          <p:cNvPr id="19" name="Text 14"/>
          <p:cNvSpPr txBox="1"/>
          <p:nvPr/>
        </p:nvSpPr>
        <p:spPr>
          <a:xfrm>
            <a:off x="8999068" y="2775976"/>
            <a:ext cx="914400" cy="289283"/>
          </a:xfrm>
          <a:prstGeom prst="rect">
            <a:avLst/>
          </a:prstGeom>
          <a:noFill/>
          <a:ln/>
        </p:spPr>
        <p:txBody>
          <a:bodyPr wrap="square" lIns="0" tIns="0" rIns="0" bIns="0" rtlCol="0" anchor="t"/>
          <a:lstStyle/>
          <a:p>
            <a:pPr indent="0" marL="0">
              <a:buNone/>
            </a:pPr>
            <a:r>
              <a:rPr lang="en-US" sz="1200" b="1" dirty="0">
                <a:solidFill>
                  <a:schemeClr val="accent3"/>
                </a:solidFill>
              </a:rPr>
              <a:t>柱③</a:t>
            </a:r>
            <a:endParaRPr lang="en-US" sz="1200" dirty="0"/>
          </a:p>
        </p:txBody>
      </p:sp>
      <p:sp>
        <p:nvSpPr>
          <p:cNvPr id="20" name="Text 15"/>
          <p:cNvSpPr txBox="1"/>
          <p:nvPr/>
        </p:nvSpPr>
        <p:spPr>
          <a:xfrm>
            <a:off x="8999068" y="3034264"/>
            <a:ext cx="2194560" cy="723207"/>
          </a:xfrm>
          <a:prstGeom prst="rect">
            <a:avLst/>
          </a:prstGeom>
          <a:noFill/>
          <a:ln/>
        </p:spPr>
        <p:txBody>
          <a:bodyPr wrap="square" lIns="0" tIns="0" rIns="0" bIns="0" rtlCol="0" anchor="t"/>
          <a:lstStyle/>
          <a:p>
            <a:pPr indent="0" marL="0">
              <a:buNone/>
            </a:pPr>
            <a:r>
              <a:rPr lang="en-US" sz="1500" b="1" dirty="0">
                <a:solidFill>
                  <a:schemeClr val="tx2"/>
                </a:solidFill>
              </a:rPr>
              <a:t>定着・</a:t>
            </a:r>
            <a:endParaRPr lang="en-US" sz="1500" dirty="0"/>
          </a:p>
          <a:p>
            <a:pPr indent="0" marL="0">
              <a:buNone/>
            </a:pPr>
            <a:r>
              <a:rPr lang="en-US" sz="1500" b="1" dirty="0">
                <a:solidFill>
                  <a:schemeClr val="tx2"/>
                </a:solidFill>
              </a:rPr>
              <a:t>社内展開</a:t>
            </a:r>
            <a:endParaRPr lang="en-US" sz="1500" dirty="0"/>
          </a:p>
        </p:txBody>
      </p:sp>
      <p:sp>
        <p:nvSpPr>
          <p:cNvPr id="21" name="Text 16"/>
          <p:cNvSpPr txBox="1"/>
          <p:nvPr/>
        </p:nvSpPr>
        <p:spPr>
          <a:xfrm>
            <a:off x="8313268" y="3912444"/>
            <a:ext cx="2834640" cy="1239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ご担当者様の社内コーチ化</a:t>
            </a:r>
            <a:endParaRPr lang="en-US" sz="1300" dirty="0"/>
          </a:p>
          <a:p>
            <a:pPr marL="177800" indent="-177800">
              <a:spcAft>
                <a:spcPts val="400"/>
              </a:spcAft>
              <a:buSzPct val="100000"/>
              <a:buChar char="•"/>
            </a:pPr>
            <a:r>
              <a:rPr lang="en-US" sz="1300" dirty="0">
                <a:solidFill>
                  <a:schemeClr val="tx1"/>
                </a:solidFill>
              </a:rPr>
              <a:t>手順書・動画・FAQの整備</a:t>
            </a:r>
            <a:endParaRPr lang="en-US" sz="1300" dirty="0"/>
          </a:p>
          <a:p>
            <a:pPr marL="177800" indent="-177800">
              <a:spcAft>
                <a:spcPts val="400"/>
              </a:spcAft>
              <a:buSzPct val="100000"/>
              <a:buChar char="•"/>
            </a:pPr>
            <a:r>
              <a:rPr lang="en-US" sz="1300" dirty="0">
                <a:solidFill>
                  <a:schemeClr val="tx1"/>
                </a:solidFill>
              </a:rPr>
              <a:t>部門別の段階展開</a:t>
            </a:r>
            <a:endParaRPr lang="en-US" sz="1300" dirty="0"/>
          </a:p>
        </p:txBody>
      </p:sp>
      <p:sp>
        <p:nvSpPr>
          <p:cNvPr id="22" name="Shape 17"/>
          <p:cNvSpPr/>
          <p:nvPr/>
        </p:nvSpPr>
        <p:spPr>
          <a:xfrm>
            <a:off x="860908" y="5441511"/>
            <a:ext cx="10469880" cy="371935"/>
          </a:xfrm>
          <a:prstGeom prst="roundRect">
            <a:avLst>
              <a:gd name="adj" fmla="val 14751"/>
            </a:avLst>
          </a:prstGeom>
          <a:solidFill>
            <a:schemeClr val="accent4">
              <a:alpha val="30000"/>
            </a:schemeClr>
          </a:solidFill>
          <a:ln/>
        </p:spPr>
      </p:sp>
      <p:sp>
        <p:nvSpPr>
          <p:cNvPr id="23" name="Text 18"/>
          <p:cNvSpPr txBox="1"/>
          <p:nvPr/>
        </p:nvSpPr>
        <p:spPr>
          <a:xfrm>
            <a:off x="1043788" y="5441511"/>
            <a:ext cx="10104120" cy="371935"/>
          </a:xfrm>
          <a:prstGeom prst="rect">
            <a:avLst/>
          </a:prstGeom>
          <a:noFill/>
          <a:ln/>
        </p:spPr>
        <p:txBody>
          <a:bodyPr wrap="square" lIns="0" tIns="0" rIns="0" bIns="0" rtlCol="0" anchor="ctr"/>
          <a:lstStyle/>
          <a:p>
            <a:pPr algn="ctr" indent="0" marL="0">
              <a:buNone/>
            </a:pPr>
            <a:r>
              <a:rPr lang="en-US" sz="1300" b="1" dirty="0">
                <a:solidFill>
                  <a:schemeClr val="tx2"/>
                </a:solidFill>
              </a:rPr>
              <a:t>効果測定：削減時間・利用率・費用対効果を毎月可視化し、月次会議でご報告</a:t>
            </a:r>
            <a:endParaRPr lang="en-US" sz="1300" dirty="0"/>
          </a:p>
        </p:txBody>
      </p:sp>
      <p:sp>
        <p:nvSpPr>
          <p:cNvPr id="24" name="Shape 19"/>
          <p:cNvSpPr/>
          <p:nvPr/>
        </p:nvSpPr>
        <p:spPr>
          <a:xfrm>
            <a:off x="860908" y="5896099"/>
            <a:ext cx="10469880" cy="371935"/>
          </a:xfrm>
          <a:prstGeom prst="roundRect">
            <a:avLst>
              <a:gd name="adj" fmla="val 14751"/>
            </a:avLst>
          </a:prstGeom>
          <a:solidFill>
            <a:schemeClr val="tx2">
              <a:alpha val="85000"/>
            </a:schemeClr>
          </a:solidFill>
          <a:ln/>
        </p:spPr>
      </p:sp>
      <p:sp>
        <p:nvSpPr>
          <p:cNvPr id="25" name="Text 20"/>
          <p:cNvSpPr txBox="1"/>
          <p:nvPr/>
        </p:nvSpPr>
        <p:spPr>
          <a:xfrm>
            <a:off x="1043788" y="5896099"/>
            <a:ext cx="10104120" cy="371935"/>
          </a:xfrm>
          <a:prstGeom prst="rect">
            <a:avLst/>
          </a:prstGeom>
          <a:noFill/>
          <a:ln/>
        </p:spPr>
        <p:txBody>
          <a:bodyPr wrap="square" lIns="0" tIns="0" rIns="0" bIns="0" rtlCol="0" anchor="ctr"/>
          <a:lstStyle/>
          <a:p>
            <a:pPr algn="ctr" indent="0" marL="0">
              <a:buNone/>
            </a:pPr>
            <a:r>
              <a:rPr lang="en-US" sz="1300" b="1" dirty="0">
                <a:solidFill>
                  <a:schemeClr val="bg1"/>
                </a:solidFill>
              </a:rPr>
              <a:t>ガバナンス：個人情報の取扱いルール・AI利用ガイドライン・セキュリティ研修</a:t>
            </a:r>
            <a:endParaRPr lang="en-US" sz="13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Dropbox から Google Drive への移行ステップ</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「先にルールと箱をつくり、次にデータを移す」順番で、部署単位で小さく確かめながら移行します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02｜ご提案内容　柱① Drive 移行・セキュアな共有</a:t>
            </a:r>
            <a:endParaRPr lang="en-US" sz="900" dirty="0"/>
          </a:p>
        </p:txBody>
      </p:sp>
      <p:sp>
        <p:nvSpPr>
          <p:cNvPr id="5" name="Shape 3"/>
          <p:cNvSpPr/>
          <p:nvPr/>
        </p:nvSpPr>
        <p:spPr>
          <a:xfrm>
            <a:off x="548640" y="1587850"/>
            <a:ext cx="2109155" cy="640555"/>
          </a:xfrm>
          <a:prstGeom prst="homePlate">
            <a:avLst/>
          </a:prstGeom>
          <a:solidFill>
            <a:schemeClr val="tx2"/>
          </a:solidFill>
          <a:ln/>
        </p:spPr>
      </p:sp>
      <p:sp>
        <p:nvSpPr>
          <p:cNvPr id="6" name="Text 4"/>
          <p:cNvSpPr txBox="1"/>
          <p:nvPr/>
        </p:nvSpPr>
        <p:spPr>
          <a:xfrm>
            <a:off x="731520" y="1587850"/>
            <a:ext cx="1651955" cy="640555"/>
          </a:xfrm>
          <a:prstGeom prst="rect">
            <a:avLst/>
          </a:prstGeom>
          <a:noFill/>
          <a:ln/>
        </p:spPr>
        <p:txBody>
          <a:bodyPr wrap="square" lIns="0" tIns="0" rIns="0" bIns="0" rtlCol="0" anchor="ctr"/>
          <a:lstStyle/>
          <a:p>
            <a:pPr indent="0" marL="0">
              <a:buNone/>
            </a:pPr>
            <a:r>
              <a:rPr lang="en-US" sz="1000" b="1" dirty="0">
                <a:solidFill>
                  <a:schemeClr val="bg1"/>
                </a:solidFill>
              </a:rPr>
              <a:t>STEP 1</a:t>
            </a:r>
            <a:endParaRPr lang="en-US" sz="1400" dirty="0"/>
          </a:p>
          <a:p>
            <a:pPr indent="0" marL="0">
              <a:buNone/>
            </a:pPr>
            <a:r>
              <a:rPr lang="en-US" sz="1300" b="1" dirty="0">
                <a:solidFill>
                  <a:schemeClr val="bg1"/>
                </a:solidFill>
              </a:rPr>
              <a:t>現状調査</a:t>
            </a:r>
            <a:endParaRPr lang="en-US" sz="1400" dirty="0"/>
          </a:p>
        </p:txBody>
      </p:sp>
      <p:sp>
        <p:nvSpPr>
          <p:cNvPr id="7" name="Shape 5"/>
          <p:cNvSpPr/>
          <p:nvPr/>
        </p:nvSpPr>
        <p:spPr>
          <a:xfrm>
            <a:off x="548640" y="2414372"/>
            <a:ext cx="2109155" cy="3099460"/>
          </a:xfrm>
          <a:prstGeom prst="roundRect">
            <a:avLst>
              <a:gd name="adj" fmla="val 4335"/>
            </a:avLst>
          </a:prstGeom>
          <a:solidFill>
            <a:schemeClr val="bg1"/>
          </a:solidFill>
          <a:ln w="9525">
            <a:solidFill>
              <a:srgbClr val="E2E1EE"/>
            </a:solidFill>
            <a:prstDash val="solid"/>
          </a:ln>
        </p:spPr>
      </p:sp>
      <p:sp>
        <p:nvSpPr>
          <p:cNvPr id="8" name="Text 6"/>
          <p:cNvSpPr txBox="1"/>
          <p:nvPr/>
        </p:nvSpPr>
        <p:spPr>
          <a:xfrm>
            <a:off x="658368" y="2569345"/>
            <a:ext cx="1926275" cy="2066306"/>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データ量・フォルダ構成の把握</a:t>
            </a:r>
            <a:endParaRPr lang="en-US" sz="1100" dirty="0"/>
          </a:p>
          <a:p>
            <a:pPr marL="177800" indent="-177800">
              <a:spcAft>
                <a:spcPts val="600"/>
              </a:spcAft>
              <a:buSzPct val="100000"/>
              <a:buChar char="•"/>
            </a:pPr>
            <a:r>
              <a:rPr lang="en-US" sz="1100" dirty="0">
                <a:solidFill>
                  <a:schemeClr val="tx1"/>
                </a:solidFill>
              </a:rPr>
              <a:t>外部共有リンク・共有先の洗い出し</a:t>
            </a:r>
            <a:endParaRPr lang="en-US" sz="1100" dirty="0"/>
          </a:p>
          <a:p>
            <a:pPr marL="177800" indent="-177800">
              <a:spcAft>
                <a:spcPts val="600"/>
              </a:spcAft>
              <a:buSzPct val="100000"/>
              <a:buChar char="•"/>
            </a:pPr>
            <a:r>
              <a:rPr lang="en-US" sz="1100" dirty="0">
                <a:solidFill>
                  <a:schemeClr val="tx1"/>
                </a:solidFill>
              </a:rPr>
              <a:t>個人情報を含むデータの特定</a:t>
            </a:r>
            <a:endParaRPr lang="en-US" sz="1100" dirty="0"/>
          </a:p>
        </p:txBody>
      </p:sp>
      <p:sp>
        <p:nvSpPr>
          <p:cNvPr id="9" name="Text 7"/>
          <p:cNvSpPr txBox="1"/>
          <p:nvPr/>
        </p:nvSpPr>
        <p:spPr>
          <a:xfrm>
            <a:off x="685800" y="4687309"/>
            <a:ext cx="1834835" cy="258288"/>
          </a:xfrm>
          <a:prstGeom prst="rect">
            <a:avLst/>
          </a:prstGeom>
          <a:noFill/>
          <a:ln/>
        </p:spPr>
        <p:txBody>
          <a:bodyPr wrap="square" lIns="0" tIns="0" rIns="0" bIns="0" rtlCol="0" anchor="t"/>
          <a:lstStyle/>
          <a:p>
            <a:pPr indent="0" marL="0">
              <a:buNone/>
            </a:pPr>
            <a:r>
              <a:rPr lang="en-US" sz="1000" b="1" dirty="0">
                <a:solidFill>
                  <a:schemeClr val="accent1"/>
                </a:solidFill>
              </a:rPr>
              <a:t>成果物</a:t>
            </a:r>
            <a:endParaRPr lang="en-US" sz="1000" dirty="0"/>
          </a:p>
        </p:txBody>
      </p:sp>
      <p:sp>
        <p:nvSpPr>
          <p:cNvPr id="10" name="Text 8"/>
          <p:cNvSpPr txBox="1"/>
          <p:nvPr/>
        </p:nvSpPr>
        <p:spPr>
          <a:xfrm>
            <a:off x="685800" y="4945598"/>
            <a:ext cx="1834835" cy="516577"/>
          </a:xfrm>
          <a:prstGeom prst="rect">
            <a:avLst/>
          </a:prstGeom>
          <a:noFill/>
          <a:ln/>
        </p:spPr>
        <p:txBody>
          <a:bodyPr wrap="square" lIns="0" tIns="0" rIns="0" bIns="0" rtlCol="0" anchor="t"/>
          <a:lstStyle/>
          <a:p>
            <a:pPr indent="0" marL="0">
              <a:buNone/>
            </a:pPr>
            <a:r>
              <a:rPr lang="en-US" sz="1100" b="1" dirty="0">
                <a:solidFill>
                  <a:schemeClr val="tx2"/>
                </a:solidFill>
              </a:rPr>
              <a:t>現状調査シート</a:t>
            </a:r>
            <a:endParaRPr lang="en-US" sz="1100" dirty="0"/>
          </a:p>
        </p:txBody>
      </p:sp>
      <p:sp>
        <p:nvSpPr>
          <p:cNvPr id="11" name="Shape 9"/>
          <p:cNvSpPr/>
          <p:nvPr/>
        </p:nvSpPr>
        <p:spPr>
          <a:xfrm>
            <a:off x="2794955" y="1587850"/>
            <a:ext cx="2109155" cy="640555"/>
          </a:xfrm>
          <a:prstGeom prst="chevron">
            <a:avLst/>
          </a:prstGeom>
          <a:solidFill>
            <a:schemeClr val="accent1"/>
          </a:solidFill>
          <a:ln/>
        </p:spPr>
      </p:sp>
      <p:sp>
        <p:nvSpPr>
          <p:cNvPr id="12" name="Text 10"/>
          <p:cNvSpPr txBox="1"/>
          <p:nvPr/>
        </p:nvSpPr>
        <p:spPr>
          <a:xfrm>
            <a:off x="3206435" y="1587850"/>
            <a:ext cx="1423355" cy="640555"/>
          </a:xfrm>
          <a:prstGeom prst="rect">
            <a:avLst/>
          </a:prstGeom>
          <a:noFill/>
          <a:ln/>
        </p:spPr>
        <p:txBody>
          <a:bodyPr wrap="square" lIns="0" tIns="0" rIns="0" bIns="0" rtlCol="0" anchor="ctr"/>
          <a:lstStyle/>
          <a:p>
            <a:pPr indent="0" marL="0">
              <a:buNone/>
            </a:pPr>
            <a:r>
              <a:rPr lang="en-US" sz="1000" b="1" dirty="0">
                <a:solidFill>
                  <a:schemeClr val="bg1"/>
                </a:solidFill>
              </a:rPr>
              <a:t>STEP 2</a:t>
            </a:r>
            <a:endParaRPr lang="en-US" sz="1400" dirty="0"/>
          </a:p>
          <a:p>
            <a:pPr indent="0" marL="0">
              <a:buNone/>
            </a:pPr>
            <a:r>
              <a:rPr lang="en-US" sz="1300" b="1" dirty="0">
                <a:solidFill>
                  <a:schemeClr val="bg1"/>
                </a:solidFill>
              </a:rPr>
              <a:t>設計</a:t>
            </a:r>
            <a:endParaRPr lang="en-US" sz="1400" dirty="0"/>
          </a:p>
        </p:txBody>
      </p:sp>
      <p:sp>
        <p:nvSpPr>
          <p:cNvPr id="13" name="Shape 11"/>
          <p:cNvSpPr/>
          <p:nvPr/>
        </p:nvSpPr>
        <p:spPr>
          <a:xfrm>
            <a:off x="2794955" y="2414372"/>
            <a:ext cx="2109155" cy="3099460"/>
          </a:xfrm>
          <a:prstGeom prst="roundRect">
            <a:avLst>
              <a:gd name="adj" fmla="val 4335"/>
            </a:avLst>
          </a:prstGeom>
          <a:solidFill>
            <a:schemeClr val="bg1"/>
          </a:solidFill>
          <a:ln w="9525">
            <a:solidFill>
              <a:srgbClr val="E2E1EE"/>
            </a:solidFill>
            <a:prstDash val="solid"/>
          </a:ln>
        </p:spPr>
      </p:sp>
      <p:sp>
        <p:nvSpPr>
          <p:cNvPr id="14" name="Text 12"/>
          <p:cNvSpPr txBox="1"/>
          <p:nvPr/>
        </p:nvSpPr>
        <p:spPr>
          <a:xfrm>
            <a:off x="2904683" y="2569345"/>
            <a:ext cx="1926275" cy="2066306"/>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共有ドライブの構成（部門・用途別）</a:t>
            </a:r>
            <a:endParaRPr lang="en-US" sz="1100" dirty="0"/>
          </a:p>
          <a:p>
            <a:pPr marL="177800" indent="-177800">
              <a:spcAft>
                <a:spcPts val="600"/>
              </a:spcAft>
              <a:buSzPct val="100000"/>
              <a:buChar char="•"/>
            </a:pPr>
            <a:r>
              <a:rPr lang="en-US" sz="1100" dirty="0">
                <a:solidFill>
                  <a:schemeClr val="tx1"/>
                </a:solidFill>
              </a:rPr>
              <a:t>メンバー・権限の設計</a:t>
            </a:r>
            <a:endParaRPr lang="en-US" sz="1100" dirty="0"/>
          </a:p>
          <a:p>
            <a:pPr marL="177800" indent="-177800">
              <a:spcAft>
                <a:spcPts val="600"/>
              </a:spcAft>
              <a:buSzPct val="100000"/>
              <a:buChar char="•"/>
            </a:pPr>
            <a:r>
              <a:rPr lang="en-US" sz="1100" dirty="0">
                <a:solidFill>
                  <a:schemeClr val="tx1"/>
                </a:solidFill>
              </a:rPr>
              <a:t>フォルダ・ファイル命名ルール</a:t>
            </a:r>
            <a:endParaRPr lang="en-US" sz="1100" dirty="0"/>
          </a:p>
        </p:txBody>
      </p:sp>
      <p:sp>
        <p:nvSpPr>
          <p:cNvPr id="15" name="Text 13"/>
          <p:cNvSpPr txBox="1"/>
          <p:nvPr/>
        </p:nvSpPr>
        <p:spPr>
          <a:xfrm>
            <a:off x="2932115" y="4687309"/>
            <a:ext cx="1834835" cy="258288"/>
          </a:xfrm>
          <a:prstGeom prst="rect">
            <a:avLst/>
          </a:prstGeom>
          <a:noFill/>
          <a:ln/>
        </p:spPr>
        <p:txBody>
          <a:bodyPr wrap="square" lIns="0" tIns="0" rIns="0" bIns="0" rtlCol="0" anchor="t"/>
          <a:lstStyle/>
          <a:p>
            <a:pPr indent="0" marL="0">
              <a:buNone/>
            </a:pPr>
            <a:r>
              <a:rPr lang="en-US" sz="1000" b="1" dirty="0">
                <a:solidFill>
                  <a:schemeClr val="accent1"/>
                </a:solidFill>
              </a:rPr>
              <a:t>成果物</a:t>
            </a:r>
            <a:endParaRPr lang="en-US" sz="1000" dirty="0"/>
          </a:p>
        </p:txBody>
      </p:sp>
      <p:sp>
        <p:nvSpPr>
          <p:cNvPr id="16" name="Text 14"/>
          <p:cNvSpPr txBox="1"/>
          <p:nvPr/>
        </p:nvSpPr>
        <p:spPr>
          <a:xfrm>
            <a:off x="2932115" y="4945598"/>
            <a:ext cx="1834835" cy="516577"/>
          </a:xfrm>
          <a:prstGeom prst="rect">
            <a:avLst/>
          </a:prstGeom>
          <a:noFill/>
          <a:ln/>
        </p:spPr>
        <p:txBody>
          <a:bodyPr wrap="square" lIns="0" tIns="0" rIns="0" bIns="0" rtlCol="0" anchor="t"/>
          <a:lstStyle/>
          <a:p>
            <a:pPr indent="0" marL="0">
              <a:buNone/>
            </a:pPr>
            <a:r>
              <a:rPr lang="en-US" sz="1100" b="1" dirty="0">
                <a:solidFill>
                  <a:schemeClr val="tx2"/>
                </a:solidFill>
              </a:rPr>
              <a:t>共有ドライブ設計書</a:t>
            </a:r>
            <a:endParaRPr lang="en-US" sz="1100" dirty="0"/>
          </a:p>
        </p:txBody>
      </p:sp>
      <p:sp>
        <p:nvSpPr>
          <p:cNvPr id="17" name="Shape 15"/>
          <p:cNvSpPr/>
          <p:nvPr/>
        </p:nvSpPr>
        <p:spPr>
          <a:xfrm>
            <a:off x="5041270" y="1587850"/>
            <a:ext cx="2109155" cy="640555"/>
          </a:xfrm>
          <a:prstGeom prst="chevron">
            <a:avLst/>
          </a:prstGeom>
          <a:solidFill>
            <a:schemeClr val="tx2"/>
          </a:solidFill>
          <a:ln/>
        </p:spPr>
      </p:sp>
      <p:sp>
        <p:nvSpPr>
          <p:cNvPr id="18" name="Text 16"/>
          <p:cNvSpPr txBox="1"/>
          <p:nvPr/>
        </p:nvSpPr>
        <p:spPr>
          <a:xfrm>
            <a:off x="5452750" y="1587850"/>
            <a:ext cx="1423355" cy="640555"/>
          </a:xfrm>
          <a:prstGeom prst="rect">
            <a:avLst/>
          </a:prstGeom>
          <a:noFill/>
          <a:ln/>
        </p:spPr>
        <p:txBody>
          <a:bodyPr wrap="square" lIns="0" tIns="0" rIns="0" bIns="0" rtlCol="0" anchor="ctr"/>
          <a:lstStyle/>
          <a:p>
            <a:pPr indent="0" marL="0">
              <a:buNone/>
            </a:pPr>
            <a:r>
              <a:rPr lang="en-US" sz="1000" b="1" dirty="0">
                <a:solidFill>
                  <a:schemeClr val="bg1"/>
                </a:solidFill>
              </a:rPr>
              <a:t>STEP 3</a:t>
            </a:r>
            <a:endParaRPr lang="en-US" sz="1400" dirty="0"/>
          </a:p>
          <a:p>
            <a:pPr indent="0" marL="0">
              <a:buNone/>
            </a:pPr>
            <a:r>
              <a:rPr lang="en-US" sz="1300" b="1" dirty="0">
                <a:solidFill>
                  <a:schemeClr val="bg1"/>
                </a:solidFill>
              </a:rPr>
              <a:t>ルール策定</a:t>
            </a:r>
            <a:endParaRPr lang="en-US" sz="1400" dirty="0"/>
          </a:p>
        </p:txBody>
      </p:sp>
      <p:sp>
        <p:nvSpPr>
          <p:cNvPr id="19" name="Shape 17"/>
          <p:cNvSpPr/>
          <p:nvPr/>
        </p:nvSpPr>
        <p:spPr>
          <a:xfrm>
            <a:off x="5041270" y="2414372"/>
            <a:ext cx="2109155" cy="3099460"/>
          </a:xfrm>
          <a:prstGeom prst="roundRect">
            <a:avLst>
              <a:gd name="adj" fmla="val 4335"/>
            </a:avLst>
          </a:prstGeom>
          <a:solidFill>
            <a:schemeClr val="bg1"/>
          </a:solidFill>
          <a:ln w="9525">
            <a:solidFill>
              <a:srgbClr val="E2E1EE"/>
            </a:solidFill>
            <a:prstDash val="solid"/>
          </a:ln>
        </p:spPr>
      </p:sp>
      <p:sp>
        <p:nvSpPr>
          <p:cNvPr id="20" name="Text 18"/>
          <p:cNvSpPr txBox="1"/>
          <p:nvPr/>
        </p:nvSpPr>
        <p:spPr>
          <a:xfrm>
            <a:off x="5150998" y="2569345"/>
            <a:ext cx="1926275" cy="2066306"/>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情報区分と取扱いルール</a:t>
            </a:r>
            <a:endParaRPr lang="en-US" sz="1100" dirty="0"/>
          </a:p>
          <a:p>
            <a:pPr marL="177800" indent="-177800">
              <a:spcAft>
                <a:spcPts val="600"/>
              </a:spcAft>
              <a:buSzPct val="100000"/>
              <a:buChar char="•"/>
            </a:pPr>
            <a:r>
              <a:rPr lang="en-US" sz="1100" dirty="0">
                <a:solidFill>
                  <a:schemeClr val="tx1"/>
                </a:solidFill>
              </a:rPr>
              <a:t>外部共有の申請・承認手順</a:t>
            </a:r>
            <a:endParaRPr lang="en-US" sz="1100" dirty="0"/>
          </a:p>
          <a:p>
            <a:pPr marL="177800" indent="-177800">
              <a:spcAft>
                <a:spcPts val="600"/>
              </a:spcAft>
              <a:buSzPct val="100000"/>
              <a:buChar char="•"/>
            </a:pPr>
            <a:r>
              <a:rPr lang="en-US" sz="1100" dirty="0">
                <a:solidFill>
                  <a:schemeClr val="tx1"/>
                </a:solidFill>
              </a:rPr>
              <a:t>管理コンソールの共有設定</a:t>
            </a:r>
            <a:endParaRPr lang="en-US" sz="1100" dirty="0"/>
          </a:p>
        </p:txBody>
      </p:sp>
      <p:sp>
        <p:nvSpPr>
          <p:cNvPr id="21" name="Text 19"/>
          <p:cNvSpPr txBox="1"/>
          <p:nvPr/>
        </p:nvSpPr>
        <p:spPr>
          <a:xfrm>
            <a:off x="5178430" y="4687309"/>
            <a:ext cx="1834835" cy="258288"/>
          </a:xfrm>
          <a:prstGeom prst="rect">
            <a:avLst/>
          </a:prstGeom>
          <a:noFill/>
          <a:ln/>
        </p:spPr>
        <p:txBody>
          <a:bodyPr wrap="square" lIns="0" tIns="0" rIns="0" bIns="0" rtlCol="0" anchor="t"/>
          <a:lstStyle/>
          <a:p>
            <a:pPr indent="0" marL="0">
              <a:buNone/>
            </a:pPr>
            <a:r>
              <a:rPr lang="en-US" sz="1000" b="1" dirty="0">
                <a:solidFill>
                  <a:schemeClr val="accent1"/>
                </a:solidFill>
              </a:rPr>
              <a:t>成果物</a:t>
            </a:r>
            <a:endParaRPr lang="en-US" sz="1000" dirty="0"/>
          </a:p>
        </p:txBody>
      </p:sp>
      <p:sp>
        <p:nvSpPr>
          <p:cNvPr id="22" name="Text 20"/>
          <p:cNvSpPr txBox="1"/>
          <p:nvPr/>
        </p:nvSpPr>
        <p:spPr>
          <a:xfrm>
            <a:off x="5178430" y="4945598"/>
            <a:ext cx="1834835" cy="516577"/>
          </a:xfrm>
          <a:prstGeom prst="rect">
            <a:avLst/>
          </a:prstGeom>
          <a:noFill/>
          <a:ln/>
        </p:spPr>
        <p:txBody>
          <a:bodyPr wrap="square" lIns="0" tIns="0" rIns="0" bIns="0" rtlCol="0" anchor="t"/>
          <a:lstStyle/>
          <a:p>
            <a:pPr indent="0" marL="0">
              <a:buNone/>
            </a:pPr>
            <a:r>
              <a:rPr lang="en-US" sz="1100" b="1" dirty="0">
                <a:solidFill>
                  <a:schemeClr val="tx2"/>
                </a:solidFill>
              </a:rPr>
              <a:t>運用ルール・設定一覧</a:t>
            </a:r>
            <a:endParaRPr lang="en-US" sz="1100" dirty="0"/>
          </a:p>
        </p:txBody>
      </p:sp>
      <p:sp>
        <p:nvSpPr>
          <p:cNvPr id="23" name="Shape 21"/>
          <p:cNvSpPr/>
          <p:nvPr/>
        </p:nvSpPr>
        <p:spPr>
          <a:xfrm>
            <a:off x="7287585" y="1587850"/>
            <a:ext cx="2109155" cy="640555"/>
          </a:xfrm>
          <a:prstGeom prst="chevron">
            <a:avLst/>
          </a:prstGeom>
          <a:solidFill>
            <a:schemeClr val="accent1"/>
          </a:solidFill>
          <a:ln/>
        </p:spPr>
      </p:sp>
      <p:sp>
        <p:nvSpPr>
          <p:cNvPr id="24" name="Text 22"/>
          <p:cNvSpPr txBox="1"/>
          <p:nvPr/>
        </p:nvSpPr>
        <p:spPr>
          <a:xfrm>
            <a:off x="7699065" y="1587850"/>
            <a:ext cx="1423355" cy="640555"/>
          </a:xfrm>
          <a:prstGeom prst="rect">
            <a:avLst/>
          </a:prstGeom>
          <a:noFill/>
          <a:ln/>
        </p:spPr>
        <p:txBody>
          <a:bodyPr wrap="square" lIns="0" tIns="0" rIns="0" bIns="0" rtlCol="0" anchor="ctr"/>
          <a:lstStyle/>
          <a:p>
            <a:pPr indent="0" marL="0">
              <a:buNone/>
            </a:pPr>
            <a:r>
              <a:rPr lang="en-US" sz="1000" b="1" dirty="0">
                <a:solidFill>
                  <a:schemeClr val="bg1"/>
                </a:solidFill>
              </a:rPr>
              <a:t>STEP 4</a:t>
            </a:r>
            <a:endParaRPr lang="en-US" sz="1400" dirty="0"/>
          </a:p>
          <a:p>
            <a:pPr indent="0" marL="0">
              <a:buNone/>
            </a:pPr>
            <a:r>
              <a:rPr lang="en-US" sz="1300" b="1" dirty="0">
                <a:solidFill>
                  <a:schemeClr val="bg1"/>
                </a:solidFill>
              </a:rPr>
              <a:t>移行</a:t>
            </a:r>
            <a:endParaRPr lang="en-US" sz="1400" dirty="0"/>
          </a:p>
        </p:txBody>
      </p:sp>
      <p:sp>
        <p:nvSpPr>
          <p:cNvPr id="25" name="Shape 23"/>
          <p:cNvSpPr/>
          <p:nvPr/>
        </p:nvSpPr>
        <p:spPr>
          <a:xfrm>
            <a:off x="7287585" y="2414372"/>
            <a:ext cx="2109155" cy="3099460"/>
          </a:xfrm>
          <a:prstGeom prst="roundRect">
            <a:avLst>
              <a:gd name="adj" fmla="val 4335"/>
            </a:avLst>
          </a:prstGeom>
          <a:solidFill>
            <a:schemeClr val="bg1"/>
          </a:solidFill>
          <a:ln w="9525">
            <a:solidFill>
              <a:srgbClr val="E2E1EE"/>
            </a:solidFill>
            <a:prstDash val="solid"/>
          </a:ln>
        </p:spPr>
      </p:sp>
      <p:sp>
        <p:nvSpPr>
          <p:cNvPr id="26" name="Text 24"/>
          <p:cNvSpPr txBox="1"/>
          <p:nvPr/>
        </p:nvSpPr>
        <p:spPr>
          <a:xfrm>
            <a:off x="7397313" y="2569345"/>
            <a:ext cx="1926275" cy="2066306"/>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不要な共有リンクを事前に整理</a:t>
            </a:r>
            <a:endParaRPr lang="en-US" sz="1100" dirty="0"/>
          </a:p>
          <a:p>
            <a:pPr marL="177800" indent="-177800">
              <a:spcAft>
                <a:spcPts val="600"/>
              </a:spcAft>
              <a:buSzPct val="100000"/>
              <a:buChar char="•"/>
            </a:pPr>
            <a:r>
              <a:rPr lang="en-US" sz="1100" dirty="0">
                <a:solidFill>
                  <a:schemeClr val="tx1"/>
                </a:solidFill>
              </a:rPr>
              <a:t>1部署でパイロット移行</a:t>
            </a:r>
            <a:endParaRPr lang="en-US" sz="1100" dirty="0"/>
          </a:p>
          <a:p>
            <a:pPr marL="177800" indent="-177800">
              <a:spcAft>
                <a:spcPts val="600"/>
              </a:spcAft>
              <a:buSzPct val="100000"/>
              <a:buChar char="•"/>
            </a:pPr>
            <a:r>
              <a:rPr lang="en-US" sz="1100" dirty="0">
                <a:solidFill>
                  <a:schemeClr val="tx1"/>
                </a:solidFill>
              </a:rPr>
              <a:t>部署単位で本移行・差分移行</a:t>
            </a:r>
            <a:endParaRPr lang="en-US" sz="1100" dirty="0"/>
          </a:p>
        </p:txBody>
      </p:sp>
      <p:sp>
        <p:nvSpPr>
          <p:cNvPr id="27" name="Text 25"/>
          <p:cNvSpPr txBox="1"/>
          <p:nvPr/>
        </p:nvSpPr>
        <p:spPr>
          <a:xfrm>
            <a:off x="7424745" y="4687309"/>
            <a:ext cx="1834835" cy="258288"/>
          </a:xfrm>
          <a:prstGeom prst="rect">
            <a:avLst/>
          </a:prstGeom>
          <a:noFill/>
          <a:ln/>
        </p:spPr>
        <p:txBody>
          <a:bodyPr wrap="square" lIns="0" tIns="0" rIns="0" bIns="0" rtlCol="0" anchor="t"/>
          <a:lstStyle/>
          <a:p>
            <a:pPr indent="0" marL="0">
              <a:buNone/>
            </a:pPr>
            <a:r>
              <a:rPr lang="en-US" sz="1000" b="1" dirty="0">
                <a:solidFill>
                  <a:schemeClr val="accent1"/>
                </a:solidFill>
              </a:rPr>
              <a:t>成果物</a:t>
            </a:r>
            <a:endParaRPr lang="en-US" sz="1000" dirty="0"/>
          </a:p>
        </p:txBody>
      </p:sp>
      <p:sp>
        <p:nvSpPr>
          <p:cNvPr id="28" name="Text 26"/>
          <p:cNvSpPr txBox="1"/>
          <p:nvPr/>
        </p:nvSpPr>
        <p:spPr>
          <a:xfrm>
            <a:off x="7424745" y="4945598"/>
            <a:ext cx="1834835" cy="516577"/>
          </a:xfrm>
          <a:prstGeom prst="rect">
            <a:avLst/>
          </a:prstGeom>
          <a:noFill/>
          <a:ln/>
        </p:spPr>
        <p:txBody>
          <a:bodyPr wrap="square" lIns="0" tIns="0" rIns="0" bIns="0" rtlCol="0" anchor="t"/>
          <a:lstStyle/>
          <a:p>
            <a:pPr indent="0" marL="0">
              <a:buNone/>
            </a:pPr>
            <a:r>
              <a:rPr lang="en-US" sz="1100" b="1" dirty="0">
                <a:solidFill>
                  <a:schemeClr val="tx2"/>
                </a:solidFill>
              </a:rPr>
              <a:t>移行チェックリスト</a:t>
            </a:r>
            <a:endParaRPr lang="en-US" sz="1100" dirty="0"/>
          </a:p>
        </p:txBody>
      </p:sp>
      <p:sp>
        <p:nvSpPr>
          <p:cNvPr id="29" name="Shape 27"/>
          <p:cNvSpPr/>
          <p:nvPr/>
        </p:nvSpPr>
        <p:spPr>
          <a:xfrm>
            <a:off x="9533900" y="1587850"/>
            <a:ext cx="2109155" cy="640555"/>
          </a:xfrm>
          <a:prstGeom prst="chevron">
            <a:avLst/>
          </a:prstGeom>
          <a:solidFill>
            <a:schemeClr val="tx2"/>
          </a:solidFill>
          <a:ln/>
        </p:spPr>
      </p:sp>
      <p:sp>
        <p:nvSpPr>
          <p:cNvPr id="30" name="Text 28"/>
          <p:cNvSpPr txBox="1"/>
          <p:nvPr/>
        </p:nvSpPr>
        <p:spPr>
          <a:xfrm>
            <a:off x="9945380" y="1587850"/>
            <a:ext cx="1423355" cy="640555"/>
          </a:xfrm>
          <a:prstGeom prst="rect">
            <a:avLst/>
          </a:prstGeom>
          <a:noFill/>
          <a:ln/>
        </p:spPr>
        <p:txBody>
          <a:bodyPr wrap="square" lIns="0" tIns="0" rIns="0" bIns="0" rtlCol="0" anchor="ctr"/>
          <a:lstStyle/>
          <a:p>
            <a:pPr indent="0" marL="0">
              <a:buNone/>
            </a:pPr>
            <a:r>
              <a:rPr lang="en-US" sz="1000" b="1" dirty="0">
                <a:solidFill>
                  <a:schemeClr val="bg1"/>
                </a:solidFill>
              </a:rPr>
              <a:t>STEP 5</a:t>
            </a:r>
            <a:endParaRPr lang="en-US" sz="1400" dirty="0"/>
          </a:p>
          <a:p>
            <a:pPr indent="0" marL="0">
              <a:buNone/>
            </a:pPr>
            <a:r>
              <a:rPr lang="en-US" sz="1300" b="1" dirty="0">
                <a:solidFill>
                  <a:schemeClr val="bg1"/>
                </a:solidFill>
              </a:rPr>
              <a:t>切替・定着</a:t>
            </a:r>
            <a:endParaRPr lang="en-US" sz="1400" dirty="0"/>
          </a:p>
        </p:txBody>
      </p:sp>
      <p:sp>
        <p:nvSpPr>
          <p:cNvPr id="31" name="Shape 29"/>
          <p:cNvSpPr/>
          <p:nvPr/>
        </p:nvSpPr>
        <p:spPr>
          <a:xfrm>
            <a:off x="9533900" y="2414372"/>
            <a:ext cx="2109155" cy="3099460"/>
          </a:xfrm>
          <a:prstGeom prst="roundRect">
            <a:avLst>
              <a:gd name="adj" fmla="val 4335"/>
            </a:avLst>
          </a:prstGeom>
          <a:solidFill>
            <a:schemeClr val="bg1"/>
          </a:solidFill>
          <a:ln w="9525">
            <a:solidFill>
              <a:srgbClr val="E2E1EE"/>
            </a:solidFill>
            <a:prstDash val="solid"/>
          </a:ln>
        </p:spPr>
      </p:sp>
      <p:sp>
        <p:nvSpPr>
          <p:cNvPr id="32" name="Text 30"/>
          <p:cNvSpPr txBox="1"/>
          <p:nvPr/>
        </p:nvSpPr>
        <p:spPr>
          <a:xfrm>
            <a:off x="9643628" y="2569345"/>
            <a:ext cx="1926275" cy="2066306"/>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切替前に Drive 操作ガイドを配布</a:t>
            </a:r>
            <a:endParaRPr lang="en-US" sz="1100" dirty="0"/>
          </a:p>
          <a:p>
            <a:pPr marL="177800" indent="-177800">
              <a:spcAft>
                <a:spcPts val="600"/>
              </a:spcAft>
              <a:buSzPct val="100000"/>
              <a:buChar char="•"/>
            </a:pPr>
            <a:r>
              <a:rPr lang="en-US" sz="1100" dirty="0">
                <a:solidFill>
                  <a:schemeClr val="tx1"/>
                </a:solidFill>
              </a:rPr>
              <a:t>Dropbox を読み取り専用に</a:t>
            </a:r>
            <a:endParaRPr lang="en-US" sz="1100" dirty="0"/>
          </a:p>
          <a:p>
            <a:pPr marL="177800" indent="-177800">
              <a:spcAft>
                <a:spcPts val="600"/>
              </a:spcAft>
              <a:buSzPct val="100000"/>
              <a:buChar char="•"/>
            </a:pPr>
            <a:r>
              <a:rPr lang="en-US" sz="1100" dirty="0">
                <a:solidFill>
                  <a:schemeClr val="tx1"/>
                </a:solidFill>
              </a:rPr>
              <a:t>問い合わせ対応・FAQ 整備</a:t>
            </a:r>
            <a:endParaRPr lang="en-US" sz="1100" dirty="0"/>
          </a:p>
          <a:p>
            <a:pPr marL="177800" indent="-177800">
              <a:spcAft>
                <a:spcPts val="600"/>
              </a:spcAft>
              <a:buSzPct val="100000"/>
              <a:buChar char="•"/>
            </a:pPr>
            <a:r>
              <a:rPr lang="en-US" sz="1100" dirty="0">
                <a:solidFill>
                  <a:schemeClr val="tx1"/>
                </a:solidFill>
              </a:rPr>
              <a:t>Dropbox 解約</a:t>
            </a:r>
            <a:endParaRPr lang="en-US" sz="1100" dirty="0"/>
          </a:p>
        </p:txBody>
      </p:sp>
      <p:sp>
        <p:nvSpPr>
          <p:cNvPr id="33" name="Text 31"/>
          <p:cNvSpPr txBox="1"/>
          <p:nvPr/>
        </p:nvSpPr>
        <p:spPr>
          <a:xfrm>
            <a:off x="9671060" y="4687309"/>
            <a:ext cx="1834835" cy="258288"/>
          </a:xfrm>
          <a:prstGeom prst="rect">
            <a:avLst/>
          </a:prstGeom>
          <a:noFill/>
          <a:ln/>
        </p:spPr>
        <p:txBody>
          <a:bodyPr wrap="square" lIns="0" tIns="0" rIns="0" bIns="0" rtlCol="0" anchor="t"/>
          <a:lstStyle/>
          <a:p>
            <a:pPr indent="0" marL="0">
              <a:buNone/>
            </a:pPr>
            <a:r>
              <a:rPr lang="en-US" sz="1000" b="1" dirty="0">
                <a:solidFill>
                  <a:schemeClr val="accent1"/>
                </a:solidFill>
              </a:rPr>
              <a:t>成果物</a:t>
            </a:r>
            <a:endParaRPr lang="en-US" sz="1000" dirty="0"/>
          </a:p>
        </p:txBody>
      </p:sp>
      <p:sp>
        <p:nvSpPr>
          <p:cNvPr id="34" name="Text 32"/>
          <p:cNvSpPr txBox="1"/>
          <p:nvPr/>
        </p:nvSpPr>
        <p:spPr>
          <a:xfrm>
            <a:off x="9671060" y="4945598"/>
            <a:ext cx="1834835" cy="516577"/>
          </a:xfrm>
          <a:prstGeom prst="rect">
            <a:avLst/>
          </a:prstGeom>
          <a:noFill/>
          <a:ln/>
        </p:spPr>
        <p:txBody>
          <a:bodyPr wrap="square" lIns="0" tIns="0" rIns="0" bIns="0" rtlCol="0" anchor="t"/>
          <a:lstStyle/>
          <a:p>
            <a:pPr indent="0" marL="0">
              <a:buNone/>
            </a:pPr>
            <a:r>
              <a:rPr lang="en-US" sz="1100" b="1" dirty="0">
                <a:solidFill>
                  <a:schemeClr val="tx2"/>
                </a:solidFill>
              </a:rPr>
              <a:t>切替完了報告</a:t>
            </a:r>
            <a:endParaRPr lang="en-US" sz="1100" dirty="0"/>
          </a:p>
        </p:txBody>
      </p:sp>
      <p:sp>
        <p:nvSpPr>
          <p:cNvPr id="35" name="Shape 33"/>
          <p:cNvSpPr/>
          <p:nvPr/>
        </p:nvSpPr>
        <p:spPr>
          <a:xfrm>
            <a:off x="548640" y="5668805"/>
            <a:ext cx="11094415" cy="640555"/>
          </a:xfrm>
          <a:prstGeom prst="roundRect">
            <a:avLst>
              <a:gd name="adj" fmla="val 14275"/>
            </a:avLst>
          </a:prstGeom>
          <a:solidFill>
            <a:schemeClr val="accent3">
              <a:alpha val="12000"/>
            </a:schemeClr>
          </a:solidFill>
          <a:ln/>
        </p:spPr>
      </p:sp>
      <p:pic>
        <p:nvPicPr>
          <p:cNvPr id="36" name="Image 0" descr="check-mark-button">    </p:cNvPr>
          <p:cNvPicPr>
            <a:picLocks noChangeAspect="1"/>
          </p:cNvPicPr>
          <p:nvPr/>
        </p:nvPicPr>
        <p:blipFill>
          <a:blip r:embed="rId1"/>
          <a:stretch>
            <a:fillRect/>
          </a:stretch>
        </p:blipFill>
        <p:spPr>
          <a:xfrm>
            <a:off x="675284" y="5768255"/>
            <a:ext cx="441655" cy="441655"/>
          </a:xfrm>
          <a:prstGeom prst="rect">
            <a:avLst/>
          </a:prstGeom>
        </p:spPr>
      </p:pic>
      <p:sp>
        <p:nvSpPr>
          <p:cNvPr id="37" name="Text 34"/>
          <p:cNvSpPr txBox="1"/>
          <p:nvPr/>
        </p:nvSpPr>
        <p:spPr>
          <a:xfrm>
            <a:off x="1234440" y="5668805"/>
            <a:ext cx="10225735" cy="640555"/>
          </a:xfrm>
          <a:prstGeom prst="rect">
            <a:avLst/>
          </a:prstGeom>
          <a:noFill/>
          <a:ln/>
        </p:spPr>
        <p:txBody>
          <a:bodyPr wrap="square" lIns="0" tIns="0" rIns="0" bIns="0" rtlCol="0" anchor="ctr"/>
          <a:lstStyle/>
          <a:p>
            <a:pPr indent="0" marL="0">
              <a:buNone/>
            </a:pPr>
            <a:r>
              <a:rPr lang="en-US" sz="1100" dirty="0">
                <a:solidFill>
                  <a:schemeClr val="tx1"/>
                </a:solidFill>
              </a:rPr>
              <a:t>Google 公式の Dropbox 移行機能（2026年1月一般提供）で、ファイル・フォルダ・権限を移行し、チームフォルダは共有ドライブへ。Dropbox の「リンクを知っている全員」共有はそのまま引き継がれるため、移行前の権限整理が欠かせません。※ Dropbox のチーム（ビジネス）プランが前提。変更履歴や外部ユーザー所有のファイルは対象外</a:t>
            </a:r>
            <a:endParaRPr lang="en-US" sz="11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「リンクを開いた人が見られる」不安は、仕組みで大きく減らせます</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原因の多くは、リンクの公開範囲の設定と、共有時に付与されて残った閲覧権限にあります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02｜ご提案内容　柱① Drive 移行・セキュアな共有</a:t>
            </a:r>
            <a:endParaRPr lang="en-US" sz="900" dirty="0"/>
          </a:p>
        </p:txBody>
      </p:sp>
      <p:sp>
        <p:nvSpPr>
          <p:cNvPr id="5" name="Shape 3"/>
          <p:cNvSpPr/>
          <p:nvPr/>
        </p:nvSpPr>
        <p:spPr>
          <a:xfrm>
            <a:off x="548640" y="1639507"/>
            <a:ext cx="4069080" cy="4597532"/>
          </a:xfrm>
          <a:prstGeom prst="roundRect">
            <a:avLst>
              <a:gd name="adj" fmla="val 2247"/>
            </a:avLst>
          </a:prstGeom>
          <a:solidFill>
            <a:schemeClr val="accent5">
              <a:alpha val="8000"/>
            </a:schemeClr>
          </a:solidFill>
          <a:ln/>
        </p:spPr>
      </p:sp>
      <p:pic>
        <p:nvPicPr>
          <p:cNvPr id="6" name="Image 0" descr="warning">    </p:cNvPr>
          <p:cNvPicPr>
            <a:picLocks noChangeAspect="1"/>
          </p:cNvPicPr>
          <p:nvPr/>
        </p:nvPicPr>
        <p:blipFill>
          <a:blip r:embed="rId1"/>
          <a:stretch>
            <a:fillRect/>
          </a:stretch>
        </p:blipFill>
        <p:spPr>
          <a:xfrm>
            <a:off x="764667" y="1866222"/>
            <a:ext cx="528066" cy="528066"/>
          </a:xfrm>
          <a:prstGeom prst="rect">
            <a:avLst/>
          </a:prstGeom>
        </p:spPr>
      </p:pic>
      <p:sp>
        <p:nvSpPr>
          <p:cNvPr id="7" name="Text 4"/>
          <p:cNvSpPr txBox="1"/>
          <p:nvPr/>
        </p:nvSpPr>
        <p:spPr>
          <a:xfrm>
            <a:off x="1417320" y="1928790"/>
            <a:ext cx="2971800" cy="413261"/>
          </a:xfrm>
          <a:prstGeom prst="rect">
            <a:avLst/>
          </a:prstGeom>
          <a:noFill/>
          <a:ln/>
        </p:spPr>
        <p:txBody>
          <a:bodyPr wrap="square" lIns="0" tIns="0" rIns="0" bIns="0" rtlCol="0" anchor="t"/>
          <a:lstStyle/>
          <a:p>
            <a:pPr indent="0" marL="0">
              <a:buNone/>
            </a:pPr>
            <a:r>
              <a:rPr lang="en-US" sz="1600" b="1" dirty="0">
                <a:solidFill>
                  <a:schemeClr val="tx2"/>
                </a:solidFill>
              </a:rPr>
              <a:t>よくある原因</a:t>
            </a:r>
            <a:endParaRPr lang="en-US" sz="1600" dirty="0"/>
          </a:p>
        </p:txBody>
      </p:sp>
      <p:sp>
        <p:nvSpPr>
          <p:cNvPr id="8" name="Text 5"/>
          <p:cNvSpPr txBox="1"/>
          <p:nvPr/>
        </p:nvSpPr>
        <p:spPr>
          <a:xfrm>
            <a:off x="822960" y="2621003"/>
            <a:ext cx="3520440" cy="330609"/>
          </a:xfrm>
          <a:prstGeom prst="rect">
            <a:avLst/>
          </a:prstGeom>
          <a:noFill/>
          <a:ln/>
        </p:spPr>
        <p:txBody>
          <a:bodyPr wrap="square" lIns="0" tIns="0" rIns="0" bIns="0" rtlCol="0" anchor="t"/>
          <a:lstStyle/>
          <a:p>
            <a:pPr indent="0" marL="0">
              <a:buNone/>
            </a:pPr>
            <a:r>
              <a:rPr lang="en-US" sz="1400" b="1" dirty="0">
                <a:solidFill>
                  <a:schemeClr val="accent5"/>
                </a:solidFill>
              </a:rPr>
              <a:t>「リンクを知っている全員」のまま</a:t>
            </a:r>
            <a:endParaRPr lang="en-US" sz="1400" dirty="0"/>
          </a:p>
        </p:txBody>
      </p:sp>
      <p:sp>
        <p:nvSpPr>
          <p:cNvPr id="9" name="Text 6"/>
          <p:cNvSpPr txBox="1"/>
          <p:nvPr/>
        </p:nvSpPr>
        <p:spPr>
          <a:xfrm>
            <a:off x="822960" y="2982607"/>
            <a:ext cx="3611880" cy="774865"/>
          </a:xfrm>
          <a:prstGeom prst="rect">
            <a:avLst/>
          </a:prstGeom>
          <a:noFill/>
          <a:ln/>
        </p:spPr>
        <p:txBody>
          <a:bodyPr wrap="square" lIns="0" tIns="0" rIns="0" bIns="0" rtlCol="0" anchor="t"/>
          <a:lstStyle/>
          <a:p>
            <a:pPr indent="0" marL="0">
              <a:buNone/>
            </a:pPr>
            <a:r>
              <a:rPr lang="en-US" sz="1150" dirty="0">
                <a:solidFill>
                  <a:schemeClr val="tx1"/>
                </a:solidFill>
              </a:rPr>
              <a:t>特定の人の権限を外しても、リンク自体の公開範囲は変わらない。転送された URL から誰でも開ける</a:t>
            </a:r>
            <a:endParaRPr lang="en-US" sz="1150" dirty="0"/>
          </a:p>
        </p:txBody>
      </p:sp>
      <p:sp>
        <p:nvSpPr>
          <p:cNvPr id="10" name="Text 7"/>
          <p:cNvSpPr txBox="1"/>
          <p:nvPr/>
        </p:nvSpPr>
        <p:spPr>
          <a:xfrm>
            <a:off x="822960" y="3809129"/>
            <a:ext cx="3520440" cy="330609"/>
          </a:xfrm>
          <a:prstGeom prst="rect">
            <a:avLst/>
          </a:prstGeom>
          <a:noFill/>
          <a:ln/>
        </p:spPr>
        <p:txBody>
          <a:bodyPr wrap="square" lIns="0" tIns="0" rIns="0" bIns="0" rtlCol="0" anchor="t"/>
          <a:lstStyle/>
          <a:p>
            <a:pPr indent="0" marL="0">
              <a:buNone/>
            </a:pPr>
            <a:r>
              <a:rPr lang="en-US" sz="1400" b="1" dirty="0">
                <a:solidFill>
                  <a:schemeClr val="accent5"/>
                </a:solidFill>
              </a:rPr>
              <a:t>送信時に付与した権限が残る</a:t>
            </a:r>
            <a:endParaRPr lang="en-US" sz="1400" dirty="0"/>
          </a:p>
        </p:txBody>
      </p:sp>
      <p:sp>
        <p:nvSpPr>
          <p:cNvPr id="11" name="Text 8"/>
          <p:cNvSpPr txBox="1"/>
          <p:nvPr/>
        </p:nvSpPr>
        <p:spPr>
          <a:xfrm>
            <a:off x="822960" y="4170733"/>
            <a:ext cx="3611880" cy="774865"/>
          </a:xfrm>
          <a:prstGeom prst="rect">
            <a:avLst/>
          </a:prstGeom>
          <a:noFill/>
          <a:ln/>
        </p:spPr>
        <p:txBody>
          <a:bodyPr wrap="square" lIns="0" tIns="0" rIns="0" bIns="0" rtlCol="0" anchor="t"/>
          <a:lstStyle/>
          <a:p>
            <a:pPr indent="0" marL="0">
              <a:buNone/>
            </a:pPr>
            <a:r>
              <a:rPr lang="en-US" sz="1150" dirty="0">
                <a:solidFill>
                  <a:schemeClr val="tx1"/>
                </a:solidFill>
              </a:rPr>
              <a:t>メールやチャットでリンクを送ると、受信者へのアクセス権付与を求められる。付与した権限は外すまで残る</a:t>
            </a:r>
            <a:endParaRPr lang="en-US" sz="1150" dirty="0"/>
          </a:p>
        </p:txBody>
      </p:sp>
      <p:sp>
        <p:nvSpPr>
          <p:cNvPr id="12" name="Text 9"/>
          <p:cNvSpPr txBox="1"/>
          <p:nvPr/>
        </p:nvSpPr>
        <p:spPr>
          <a:xfrm>
            <a:off x="822960" y="4997255"/>
            <a:ext cx="3520440" cy="330609"/>
          </a:xfrm>
          <a:prstGeom prst="rect">
            <a:avLst/>
          </a:prstGeom>
          <a:noFill/>
          <a:ln/>
        </p:spPr>
        <p:txBody>
          <a:bodyPr wrap="square" lIns="0" tIns="0" rIns="0" bIns="0" rtlCol="0" anchor="t"/>
          <a:lstStyle/>
          <a:p>
            <a:pPr indent="0" marL="0">
              <a:buNone/>
            </a:pPr>
            <a:r>
              <a:rPr lang="en-US" sz="1400" b="1" dirty="0">
                <a:solidFill>
                  <a:schemeClr val="accent5"/>
                </a:solidFill>
              </a:rPr>
              <a:t>フォルダの権限を引き継ぐ</a:t>
            </a:r>
            <a:endParaRPr lang="en-US" sz="1400" dirty="0"/>
          </a:p>
        </p:txBody>
      </p:sp>
      <p:sp>
        <p:nvSpPr>
          <p:cNvPr id="13" name="Text 10"/>
          <p:cNvSpPr txBox="1"/>
          <p:nvPr/>
        </p:nvSpPr>
        <p:spPr>
          <a:xfrm>
            <a:off x="822960" y="5358859"/>
            <a:ext cx="3611880" cy="774865"/>
          </a:xfrm>
          <a:prstGeom prst="rect">
            <a:avLst/>
          </a:prstGeom>
          <a:noFill/>
          <a:ln/>
        </p:spPr>
        <p:txBody>
          <a:bodyPr wrap="square" lIns="0" tIns="0" rIns="0" bIns="0" rtlCol="0" anchor="t"/>
          <a:lstStyle/>
          <a:p>
            <a:pPr indent="0" marL="0">
              <a:buNone/>
            </a:pPr>
            <a:r>
              <a:rPr lang="en-US" sz="1150" dirty="0">
                <a:solidFill>
                  <a:schemeClr val="tx1"/>
                </a:solidFill>
              </a:rPr>
              <a:t>フォルダ内のファイルはフォルダの権限を引き継ぐ。ダウンロードされたコピーは回収できない</a:t>
            </a:r>
            <a:endParaRPr lang="en-US" sz="1150" dirty="0"/>
          </a:p>
        </p:txBody>
      </p:sp>
      <p:sp>
        <p:nvSpPr>
          <p:cNvPr id="14" name="Text 11"/>
          <p:cNvSpPr txBox="1"/>
          <p:nvPr/>
        </p:nvSpPr>
        <p:spPr>
          <a:xfrm>
            <a:off x="4937760" y="1639507"/>
            <a:ext cx="6705295" cy="361604"/>
          </a:xfrm>
          <a:prstGeom prst="rect">
            <a:avLst/>
          </a:prstGeom>
          <a:noFill/>
          <a:ln/>
        </p:spPr>
        <p:txBody>
          <a:bodyPr wrap="square" lIns="0" tIns="0" rIns="0" bIns="0" rtlCol="0" anchor="t"/>
          <a:lstStyle/>
          <a:p>
            <a:pPr indent="0" marL="0">
              <a:buNone/>
            </a:pPr>
            <a:r>
              <a:rPr lang="en-US" sz="1500" b="1" dirty="0">
                <a:solidFill>
                  <a:schemeClr val="tx2"/>
                </a:solidFill>
              </a:rPr>
              <a:t>対策：管理者設定 × 共有ドライブ × 運用ルール</a:t>
            </a:r>
            <a:endParaRPr lang="en-US" sz="1500" dirty="0"/>
          </a:p>
        </p:txBody>
      </p:sp>
      <p:sp>
        <p:nvSpPr>
          <p:cNvPr id="15" name="Shape 12"/>
          <p:cNvSpPr/>
          <p:nvPr/>
        </p:nvSpPr>
        <p:spPr>
          <a:xfrm>
            <a:off x="4937760" y="2104426"/>
            <a:ext cx="6705295" cy="723207"/>
          </a:xfrm>
          <a:prstGeom prst="roundRect">
            <a:avLst>
              <a:gd name="adj" fmla="val 12644"/>
            </a:avLst>
          </a:prstGeom>
          <a:solidFill>
            <a:schemeClr val="bg1"/>
          </a:solidFill>
          <a:ln w="9525">
            <a:solidFill>
              <a:srgbClr val="E2E1EE"/>
            </a:solidFill>
            <a:prstDash val="solid"/>
          </a:ln>
        </p:spPr>
      </p:sp>
      <p:pic>
        <p:nvPicPr>
          <p:cNvPr id="16" name="Image 1" descr="link">    </p:cNvPr>
          <p:cNvPicPr>
            <a:picLocks noChangeAspect="1"/>
          </p:cNvPicPr>
          <p:nvPr/>
        </p:nvPicPr>
        <p:blipFill>
          <a:blip r:embed="rId2"/>
          <a:stretch>
            <a:fillRect/>
          </a:stretch>
        </p:blipFill>
        <p:spPr>
          <a:xfrm>
            <a:off x="5063947" y="2235601"/>
            <a:ext cx="460858" cy="460858"/>
          </a:xfrm>
          <a:prstGeom prst="rect">
            <a:avLst/>
          </a:prstGeom>
        </p:spPr>
      </p:pic>
      <p:sp>
        <p:nvSpPr>
          <p:cNvPr id="17" name="Text 13"/>
          <p:cNvSpPr txBox="1"/>
          <p:nvPr/>
        </p:nvSpPr>
        <p:spPr>
          <a:xfrm>
            <a:off x="5669280" y="2166415"/>
            <a:ext cx="4373575" cy="309946"/>
          </a:xfrm>
          <a:prstGeom prst="rect">
            <a:avLst/>
          </a:prstGeom>
          <a:noFill/>
          <a:ln/>
        </p:spPr>
        <p:txBody>
          <a:bodyPr wrap="square" lIns="0" tIns="0" rIns="0" bIns="0" rtlCol="0" anchor="t"/>
          <a:lstStyle/>
          <a:p>
            <a:pPr indent="0" marL="0">
              <a:buNone/>
            </a:pPr>
            <a:r>
              <a:rPr lang="en-US" sz="1300" b="1" dirty="0">
                <a:solidFill>
                  <a:schemeClr val="tx2"/>
                </a:solidFill>
              </a:rPr>
              <a:t>組織外へのリンク共有を禁止・制限</a:t>
            </a:r>
            <a:endParaRPr lang="en-US" sz="1300" dirty="0"/>
          </a:p>
        </p:txBody>
      </p:sp>
      <p:sp>
        <p:nvSpPr>
          <p:cNvPr id="18" name="Text 14"/>
          <p:cNvSpPr txBox="1"/>
          <p:nvPr/>
        </p:nvSpPr>
        <p:spPr>
          <a:xfrm>
            <a:off x="5669280" y="2476361"/>
            <a:ext cx="4373575" cy="309946"/>
          </a:xfrm>
          <a:prstGeom prst="rect">
            <a:avLst/>
          </a:prstGeom>
          <a:noFill/>
          <a:ln/>
        </p:spPr>
        <p:txBody>
          <a:bodyPr wrap="square" lIns="0" tIns="0" rIns="0" bIns="0" rtlCol="0" anchor="t"/>
          <a:lstStyle/>
          <a:p>
            <a:pPr indent="0" marL="0">
              <a:buNone/>
            </a:pPr>
            <a:r>
              <a:rPr lang="en-US" sz="1100" dirty="0">
                <a:solidFill>
                  <a:schemeClr val="tx1"/>
                </a:solidFill>
              </a:rPr>
              <a:t>「リンクを知っている全員」を禁止し、外部共有は許可先のみに</a:t>
            </a:r>
            <a:endParaRPr lang="en-US" sz="1100" dirty="0"/>
          </a:p>
        </p:txBody>
      </p:sp>
      <p:sp>
        <p:nvSpPr>
          <p:cNvPr id="19" name="Text 15"/>
          <p:cNvSpPr txBox="1"/>
          <p:nvPr/>
        </p:nvSpPr>
        <p:spPr>
          <a:xfrm>
            <a:off x="10161727" y="2321388"/>
            <a:ext cx="1344168" cy="289283"/>
          </a:xfrm>
          <a:prstGeom prst="roundRect">
            <a:avLst>
              <a:gd name="adj" fmla="val 18966"/>
            </a:avLst>
          </a:prstGeom>
          <a:solidFill>
            <a:schemeClr val="accent3"/>
          </a:solidFill>
          <a:ln/>
        </p:spPr>
        <p:txBody>
          <a:bodyPr wrap="square" lIns="0" tIns="0" rIns="0" bIns="0" rtlCol="0" anchor="ctr"/>
          <a:lstStyle/>
          <a:p>
            <a:pPr algn="ctr" indent="0" marL="0">
              <a:buNone/>
            </a:pPr>
            <a:r>
              <a:rPr lang="en-US" sz="900" b="1" dirty="0">
                <a:solidFill>
                  <a:schemeClr val="bg1"/>
                </a:solidFill>
              </a:rPr>
              <a:t>全エディション</a:t>
            </a:r>
            <a:endParaRPr lang="en-US" sz="900" dirty="0"/>
          </a:p>
        </p:txBody>
      </p:sp>
      <p:sp>
        <p:nvSpPr>
          <p:cNvPr id="20" name="Shape 16"/>
          <p:cNvSpPr/>
          <p:nvPr/>
        </p:nvSpPr>
        <p:spPr>
          <a:xfrm>
            <a:off x="4937760" y="2930949"/>
            <a:ext cx="6705295" cy="723207"/>
          </a:xfrm>
          <a:prstGeom prst="roundRect">
            <a:avLst>
              <a:gd name="adj" fmla="val 12644"/>
            </a:avLst>
          </a:prstGeom>
          <a:solidFill>
            <a:schemeClr val="bg1"/>
          </a:solidFill>
          <a:ln w="9525">
            <a:solidFill>
              <a:srgbClr val="E2E1EE"/>
            </a:solidFill>
            <a:prstDash val="solid"/>
          </a:ln>
        </p:spPr>
      </p:sp>
      <p:pic>
        <p:nvPicPr>
          <p:cNvPr id="21" name="Image 2" descr="locked-with-key">    </p:cNvPr>
          <p:cNvPicPr>
            <a:picLocks noChangeAspect="1"/>
          </p:cNvPicPr>
          <p:nvPr/>
        </p:nvPicPr>
        <p:blipFill>
          <a:blip r:embed="rId3"/>
          <a:stretch>
            <a:fillRect/>
          </a:stretch>
        </p:blipFill>
        <p:spPr>
          <a:xfrm>
            <a:off x="5063947" y="3062124"/>
            <a:ext cx="460858" cy="460858"/>
          </a:xfrm>
          <a:prstGeom prst="rect">
            <a:avLst/>
          </a:prstGeom>
        </p:spPr>
      </p:pic>
      <p:sp>
        <p:nvSpPr>
          <p:cNvPr id="22" name="Text 17"/>
          <p:cNvSpPr txBox="1"/>
          <p:nvPr/>
        </p:nvSpPr>
        <p:spPr>
          <a:xfrm>
            <a:off x="5669280" y="2992938"/>
            <a:ext cx="4373575" cy="309946"/>
          </a:xfrm>
          <a:prstGeom prst="rect">
            <a:avLst/>
          </a:prstGeom>
          <a:noFill/>
          <a:ln/>
        </p:spPr>
        <p:txBody>
          <a:bodyPr wrap="square" lIns="0" tIns="0" rIns="0" bIns="0" rtlCol="0" anchor="t"/>
          <a:lstStyle/>
          <a:p>
            <a:pPr indent="0" marL="0">
              <a:buNone/>
            </a:pPr>
            <a:r>
              <a:rPr lang="en-US" sz="1300" b="1" dirty="0">
                <a:solidFill>
                  <a:schemeClr val="tx2"/>
                </a:solidFill>
              </a:rPr>
              <a:t>個人情報は共有ドライブで管理</a:t>
            </a:r>
            <a:endParaRPr lang="en-US" sz="1300" dirty="0"/>
          </a:p>
        </p:txBody>
      </p:sp>
      <p:sp>
        <p:nvSpPr>
          <p:cNvPr id="23" name="Text 18"/>
          <p:cNvSpPr txBox="1"/>
          <p:nvPr/>
        </p:nvSpPr>
        <p:spPr>
          <a:xfrm>
            <a:off x="5669280" y="3302884"/>
            <a:ext cx="4373575" cy="309946"/>
          </a:xfrm>
          <a:prstGeom prst="rect">
            <a:avLst/>
          </a:prstGeom>
          <a:noFill/>
          <a:ln/>
        </p:spPr>
        <p:txBody>
          <a:bodyPr wrap="square" lIns="0" tIns="0" rIns="0" bIns="0" rtlCol="0" anchor="t"/>
          <a:lstStyle/>
          <a:p>
            <a:pPr indent="0" marL="0">
              <a:buNone/>
            </a:pPr>
            <a:r>
              <a:rPr lang="en-US" sz="1100" dirty="0">
                <a:solidFill>
                  <a:schemeClr val="tx1"/>
                </a:solidFill>
              </a:rPr>
              <a:t>メンバー限定。メンバー外・組織外への共有も禁止できる</a:t>
            </a:r>
            <a:endParaRPr lang="en-US" sz="1100" dirty="0"/>
          </a:p>
        </p:txBody>
      </p:sp>
      <p:sp>
        <p:nvSpPr>
          <p:cNvPr id="24" name="Text 19"/>
          <p:cNvSpPr txBox="1"/>
          <p:nvPr/>
        </p:nvSpPr>
        <p:spPr>
          <a:xfrm>
            <a:off x="10161727" y="3147911"/>
            <a:ext cx="1344168" cy="289283"/>
          </a:xfrm>
          <a:prstGeom prst="roundRect">
            <a:avLst>
              <a:gd name="adj" fmla="val 18966"/>
            </a:avLst>
          </a:prstGeom>
          <a:solidFill>
            <a:schemeClr val="accent6"/>
          </a:solidFill>
          <a:ln/>
        </p:spPr>
        <p:txBody>
          <a:bodyPr wrap="square" lIns="0" tIns="0" rIns="0" bIns="0" rtlCol="0" anchor="ctr"/>
          <a:lstStyle/>
          <a:p>
            <a:pPr algn="ctr" indent="0" marL="0">
              <a:buNone/>
            </a:pPr>
            <a:r>
              <a:rPr lang="en-US" sz="900" b="1" dirty="0">
                <a:solidFill>
                  <a:schemeClr val="bg1"/>
                </a:solidFill>
              </a:rPr>
              <a:t>Business Standard〜</a:t>
            </a:r>
            <a:endParaRPr lang="en-US" sz="900" dirty="0"/>
          </a:p>
        </p:txBody>
      </p:sp>
      <p:sp>
        <p:nvSpPr>
          <p:cNvPr id="25" name="Shape 20"/>
          <p:cNvSpPr/>
          <p:nvPr/>
        </p:nvSpPr>
        <p:spPr>
          <a:xfrm>
            <a:off x="4937760" y="3757471"/>
            <a:ext cx="6705295" cy="723207"/>
          </a:xfrm>
          <a:prstGeom prst="roundRect">
            <a:avLst>
              <a:gd name="adj" fmla="val 12644"/>
            </a:avLst>
          </a:prstGeom>
          <a:solidFill>
            <a:schemeClr val="bg1"/>
          </a:solidFill>
          <a:ln w="9525">
            <a:solidFill>
              <a:srgbClr val="E2E1EE"/>
            </a:solidFill>
            <a:prstDash val="solid"/>
          </a:ln>
        </p:spPr>
      </p:sp>
      <p:pic>
        <p:nvPicPr>
          <p:cNvPr id="26" name="Image 3" descr="prohibited">    </p:cNvPr>
          <p:cNvPicPr>
            <a:picLocks noChangeAspect="1"/>
          </p:cNvPicPr>
          <p:nvPr/>
        </p:nvPicPr>
        <p:blipFill>
          <a:blip r:embed="rId4"/>
          <a:stretch>
            <a:fillRect/>
          </a:stretch>
        </p:blipFill>
        <p:spPr>
          <a:xfrm>
            <a:off x="5063947" y="3888646"/>
            <a:ext cx="460858" cy="460858"/>
          </a:xfrm>
          <a:prstGeom prst="rect">
            <a:avLst/>
          </a:prstGeom>
        </p:spPr>
      </p:pic>
      <p:sp>
        <p:nvSpPr>
          <p:cNvPr id="27" name="Text 21"/>
          <p:cNvSpPr txBox="1"/>
          <p:nvPr/>
        </p:nvSpPr>
        <p:spPr>
          <a:xfrm>
            <a:off x="5669280" y="3819461"/>
            <a:ext cx="4373575" cy="309946"/>
          </a:xfrm>
          <a:prstGeom prst="rect">
            <a:avLst/>
          </a:prstGeom>
          <a:noFill/>
          <a:ln/>
        </p:spPr>
        <p:txBody>
          <a:bodyPr wrap="square" lIns="0" tIns="0" rIns="0" bIns="0" rtlCol="0" anchor="t"/>
          <a:lstStyle/>
          <a:p>
            <a:pPr indent="0" marL="0">
              <a:buNone/>
            </a:pPr>
            <a:r>
              <a:rPr lang="en-US" sz="1300" b="1" dirty="0">
                <a:solidFill>
                  <a:schemeClr val="tx2"/>
                </a:solidFill>
              </a:rPr>
              <a:t>閲覧者のダウンロード・印刷・コピー禁止</a:t>
            </a:r>
            <a:endParaRPr lang="en-US" sz="1300" dirty="0"/>
          </a:p>
        </p:txBody>
      </p:sp>
      <p:sp>
        <p:nvSpPr>
          <p:cNvPr id="28" name="Text 22"/>
          <p:cNvSpPr txBox="1"/>
          <p:nvPr/>
        </p:nvSpPr>
        <p:spPr>
          <a:xfrm>
            <a:off x="5669280" y="4129407"/>
            <a:ext cx="4373575" cy="309946"/>
          </a:xfrm>
          <a:prstGeom prst="rect">
            <a:avLst/>
          </a:prstGeom>
          <a:noFill/>
          <a:ln/>
        </p:spPr>
        <p:txBody>
          <a:bodyPr wrap="square" lIns="0" tIns="0" rIns="0" bIns="0" rtlCol="0" anchor="t"/>
          <a:lstStyle/>
          <a:p>
            <a:pPr indent="0" marL="0">
              <a:buNone/>
            </a:pPr>
            <a:r>
              <a:rPr lang="en-US" sz="1100" dirty="0">
                <a:solidFill>
                  <a:schemeClr val="tx1"/>
                </a:solidFill>
              </a:rPr>
              <a:t>ダウンロード・印刷・コピーを禁止（画面撮影までは防げない）</a:t>
            </a:r>
            <a:endParaRPr lang="en-US" sz="1100" dirty="0"/>
          </a:p>
        </p:txBody>
      </p:sp>
      <p:sp>
        <p:nvSpPr>
          <p:cNvPr id="29" name="Text 23"/>
          <p:cNvSpPr txBox="1"/>
          <p:nvPr/>
        </p:nvSpPr>
        <p:spPr>
          <a:xfrm>
            <a:off x="10161727" y="3974434"/>
            <a:ext cx="1344168" cy="289283"/>
          </a:xfrm>
          <a:prstGeom prst="roundRect">
            <a:avLst>
              <a:gd name="adj" fmla="val 18966"/>
            </a:avLst>
          </a:prstGeom>
          <a:solidFill>
            <a:schemeClr val="accent3"/>
          </a:solidFill>
          <a:ln/>
        </p:spPr>
        <p:txBody>
          <a:bodyPr wrap="square" lIns="0" tIns="0" rIns="0" bIns="0" rtlCol="0" anchor="ctr"/>
          <a:lstStyle/>
          <a:p>
            <a:pPr algn="ctr" indent="0" marL="0">
              <a:buNone/>
            </a:pPr>
            <a:r>
              <a:rPr lang="en-US" sz="900" b="1" dirty="0">
                <a:solidFill>
                  <a:schemeClr val="bg1"/>
                </a:solidFill>
              </a:rPr>
              <a:t>全エディション</a:t>
            </a:r>
            <a:endParaRPr lang="en-US" sz="900" dirty="0"/>
          </a:p>
        </p:txBody>
      </p:sp>
      <p:sp>
        <p:nvSpPr>
          <p:cNvPr id="30" name="Shape 24"/>
          <p:cNvSpPr/>
          <p:nvPr/>
        </p:nvSpPr>
        <p:spPr>
          <a:xfrm>
            <a:off x="4937760" y="4583994"/>
            <a:ext cx="6705295" cy="723207"/>
          </a:xfrm>
          <a:prstGeom prst="roundRect">
            <a:avLst>
              <a:gd name="adj" fmla="val 12644"/>
            </a:avLst>
          </a:prstGeom>
          <a:solidFill>
            <a:schemeClr val="bg1"/>
          </a:solidFill>
          <a:ln w="9525">
            <a:solidFill>
              <a:srgbClr val="E2E1EE"/>
            </a:solidFill>
            <a:prstDash val="solid"/>
          </a:ln>
        </p:spPr>
      </p:sp>
      <p:pic>
        <p:nvPicPr>
          <p:cNvPr id="31" name="Image 4" descr="hourglass-not-done">    </p:cNvPr>
          <p:cNvPicPr>
            <a:picLocks noChangeAspect="1"/>
          </p:cNvPicPr>
          <p:nvPr/>
        </p:nvPicPr>
        <p:blipFill>
          <a:blip r:embed="rId5"/>
          <a:stretch>
            <a:fillRect/>
          </a:stretch>
        </p:blipFill>
        <p:spPr>
          <a:xfrm>
            <a:off x="5063947" y="4715169"/>
            <a:ext cx="460858" cy="460858"/>
          </a:xfrm>
          <a:prstGeom prst="rect">
            <a:avLst/>
          </a:prstGeom>
        </p:spPr>
      </p:pic>
      <p:sp>
        <p:nvSpPr>
          <p:cNvPr id="32" name="Text 25"/>
          <p:cNvSpPr txBox="1"/>
          <p:nvPr/>
        </p:nvSpPr>
        <p:spPr>
          <a:xfrm>
            <a:off x="5669280" y="4645983"/>
            <a:ext cx="4373575" cy="309946"/>
          </a:xfrm>
          <a:prstGeom prst="rect">
            <a:avLst/>
          </a:prstGeom>
          <a:noFill/>
          <a:ln/>
        </p:spPr>
        <p:txBody>
          <a:bodyPr wrap="square" lIns="0" tIns="0" rIns="0" bIns="0" rtlCol="0" anchor="t"/>
          <a:lstStyle/>
          <a:p>
            <a:pPr indent="0" marL="0">
              <a:buNone/>
            </a:pPr>
            <a:r>
              <a:rPr lang="en-US" sz="1300" b="1" dirty="0">
                <a:solidFill>
                  <a:schemeClr val="tx2"/>
                </a:solidFill>
              </a:rPr>
              <a:t>外部共有に有効期限を設定</a:t>
            </a:r>
            <a:endParaRPr lang="en-US" sz="1300" dirty="0"/>
          </a:p>
        </p:txBody>
      </p:sp>
      <p:sp>
        <p:nvSpPr>
          <p:cNvPr id="33" name="Text 26"/>
          <p:cNvSpPr txBox="1"/>
          <p:nvPr/>
        </p:nvSpPr>
        <p:spPr>
          <a:xfrm>
            <a:off x="5669280" y="4955929"/>
            <a:ext cx="4373575" cy="309946"/>
          </a:xfrm>
          <a:prstGeom prst="rect">
            <a:avLst/>
          </a:prstGeom>
          <a:noFill/>
          <a:ln/>
        </p:spPr>
        <p:txBody>
          <a:bodyPr wrap="square" lIns="0" tIns="0" rIns="0" bIns="0" rtlCol="0" anchor="t"/>
          <a:lstStyle/>
          <a:p>
            <a:pPr indent="0" marL="0">
              <a:buNone/>
            </a:pPr>
            <a:r>
              <a:rPr lang="en-US" sz="1100" dirty="0">
                <a:solidFill>
                  <a:schemeClr val="tx1"/>
                </a:solidFill>
              </a:rPr>
              <a:t>期限が来たら、個別に付与したアクセス権が自動で消える</a:t>
            </a:r>
            <a:endParaRPr lang="en-US" sz="1100" dirty="0"/>
          </a:p>
        </p:txBody>
      </p:sp>
      <p:sp>
        <p:nvSpPr>
          <p:cNvPr id="34" name="Text 27"/>
          <p:cNvSpPr txBox="1"/>
          <p:nvPr/>
        </p:nvSpPr>
        <p:spPr>
          <a:xfrm>
            <a:off x="10161727" y="4800956"/>
            <a:ext cx="1344168" cy="289283"/>
          </a:xfrm>
          <a:prstGeom prst="roundRect">
            <a:avLst>
              <a:gd name="adj" fmla="val 18966"/>
            </a:avLst>
          </a:prstGeom>
          <a:solidFill>
            <a:schemeClr val="accent3"/>
          </a:solidFill>
          <a:ln/>
        </p:spPr>
        <p:txBody>
          <a:bodyPr wrap="square" lIns="0" tIns="0" rIns="0" bIns="0" rtlCol="0" anchor="ctr"/>
          <a:lstStyle/>
          <a:p>
            <a:pPr algn="ctr" indent="0" marL="0">
              <a:buNone/>
            </a:pPr>
            <a:r>
              <a:rPr lang="en-US" sz="900" b="1" dirty="0">
                <a:solidFill>
                  <a:schemeClr val="bg1"/>
                </a:solidFill>
              </a:rPr>
              <a:t>全エディション</a:t>
            </a:r>
            <a:endParaRPr lang="en-US" sz="900" dirty="0"/>
          </a:p>
        </p:txBody>
      </p:sp>
      <p:sp>
        <p:nvSpPr>
          <p:cNvPr id="35" name="Shape 28"/>
          <p:cNvSpPr/>
          <p:nvPr/>
        </p:nvSpPr>
        <p:spPr>
          <a:xfrm>
            <a:off x="4937760" y="5410517"/>
            <a:ext cx="6705295" cy="723207"/>
          </a:xfrm>
          <a:prstGeom prst="roundRect">
            <a:avLst>
              <a:gd name="adj" fmla="val 12644"/>
            </a:avLst>
          </a:prstGeom>
          <a:solidFill>
            <a:schemeClr val="bg1"/>
          </a:solidFill>
          <a:ln w="9525">
            <a:solidFill>
              <a:srgbClr val="E2E1EE"/>
            </a:solidFill>
            <a:prstDash val="solid"/>
          </a:ln>
        </p:spPr>
      </p:sp>
      <p:pic>
        <p:nvPicPr>
          <p:cNvPr id="36" name="Image 5" descr="magnifying-glass-tilted-left">    </p:cNvPr>
          <p:cNvPicPr>
            <a:picLocks noChangeAspect="1"/>
          </p:cNvPicPr>
          <p:nvPr/>
        </p:nvPicPr>
        <p:blipFill>
          <a:blip r:embed="rId6"/>
          <a:stretch>
            <a:fillRect/>
          </a:stretch>
        </p:blipFill>
        <p:spPr>
          <a:xfrm>
            <a:off x="5063947" y="5541692"/>
            <a:ext cx="460858" cy="460858"/>
          </a:xfrm>
          <a:prstGeom prst="rect">
            <a:avLst/>
          </a:prstGeom>
        </p:spPr>
      </p:pic>
      <p:sp>
        <p:nvSpPr>
          <p:cNvPr id="37" name="Text 29"/>
          <p:cNvSpPr txBox="1"/>
          <p:nvPr/>
        </p:nvSpPr>
        <p:spPr>
          <a:xfrm>
            <a:off x="5669280" y="5472506"/>
            <a:ext cx="4373575" cy="309946"/>
          </a:xfrm>
          <a:prstGeom prst="rect">
            <a:avLst/>
          </a:prstGeom>
          <a:noFill/>
          <a:ln/>
        </p:spPr>
        <p:txBody>
          <a:bodyPr wrap="square" lIns="0" tIns="0" rIns="0" bIns="0" rtlCol="0" anchor="t"/>
          <a:lstStyle/>
          <a:p>
            <a:pPr indent="0" marL="0">
              <a:buNone/>
            </a:pPr>
            <a:r>
              <a:rPr lang="en-US" sz="1300" b="1" dirty="0">
                <a:solidFill>
                  <a:schemeClr val="tx2"/>
                </a:solidFill>
              </a:rPr>
              <a:t>監査ログで共有状況を定期点検</a:t>
            </a:r>
            <a:endParaRPr lang="en-US" sz="1300" dirty="0"/>
          </a:p>
        </p:txBody>
      </p:sp>
      <p:sp>
        <p:nvSpPr>
          <p:cNvPr id="38" name="Text 30"/>
          <p:cNvSpPr txBox="1"/>
          <p:nvPr/>
        </p:nvSpPr>
        <p:spPr>
          <a:xfrm>
            <a:off x="5669280" y="5782452"/>
            <a:ext cx="4373575" cy="309946"/>
          </a:xfrm>
          <a:prstGeom prst="rect">
            <a:avLst/>
          </a:prstGeom>
          <a:noFill/>
          <a:ln/>
        </p:spPr>
        <p:txBody>
          <a:bodyPr wrap="square" lIns="0" tIns="0" rIns="0" bIns="0" rtlCol="0" anchor="t"/>
          <a:lstStyle/>
          <a:p>
            <a:pPr indent="0" marL="0">
              <a:buNone/>
            </a:pPr>
            <a:r>
              <a:rPr lang="en-US" sz="1100" dirty="0">
                <a:solidFill>
                  <a:schemeClr val="tx1"/>
                </a:solidFill>
              </a:rPr>
              <a:t>外部共有中のファイルを洗い出し、不要な共有を解除</a:t>
            </a:r>
            <a:endParaRPr lang="en-US" sz="1100" dirty="0"/>
          </a:p>
        </p:txBody>
      </p:sp>
      <p:sp>
        <p:nvSpPr>
          <p:cNvPr id="39" name="Text 31"/>
          <p:cNvSpPr txBox="1"/>
          <p:nvPr/>
        </p:nvSpPr>
        <p:spPr>
          <a:xfrm>
            <a:off x="10161727" y="5627479"/>
            <a:ext cx="1344168" cy="289283"/>
          </a:xfrm>
          <a:prstGeom prst="roundRect">
            <a:avLst>
              <a:gd name="adj" fmla="val 18966"/>
            </a:avLst>
          </a:prstGeom>
          <a:solidFill>
            <a:schemeClr val="accent3"/>
          </a:solidFill>
          <a:ln/>
        </p:spPr>
        <p:txBody>
          <a:bodyPr wrap="square" lIns="0" tIns="0" rIns="0" bIns="0" rtlCol="0" anchor="ctr"/>
          <a:lstStyle/>
          <a:p>
            <a:pPr algn="ctr" indent="0" marL="0">
              <a:buNone/>
            </a:pPr>
            <a:r>
              <a:rPr lang="en-US" sz="900" b="1" dirty="0">
                <a:solidFill>
                  <a:schemeClr val="bg1"/>
                </a:solidFill>
              </a:rPr>
              <a:t>全エディション</a:t>
            </a:r>
            <a:endParaRPr lang="en-US" sz="900" dirty="0"/>
          </a:p>
        </p:txBody>
      </p:sp>
      <p:sp>
        <p:nvSpPr>
          <p:cNvPr id="40" name="source"/>
          <p:cNvSpPr txBox="1"/>
          <p:nvPr/>
        </p:nvSpPr>
        <p:spPr>
          <a:xfrm>
            <a:off x="548640" y="6336792"/>
            <a:ext cx="11094415" cy="201168"/>
          </a:xfrm>
          <a:prstGeom prst="rect">
            <a:avLst/>
          </a:prstGeom>
          <a:noFill/>
          <a:ln/>
        </p:spPr>
        <p:txBody>
          <a:bodyPr wrap="square" lIns="0" tIns="0" rIns="0" bIns="0" rtlCol="0" anchor="ctr"/>
          <a:lstStyle/>
          <a:p>
            <a:pPr indent="0" marL="0">
              <a:buNone/>
            </a:pPr>
            <a:r>
              <a:rPr lang="en-US" sz="900" dirty="0">
                <a:solidFill>
                  <a:schemeClr val="accent6"/>
                </a:solidFill>
              </a:rPr>
              <a:t>出典：Google ドライブ ヘルプ、Google Workspace 管理者ヘルプ（2026年10月時点）。共有ドライブの詳細設定は Business Standard 以上</a:t>
            </a:r>
            <a:endParaRPr lang="en-US" sz="9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情報区分と取扱いルール（たたき台）</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移行前に「どこに置き、誰と共有し、AI に使ってよいか」を情報区分ごとに決めます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02｜ご提案内容　柱① Drive 移行・セキュアな共有</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39507"/>
          <a:ext cx="11094415" cy="914400"/>
        </p:xfrm>
        <a:graphic>
          <a:graphicData uri="http://schemas.openxmlformats.org/drawingml/2006/table">
            <a:tbl>
              <a:tblPr/>
              <a:tblGrid>
                <a:gridCol w="1554480"/>
                <a:gridCol w="3291840"/>
                <a:gridCol w="2148840"/>
                <a:gridCol w="2011680"/>
                <a:gridCol w="2084832"/>
              </a:tblGrid>
              <a:tr h="433924">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区分</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主なデータ例</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保存場所</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共有範囲</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Gemini での利用</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r>
              <a:tr h="981496">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機密</a:t>
                      </a:r>
                      <a:endParaRPr lang="en-US" sz="1300" dirty="0">
                        <a:latin typeface="Meiryo UI" charset="0"/>
                        <a:ea typeface="Meiryo UI" charset="0"/>
                        <a:cs typeface="Meiryo UI" charset="0"/>
                      </a:endParaRPr>
                    </a:p>
                    <a:p>
                      <a:pPr indent="0" marL="0">
                        <a:buNone/>
                      </a:pPr>
                      <a:r>
                        <a:rPr lang="en-US" sz="1300" b="1" dirty="0">
                          <a:solidFill>
                            <a:srgbClr val="FFFFFF"/>
                          </a:solidFill>
                          <a:latin typeface="Meiryo UI" pitchFamily="34" charset="0"/>
                          <a:ea typeface="Meiryo UI" pitchFamily="34" charset="-122"/>
                          <a:cs typeface="Meiryo UI" pitchFamily="34" charset="-120"/>
                        </a:rPr>
                        <a:t>（要配慮）</a:t>
                      </a:r>
                      <a:endParaRPr lang="en-US" sz="13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D2557A"/>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利用者様の介護記録・ケアプラン・病歴、職員の健康情報・マイナンバー</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介護記録システム／限定共有ドライブ</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担当者のみ</a:t>
                      </a:r>
                      <a:endParaRPr lang="en-US" sz="1200" dirty="0">
                        <a:latin typeface="Meiryo UI" charset="0"/>
                        <a:ea typeface="Meiryo UI" charset="0"/>
                        <a:cs typeface="Meiryo UI" charset="0"/>
                      </a:endParaRPr>
                    </a:p>
                    <a:p>
                      <a:pPr indent="0" marL="0">
                        <a:buNone/>
                      </a:pPr>
                      <a:r>
                        <a:rPr lang="en-US" sz="1200" dirty="0">
                          <a:solidFill>
                            <a:srgbClr val="1F2233"/>
                          </a:solidFill>
                          <a:latin typeface="Meiryo UI" pitchFamily="34" charset="0"/>
                          <a:ea typeface="Meiryo UI" pitchFamily="34" charset="-122"/>
                          <a:cs typeface="Meiryo UI" pitchFamily="34" charset="-120"/>
                        </a:rPr>
                        <a:t>外部共有は禁止</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Workspace版のみ・</a:t>
                      </a:r>
                      <a:endParaRPr lang="en-US" sz="1200" dirty="0">
                        <a:latin typeface="Meiryo UI" charset="0"/>
                        <a:ea typeface="Meiryo UI" charset="0"/>
                        <a:cs typeface="Meiryo UI" charset="0"/>
                      </a:endParaRPr>
                    </a:p>
                    <a:p>
                      <a:pPr indent="0" marL="0">
                        <a:buNone/>
                      </a:pPr>
                      <a:r>
                        <a:rPr lang="en-US" sz="1200" dirty="0">
                          <a:solidFill>
                            <a:srgbClr val="1F2233"/>
                          </a:solidFill>
                          <a:latin typeface="Meiryo UI" pitchFamily="34" charset="0"/>
                          <a:ea typeface="Meiryo UI" pitchFamily="34" charset="-122"/>
                          <a:cs typeface="Meiryo UI" pitchFamily="34" charset="-120"/>
                        </a:rPr>
                        <a:t>ルール整備後に限定利用</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878180">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社外秘</a:t>
                      </a:r>
                      <a:endParaRPr lang="en-US" sz="13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EFA23A"/>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人事・給与、経営会議資料、契約書、取引先情報</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部門別の共有ドライブ</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部門メンバーのみ</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社内ルールの範囲で利用可</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878180">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社内</a:t>
                      </a:r>
                      <a:endParaRPr lang="en-US" sz="13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3D7BC8"/>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マニュアル・研修資料、議事録、各種様式、提出物管理表</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全社共有ドライブ</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全社員</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積極活用</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774865">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公開</a:t>
                      </a:r>
                      <a:endParaRPr lang="en-US" sz="13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A9785"/>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求人情報、施設案内、広報物</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公開用フォルダ</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制限なし</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積極活用</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5668805"/>
            <a:ext cx="11094415" cy="671550"/>
          </a:xfrm>
          <a:prstGeom prst="rect">
            <a:avLst/>
          </a:prstGeom>
          <a:noFill/>
          <a:ln/>
        </p:spPr>
        <p:txBody>
          <a:bodyPr wrap="square" lIns="0" tIns="0" rIns="0" bIns="0" rtlCol="0" anchor="t"/>
          <a:lstStyle/>
          <a:p>
            <a:pPr indent="0" marL="0">
              <a:buNone/>
            </a:pPr>
            <a:r>
              <a:rPr lang="en-US" sz="1100" dirty="0">
                <a:solidFill>
                  <a:schemeClr val="tx1"/>
                </a:solidFill>
              </a:rPr>
              <a:t>※ Google は、Workspace の Gemini が事前の許可なく顧客データをモデルの学習に使わないこと、既存のアクセス権限に従うことを明示しています。一方、Gemini Notebook はデータリージョン設定の対象外で、Business エディションでは DLP による制御もできないため、要配慮個人情報は扱わない方針とします。最終的なルールは「医療・介護関係事業者における個人情報の適切な取扱いのためのガイダンス」等を踏まえて確定します。</a:t>
            </a:r>
            <a:endParaRPr lang="en-US" sz="11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業務別 Gemini 活用マップ（例）</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部門ごとに「誰の・どの業務に・どの機能を」使うかを具体化し、貴社版のマップに仕上げます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02｜ご提案内容　柱② 業務別AI 活用の「型」づくり</a:t>
            </a:r>
            <a:endParaRPr lang="en-US" sz="900" dirty="0"/>
          </a:p>
        </p:txBody>
      </p:sp>
      <p:sp>
        <p:nvSpPr>
          <p:cNvPr id="5" name="Shape 3"/>
          <p:cNvSpPr/>
          <p:nvPr/>
        </p:nvSpPr>
        <p:spPr>
          <a:xfrm>
            <a:off x="548640" y="1639507"/>
            <a:ext cx="5410048" cy="2252274"/>
          </a:xfrm>
          <a:prstGeom prst="roundRect">
            <a:avLst>
              <a:gd name="adj" fmla="val 4060"/>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6" name="Image 0" descr="card-index-dividers">    </p:cNvPr>
          <p:cNvPicPr>
            <a:picLocks noChangeAspect="1"/>
          </p:cNvPicPr>
          <p:nvPr/>
        </p:nvPicPr>
        <p:blipFill>
          <a:blip r:embed="rId1"/>
          <a:stretch>
            <a:fillRect/>
          </a:stretch>
        </p:blipFill>
        <p:spPr>
          <a:xfrm>
            <a:off x="720090" y="1843733"/>
            <a:ext cx="480060" cy="480060"/>
          </a:xfrm>
          <a:prstGeom prst="rect">
            <a:avLst/>
          </a:prstGeom>
        </p:spPr>
      </p:pic>
      <p:sp>
        <p:nvSpPr>
          <p:cNvPr id="7" name="Text 4"/>
          <p:cNvSpPr txBox="1"/>
          <p:nvPr/>
        </p:nvSpPr>
        <p:spPr>
          <a:xfrm>
            <a:off x="1325880" y="1846138"/>
            <a:ext cx="4495648" cy="464919"/>
          </a:xfrm>
          <a:prstGeom prst="rect">
            <a:avLst/>
          </a:prstGeom>
          <a:noFill/>
          <a:ln/>
        </p:spPr>
        <p:txBody>
          <a:bodyPr wrap="square" lIns="0" tIns="0" rIns="0" bIns="0" rtlCol="0" anchor="ctr"/>
          <a:lstStyle/>
          <a:p>
            <a:pPr indent="0" marL="0">
              <a:buNone/>
            </a:pPr>
            <a:r>
              <a:rPr lang="en-US" sz="1500" b="1" dirty="0">
                <a:solidFill>
                  <a:schemeClr val="tx2"/>
                </a:solidFill>
              </a:rPr>
              <a:t>バックオフィス（人事・経理・総務）</a:t>
            </a:r>
            <a:endParaRPr lang="en-US" sz="1500" dirty="0"/>
          </a:p>
        </p:txBody>
      </p:sp>
      <p:sp>
        <p:nvSpPr>
          <p:cNvPr id="8" name="Text 5"/>
          <p:cNvSpPr txBox="1"/>
          <p:nvPr/>
        </p:nvSpPr>
        <p:spPr>
          <a:xfrm>
            <a:off x="822960" y="2517688"/>
            <a:ext cx="3169768" cy="371935"/>
          </a:xfrm>
          <a:prstGeom prst="rect">
            <a:avLst/>
          </a:prstGeom>
          <a:noFill/>
          <a:ln/>
        </p:spPr>
        <p:txBody>
          <a:bodyPr wrap="square" lIns="0" tIns="0" rIns="0" bIns="0" rtlCol="0" anchor="ctr"/>
          <a:lstStyle/>
          <a:p>
            <a:pPr indent="0" marL="0">
              <a:buNone/>
            </a:pPr>
            <a:r>
              <a:rPr lang="en-US" sz="1300" dirty="0">
                <a:solidFill>
                  <a:schemeClr val="tx1"/>
                </a:solidFill>
              </a:rPr>
              <a:t>求人票・スカウト文・面接案内の作成</a:t>
            </a:r>
            <a:endParaRPr lang="en-US" sz="1300" dirty="0"/>
          </a:p>
        </p:txBody>
      </p:sp>
      <p:sp>
        <p:nvSpPr>
          <p:cNvPr id="9" name="Text 6"/>
          <p:cNvSpPr txBox="1"/>
          <p:nvPr/>
        </p:nvSpPr>
        <p:spPr>
          <a:xfrm>
            <a:off x="4038448" y="2569345"/>
            <a:ext cx="1737360" cy="268620"/>
          </a:xfrm>
          <a:prstGeom prst="roundRect">
            <a:avLst>
              <a:gd name="adj" fmla="val 20424"/>
            </a:avLst>
          </a:prstGeom>
          <a:solidFill>
            <a:schemeClr val="accent1"/>
          </a:solidFill>
          <a:ln/>
        </p:spPr>
        <p:txBody>
          <a:bodyPr wrap="square" lIns="0" tIns="0" rIns="0" bIns="0" rtlCol="0" anchor="ctr"/>
          <a:lstStyle/>
          <a:p>
            <a:pPr algn="ctr" indent="0" marL="0">
              <a:buNone/>
            </a:pPr>
            <a:r>
              <a:rPr lang="en-US" sz="900" b="1" dirty="0">
                <a:solidFill>
                  <a:schemeClr val="bg1"/>
                </a:solidFill>
              </a:rPr>
              <a:t>Gmail／ドキュメント</a:t>
            </a:r>
            <a:endParaRPr lang="en-US" sz="900" dirty="0"/>
          </a:p>
        </p:txBody>
      </p:sp>
      <p:sp>
        <p:nvSpPr>
          <p:cNvPr id="10" name="Text 7"/>
          <p:cNvSpPr txBox="1"/>
          <p:nvPr/>
        </p:nvSpPr>
        <p:spPr>
          <a:xfrm>
            <a:off x="822960" y="2951612"/>
            <a:ext cx="3169768" cy="371935"/>
          </a:xfrm>
          <a:prstGeom prst="rect">
            <a:avLst/>
          </a:prstGeom>
          <a:noFill/>
          <a:ln/>
        </p:spPr>
        <p:txBody>
          <a:bodyPr wrap="square" lIns="0" tIns="0" rIns="0" bIns="0" rtlCol="0" anchor="ctr"/>
          <a:lstStyle/>
          <a:p>
            <a:pPr indent="0" marL="0">
              <a:buNone/>
            </a:pPr>
            <a:r>
              <a:rPr lang="en-US" sz="1300" dirty="0">
                <a:solidFill>
                  <a:schemeClr val="tx1"/>
                </a:solidFill>
              </a:rPr>
              <a:t>社内規程・マニュアルへの質問応答</a:t>
            </a:r>
            <a:endParaRPr lang="en-US" sz="1300" dirty="0"/>
          </a:p>
        </p:txBody>
      </p:sp>
      <p:sp>
        <p:nvSpPr>
          <p:cNvPr id="11" name="Text 8"/>
          <p:cNvSpPr txBox="1"/>
          <p:nvPr/>
        </p:nvSpPr>
        <p:spPr>
          <a:xfrm>
            <a:off x="4038448" y="3003270"/>
            <a:ext cx="1737360" cy="268620"/>
          </a:xfrm>
          <a:prstGeom prst="roundRect">
            <a:avLst>
              <a:gd name="adj" fmla="val 20424"/>
            </a:avLst>
          </a:prstGeom>
          <a:solidFill>
            <a:schemeClr val="accent1"/>
          </a:solidFill>
          <a:ln/>
        </p:spPr>
        <p:txBody>
          <a:bodyPr wrap="square" lIns="0" tIns="0" rIns="0" bIns="0" rtlCol="0" anchor="ctr"/>
          <a:lstStyle/>
          <a:p>
            <a:pPr algn="ctr" indent="0" marL="0">
              <a:buNone/>
            </a:pPr>
            <a:r>
              <a:rPr lang="en-US" sz="900" b="1" dirty="0">
                <a:solidFill>
                  <a:schemeClr val="bg1"/>
                </a:solidFill>
              </a:rPr>
              <a:t>Gemini Notebook</a:t>
            </a:r>
            <a:endParaRPr lang="en-US" sz="900" dirty="0"/>
          </a:p>
        </p:txBody>
      </p:sp>
      <p:sp>
        <p:nvSpPr>
          <p:cNvPr id="12" name="Text 9"/>
          <p:cNvSpPr txBox="1"/>
          <p:nvPr/>
        </p:nvSpPr>
        <p:spPr>
          <a:xfrm>
            <a:off x="822960" y="3385536"/>
            <a:ext cx="3169768" cy="371935"/>
          </a:xfrm>
          <a:prstGeom prst="rect">
            <a:avLst/>
          </a:prstGeom>
          <a:noFill/>
          <a:ln/>
        </p:spPr>
        <p:txBody>
          <a:bodyPr wrap="square" lIns="0" tIns="0" rIns="0" bIns="0" rtlCol="0" anchor="ctr"/>
          <a:lstStyle/>
          <a:p>
            <a:pPr indent="0" marL="0">
              <a:buNone/>
            </a:pPr>
            <a:r>
              <a:rPr lang="en-US" sz="1300" dirty="0">
                <a:solidFill>
                  <a:schemeClr val="tx1"/>
                </a:solidFill>
              </a:rPr>
              <a:t>提出物・郵便物管理の自動化</a:t>
            </a:r>
            <a:endParaRPr lang="en-US" sz="1300" dirty="0"/>
          </a:p>
        </p:txBody>
      </p:sp>
      <p:sp>
        <p:nvSpPr>
          <p:cNvPr id="13" name="Text 10"/>
          <p:cNvSpPr txBox="1"/>
          <p:nvPr/>
        </p:nvSpPr>
        <p:spPr>
          <a:xfrm>
            <a:off x="4038448" y="3437194"/>
            <a:ext cx="1737360" cy="268620"/>
          </a:xfrm>
          <a:prstGeom prst="roundRect">
            <a:avLst>
              <a:gd name="adj" fmla="val 20424"/>
            </a:avLst>
          </a:prstGeom>
          <a:solidFill>
            <a:schemeClr val="accent1"/>
          </a:solidFill>
          <a:ln/>
        </p:spPr>
        <p:txBody>
          <a:bodyPr wrap="square" lIns="0" tIns="0" rIns="0" bIns="0" rtlCol="0" anchor="ctr"/>
          <a:lstStyle/>
          <a:p>
            <a:pPr algn="ctr" indent="0" marL="0">
              <a:buNone/>
            </a:pPr>
            <a:r>
              <a:rPr lang="en-US" sz="900" b="1" dirty="0">
                <a:solidFill>
                  <a:schemeClr val="bg1"/>
                </a:solidFill>
              </a:rPr>
              <a:t>フォーム／Studio</a:t>
            </a:r>
            <a:endParaRPr lang="en-US" sz="900" dirty="0"/>
          </a:p>
        </p:txBody>
      </p:sp>
      <p:sp>
        <p:nvSpPr>
          <p:cNvPr id="14" name="Shape 11"/>
          <p:cNvSpPr/>
          <p:nvPr/>
        </p:nvSpPr>
        <p:spPr>
          <a:xfrm>
            <a:off x="6233008" y="1639507"/>
            <a:ext cx="5410048" cy="2252274"/>
          </a:xfrm>
          <a:prstGeom prst="roundRect">
            <a:avLst>
              <a:gd name="adj" fmla="val 4060"/>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15" name="Image 1" descr="woman-health-worker">    </p:cNvPr>
          <p:cNvPicPr>
            <a:picLocks noChangeAspect="1"/>
          </p:cNvPicPr>
          <p:nvPr/>
        </p:nvPicPr>
        <p:blipFill>
          <a:blip r:embed="rId2"/>
          <a:stretch>
            <a:fillRect/>
          </a:stretch>
        </p:blipFill>
        <p:spPr>
          <a:xfrm>
            <a:off x="6404458" y="1843733"/>
            <a:ext cx="480060" cy="480060"/>
          </a:xfrm>
          <a:prstGeom prst="rect">
            <a:avLst/>
          </a:prstGeom>
        </p:spPr>
      </p:pic>
      <p:sp>
        <p:nvSpPr>
          <p:cNvPr id="16" name="Text 12"/>
          <p:cNvSpPr txBox="1"/>
          <p:nvPr/>
        </p:nvSpPr>
        <p:spPr>
          <a:xfrm>
            <a:off x="7010248" y="1846138"/>
            <a:ext cx="4495648" cy="464919"/>
          </a:xfrm>
          <a:prstGeom prst="rect">
            <a:avLst/>
          </a:prstGeom>
          <a:noFill/>
          <a:ln/>
        </p:spPr>
        <p:txBody>
          <a:bodyPr wrap="square" lIns="0" tIns="0" rIns="0" bIns="0" rtlCol="0" anchor="ctr"/>
          <a:lstStyle/>
          <a:p>
            <a:pPr indent="0" marL="0">
              <a:buNone/>
            </a:pPr>
            <a:r>
              <a:rPr lang="en-US" sz="1500" b="1" dirty="0">
                <a:solidFill>
                  <a:schemeClr val="tx2"/>
                </a:solidFill>
              </a:rPr>
              <a:t>事業所管理者・現場管理職</a:t>
            </a:r>
            <a:endParaRPr lang="en-US" sz="1500" dirty="0"/>
          </a:p>
        </p:txBody>
      </p:sp>
      <p:sp>
        <p:nvSpPr>
          <p:cNvPr id="17" name="Text 13"/>
          <p:cNvSpPr txBox="1"/>
          <p:nvPr/>
        </p:nvSpPr>
        <p:spPr>
          <a:xfrm>
            <a:off x="6507328" y="2517688"/>
            <a:ext cx="3169768" cy="371935"/>
          </a:xfrm>
          <a:prstGeom prst="rect">
            <a:avLst/>
          </a:prstGeom>
          <a:noFill/>
          <a:ln/>
        </p:spPr>
        <p:txBody>
          <a:bodyPr wrap="square" lIns="0" tIns="0" rIns="0" bIns="0" rtlCol="0" anchor="ctr"/>
          <a:lstStyle/>
          <a:p>
            <a:pPr indent="0" marL="0">
              <a:buNone/>
            </a:pPr>
            <a:r>
              <a:rPr lang="en-US" sz="1300" dirty="0">
                <a:solidFill>
                  <a:schemeClr val="tx1"/>
                </a:solidFill>
              </a:rPr>
              <a:t>会議・委員会の議事録作成</a:t>
            </a:r>
            <a:endParaRPr lang="en-US" sz="1300" dirty="0"/>
          </a:p>
        </p:txBody>
      </p:sp>
      <p:sp>
        <p:nvSpPr>
          <p:cNvPr id="18" name="Text 14"/>
          <p:cNvSpPr txBox="1"/>
          <p:nvPr/>
        </p:nvSpPr>
        <p:spPr>
          <a:xfrm>
            <a:off x="9722815" y="2569345"/>
            <a:ext cx="1737360" cy="268620"/>
          </a:xfrm>
          <a:prstGeom prst="roundRect">
            <a:avLst>
              <a:gd name="adj" fmla="val 20424"/>
            </a:avLst>
          </a:prstGeom>
          <a:solidFill>
            <a:schemeClr val="accent3"/>
          </a:solidFill>
          <a:ln/>
        </p:spPr>
        <p:txBody>
          <a:bodyPr wrap="square" lIns="0" tIns="0" rIns="0" bIns="0" rtlCol="0" anchor="ctr"/>
          <a:lstStyle/>
          <a:p>
            <a:pPr algn="ctr" indent="0" marL="0">
              <a:buNone/>
            </a:pPr>
            <a:r>
              <a:rPr lang="en-US" sz="900" b="1" dirty="0">
                <a:solidFill>
                  <a:schemeClr val="bg1"/>
                </a:solidFill>
              </a:rPr>
              <a:t>Meet／ドキュメント</a:t>
            </a:r>
            <a:endParaRPr lang="en-US" sz="900" dirty="0"/>
          </a:p>
        </p:txBody>
      </p:sp>
      <p:sp>
        <p:nvSpPr>
          <p:cNvPr id="19" name="Text 15"/>
          <p:cNvSpPr txBox="1"/>
          <p:nvPr/>
        </p:nvSpPr>
        <p:spPr>
          <a:xfrm>
            <a:off x="6507328" y="2951612"/>
            <a:ext cx="3169768" cy="371935"/>
          </a:xfrm>
          <a:prstGeom prst="rect">
            <a:avLst/>
          </a:prstGeom>
          <a:noFill/>
          <a:ln/>
        </p:spPr>
        <p:txBody>
          <a:bodyPr wrap="square" lIns="0" tIns="0" rIns="0" bIns="0" rtlCol="0" anchor="ctr"/>
          <a:lstStyle/>
          <a:p>
            <a:pPr indent="0" marL="0">
              <a:buNone/>
            </a:pPr>
            <a:r>
              <a:rPr lang="en-US" sz="1300" dirty="0">
                <a:solidFill>
                  <a:schemeClr val="tx1"/>
                </a:solidFill>
              </a:rPr>
              <a:t>研修資料の作成・やさしい日本語化</a:t>
            </a:r>
            <a:endParaRPr lang="en-US" sz="1300" dirty="0"/>
          </a:p>
        </p:txBody>
      </p:sp>
      <p:sp>
        <p:nvSpPr>
          <p:cNvPr id="20" name="Text 16"/>
          <p:cNvSpPr txBox="1"/>
          <p:nvPr/>
        </p:nvSpPr>
        <p:spPr>
          <a:xfrm>
            <a:off x="9722815" y="3003270"/>
            <a:ext cx="1737360" cy="268620"/>
          </a:xfrm>
          <a:prstGeom prst="roundRect">
            <a:avLst>
              <a:gd name="adj" fmla="val 20424"/>
            </a:avLst>
          </a:prstGeom>
          <a:solidFill>
            <a:schemeClr val="accent3"/>
          </a:solidFill>
          <a:ln/>
        </p:spPr>
        <p:txBody>
          <a:bodyPr wrap="square" lIns="0" tIns="0" rIns="0" bIns="0" rtlCol="0" anchor="ctr"/>
          <a:lstStyle/>
          <a:p>
            <a:pPr algn="ctr" indent="0" marL="0">
              <a:buNone/>
            </a:pPr>
            <a:r>
              <a:rPr lang="en-US" sz="900" b="1" dirty="0">
                <a:solidFill>
                  <a:schemeClr val="bg1"/>
                </a:solidFill>
              </a:rPr>
              <a:t>スライド／Gemini</a:t>
            </a:r>
            <a:endParaRPr lang="en-US" sz="900" dirty="0"/>
          </a:p>
        </p:txBody>
      </p:sp>
      <p:sp>
        <p:nvSpPr>
          <p:cNvPr id="21" name="Text 17"/>
          <p:cNvSpPr txBox="1"/>
          <p:nvPr/>
        </p:nvSpPr>
        <p:spPr>
          <a:xfrm>
            <a:off x="6507328" y="3385536"/>
            <a:ext cx="3169768" cy="371935"/>
          </a:xfrm>
          <a:prstGeom prst="rect">
            <a:avLst/>
          </a:prstGeom>
          <a:noFill/>
          <a:ln/>
        </p:spPr>
        <p:txBody>
          <a:bodyPr wrap="square" lIns="0" tIns="0" rIns="0" bIns="0" rtlCol="0" anchor="ctr"/>
          <a:lstStyle/>
          <a:p>
            <a:pPr indent="0" marL="0">
              <a:buNone/>
            </a:pPr>
            <a:r>
              <a:rPr lang="en-US" sz="1300" dirty="0">
                <a:solidFill>
                  <a:schemeClr val="tx1"/>
                </a:solidFill>
              </a:rPr>
              <a:t>稼働・加算関連データの集計と分析</a:t>
            </a:r>
            <a:endParaRPr lang="en-US" sz="1300" dirty="0"/>
          </a:p>
        </p:txBody>
      </p:sp>
      <p:sp>
        <p:nvSpPr>
          <p:cNvPr id="22" name="Text 18"/>
          <p:cNvSpPr txBox="1"/>
          <p:nvPr/>
        </p:nvSpPr>
        <p:spPr>
          <a:xfrm>
            <a:off x="9722815" y="3437194"/>
            <a:ext cx="1737360" cy="268620"/>
          </a:xfrm>
          <a:prstGeom prst="roundRect">
            <a:avLst>
              <a:gd name="adj" fmla="val 20424"/>
            </a:avLst>
          </a:prstGeom>
          <a:solidFill>
            <a:schemeClr val="accent3"/>
          </a:solidFill>
          <a:ln/>
        </p:spPr>
        <p:txBody>
          <a:bodyPr wrap="square" lIns="0" tIns="0" rIns="0" bIns="0" rtlCol="0" anchor="ctr"/>
          <a:lstStyle/>
          <a:p>
            <a:pPr algn="ctr" indent="0" marL="0">
              <a:buNone/>
            </a:pPr>
            <a:r>
              <a:rPr lang="en-US" sz="900" b="1" dirty="0">
                <a:solidFill>
                  <a:schemeClr val="bg1"/>
                </a:solidFill>
              </a:rPr>
              <a:t>スプレッドシート</a:t>
            </a:r>
            <a:endParaRPr lang="en-US" sz="900" dirty="0"/>
          </a:p>
        </p:txBody>
      </p:sp>
      <p:sp>
        <p:nvSpPr>
          <p:cNvPr id="23" name="Shape 19"/>
          <p:cNvSpPr/>
          <p:nvPr/>
        </p:nvSpPr>
        <p:spPr>
          <a:xfrm>
            <a:off x="548640" y="4119075"/>
            <a:ext cx="5410048" cy="2252274"/>
          </a:xfrm>
          <a:prstGeom prst="roundRect">
            <a:avLst>
              <a:gd name="adj" fmla="val 4060"/>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24" name="Image 2" descr="handshake">    </p:cNvPr>
          <p:cNvPicPr>
            <a:picLocks noChangeAspect="1"/>
          </p:cNvPicPr>
          <p:nvPr/>
        </p:nvPicPr>
        <p:blipFill>
          <a:blip r:embed="rId3"/>
          <a:stretch>
            <a:fillRect/>
          </a:stretch>
        </p:blipFill>
        <p:spPr>
          <a:xfrm>
            <a:off x="720090" y="4323301"/>
            <a:ext cx="480060" cy="480060"/>
          </a:xfrm>
          <a:prstGeom prst="rect">
            <a:avLst/>
          </a:prstGeom>
        </p:spPr>
      </p:pic>
      <p:sp>
        <p:nvSpPr>
          <p:cNvPr id="25" name="Text 20"/>
          <p:cNvSpPr txBox="1"/>
          <p:nvPr/>
        </p:nvSpPr>
        <p:spPr>
          <a:xfrm>
            <a:off x="1325880" y="4325706"/>
            <a:ext cx="4495648" cy="464919"/>
          </a:xfrm>
          <a:prstGeom prst="rect">
            <a:avLst/>
          </a:prstGeom>
          <a:noFill/>
          <a:ln/>
        </p:spPr>
        <p:txBody>
          <a:bodyPr wrap="square" lIns="0" tIns="0" rIns="0" bIns="0" rtlCol="0" anchor="ctr"/>
          <a:lstStyle/>
          <a:p>
            <a:pPr indent="0" marL="0">
              <a:buNone/>
            </a:pPr>
            <a:r>
              <a:rPr lang="en-US" sz="1500" b="1" dirty="0">
                <a:solidFill>
                  <a:schemeClr val="tx2"/>
                </a:solidFill>
              </a:rPr>
              <a:t>営業部門（入居相談・地域連携）</a:t>
            </a:r>
            <a:endParaRPr lang="en-US" sz="1500" dirty="0"/>
          </a:p>
        </p:txBody>
      </p:sp>
      <p:sp>
        <p:nvSpPr>
          <p:cNvPr id="26" name="Text 21"/>
          <p:cNvSpPr txBox="1"/>
          <p:nvPr/>
        </p:nvSpPr>
        <p:spPr>
          <a:xfrm>
            <a:off x="822960" y="4997255"/>
            <a:ext cx="3169768" cy="371935"/>
          </a:xfrm>
          <a:prstGeom prst="rect">
            <a:avLst/>
          </a:prstGeom>
          <a:noFill/>
          <a:ln/>
        </p:spPr>
        <p:txBody>
          <a:bodyPr wrap="square" lIns="0" tIns="0" rIns="0" bIns="0" rtlCol="0" anchor="ctr"/>
          <a:lstStyle/>
          <a:p>
            <a:pPr indent="0" marL="0">
              <a:buNone/>
            </a:pPr>
            <a:r>
              <a:rPr lang="en-US" sz="1300" dirty="0">
                <a:solidFill>
                  <a:schemeClr val="tx1"/>
                </a:solidFill>
              </a:rPr>
              <a:t>問い合わせ返信・お礼メールの下書き</a:t>
            </a:r>
            <a:endParaRPr lang="en-US" sz="1300" dirty="0"/>
          </a:p>
        </p:txBody>
      </p:sp>
      <p:sp>
        <p:nvSpPr>
          <p:cNvPr id="27" name="Text 22"/>
          <p:cNvSpPr txBox="1"/>
          <p:nvPr/>
        </p:nvSpPr>
        <p:spPr>
          <a:xfrm>
            <a:off x="4038448" y="5048913"/>
            <a:ext cx="1737360" cy="268620"/>
          </a:xfrm>
          <a:prstGeom prst="roundRect">
            <a:avLst>
              <a:gd name="adj" fmla="val 20424"/>
            </a:avLst>
          </a:prstGeom>
          <a:solidFill>
            <a:schemeClr val="accent2"/>
          </a:solidFill>
          <a:ln/>
        </p:spPr>
        <p:txBody>
          <a:bodyPr wrap="square" lIns="0" tIns="0" rIns="0" bIns="0" rtlCol="0" anchor="ctr"/>
          <a:lstStyle/>
          <a:p>
            <a:pPr algn="ctr" indent="0" marL="0">
              <a:buNone/>
            </a:pPr>
            <a:r>
              <a:rPr lang="en-US" sz="900" b="1" dirty="0">
                <a:solidFill>
                  <a:schemeClr val="bg1"/>
                </a:solidFill>
              </a:rPr>
              <a:t>Gmail</a:t>
            </a:r>
            <a:endParaRPr lang="en-US" sz="900" dirty="0"/>
          </a:p>
        </p:txBody>
      </p:sp>
      <p:sp>
        <p:nvSpPr>
          <p:cNvPr id="28" name="Text 23"/>
          <p:cNvSpPr txBox="1"/>
          <p:nvPr/>
        </p:nvSpPr>
        <p:spPr>
          <a:xfrm>
            <a:off x="822960" y="5431180"/>
            <a:ext cx="3169768" cy="371935"/>
          </a:xfrm>
          <a:prstGeom prst="rect">
            <a:avLst/>
          </a:prstGeom>
          <a:noFill/>
          <a:ln/>
        </p:spPr>
        <p:txBody>
          <a:bodyPr wrap="square" lIns="0" tIns="0" rIns="0" bIns="0" rtlCol="0" anchor="ctr"/>
          <a:lstStyle/>
          <a:p>
            <a:pPr indent="0" marL="0">
              <a:buNone/>
            </a:pPr>
            <a:r>
              <a:rPr lang="en-US" sz="1300" dirty="0">
                <a:solidFill>
                  <a:schemeClr val="tx1"/>
                </a:solidFill>
              </a:rPr>
              <a:t>施設紹介資料・提案資料の作成</a:t>
            </a:r>
            <a:endParaRPr lang="en-US" sz="1300" dirty="0"/>
          </a:p>
        </p:txBody>
      </p:sp>
      <p:sp>
        <p:nvSpPr>
          <p:cNvPr id="29" name="Text 24"/>
          <p:cNvSpPr txBox="1"/>
          <p:nvPr/>
        </p:nvSpPr>
        <p:spPr>
          <a:xfrm>
            <a:off x="4038448" y="5482837"/>
            <a:ext cx="1737360" cy="268620"/>
          </a:xfrm>
          <a:prstGeom prst="roundRect">
            <a:avLst>
              <a:gd name="adj" fmla="val 20424"/>
            </a:avLst>
          </a:prstGeom>
          <a:solidFill>
            <a:schemeClr val="accent2"/>
          </a:solidFill>
          <a:ln/>
        </p:spPr>
        <p:txBody>
          <a:bodyPr wrap="square" lIns="0" tIns="0" rIns="0" bIns="0" rtlCol="0" anchor="ctr"/>
          <a:lstStyle/>
          <a:p>
            <a:pPr algn="ctr" indent="0" marL="0">
              <a:buNone/>
            </a:pPr>
            <a:r>
              <a:rPr lang="en-US" sz="900" b="1" dirty="0">
                <a:solidFill>
                  <a:schemeClr val="bg1"/>
                </a:solidFill>
              </a:rPr>
              <a:t>スライド</a:t>
            </a:r>
            <a:endParaRPr lang="en-US" sz="900" dirty="0"/>
          </a:p>
        </p:txBody>
      </p:sp>
      <p:sp>
        <p:nvSpPr>
          <p:cNvPr id="30" name="Text 25"/>
          <p:cNvSpPr txBox="1"/>
          <p:nvPr/>
        </p:nvSpPr>
        <p:spPr>
          <a:xfrm>
            <a:off x="822960" y="5865104"/>
            <a:ext cx="3169768" cy="371935"/>
          </a:xfrm>
          <a:prstGeom prst="rect">
            <a:avLst/>
          </a:prstGeom>
          <a:noFill/>
          <a:ln/>
        </p:spPr>
        <p:txBody>
          <a:bodyPr wrap="square" lIns="0" tIns="0" rIns="0" bIns="0" rtlCol="0" anchor="ctr"/>
          <a:lstStyle/>
          <a:p>
            <a:pPr indent="0" marL="0">
              <a:buNone/>
            </a:pPr>
            <a:r>
              <a:rPr lang="en-US" sz="1300" dirty="0">
                <a:solidFill>
                  <a:schemeClr val="tx1"/>
                </a:solidFill>
              </a:rPr>
              <a:t>面談メモの要約と次回アクション整理</a:t>
            </a:r>
            <a:endParaRPr lang="en-US" sz="1300" dirty="0"/>
          </a:p>
        </p:txBody>
      </p:sp>
      <p:sp>
        <p:nvSpPr>
          <p:cNvPr id="31" name="Text 26"/>
          <p:cNvSpPr txBox="1"/>
          <p:nvPr/>
        </p:nvSpPr>
        <p:spPr>
          <a:xfrm>
            <a:off x="4038448" y="5916762"/>
            <a:ext cx="1737360" cy="268620"/>
          </a:xfrm>
          <a:prstGeom prst="roundRect">
            <a:avLst>
              <a:gd name="adj" fmla="val 20424"/>
            </a:avLst>
          </a:prstGeom>
          <a:solidFill>
            <a:schemeClr val="accent2"/>
          </a:solidFill>
          <a:ln/>
        </p:spPr>
        <p:txBody>
          <a:bodyPr wrap="square" lIns="0" tIns="0" rIns="0" bIns="0" rtlCol="0" anchor="ctr"/>
          <a:lstStyle/>
          <a:p>
            <a:pPr algn="ctr" indent="0" marL="0">
              <a:buNone/>
            </a:pPr>
            <a:r>
              <a:rPr lang="en-US" sz="900" b="1" dirty="0">
                <a:solidFill>
                  <a:schemeClr val="bg1"/>
                </a:solidFill>
              </a:rPr>
              <a:t>ドキュメント／Gemini</a:t>
            </a:r>
            <a:endParaRPr lang="en-US" sz="900" dirty="0"/>
          </a:p>
        </p:txBody>
      </p:sp>
      <p:sp>
        <p:nvSpPr>
          <p:cNvPr id="32" name="Shape 27"/>
          <p:cNvSpPr/>
          <p:nvPr/>
        </p:nvSpPr>
        <p:spPr>
          <a:xfrm>
            <a:off x="6233008" y="4119075"/>
            <a:ext cx="5410048" cy="2252274"/>
          </a:xfrm>
          <a:prstGeom prst="roundRect">
            <a:avLst>
              <a:gd name="adj" fmla="val 4060"/>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33" name="Image 3" descr="man-office-worker">    </p:cNvPr>
          <p:cNvPicPr>
            <a:picLocks noChangeAspect="1"/>
          </p:cNvPicPr>
          <p:nvPr/>
        </p:nvPicPr>
        <p:blipFill>
          <a:blip r:embed="rId4"/>
          <a:stretch>
            <a:fillRect/>
          </a:stretch>
        </p:blipFill>
        <p:spPr>
          <a:xfrm>
            <a:off x="6404458" y="4323301"/>
            <a:ext cx="480060" cy="480060"/>
          </a:xfrm>
          <a:prstGeom prst="rect">
            <a:avLst/>
          </a:prstGeom>
        </p:spPr>
      </p:pic>
      <p:sp>
        <p:nvSpPr>
          <p:cNvPr id="34" name="Text 28"/>
          <p:cNvSpPr txBox="1"/>
          <p:nvPr/>
        </p:nvSpPr>
        <p:spPr>
          <a:xfrm>
            <a:off x="7010248" y="4325706"/>
            <a:ext cx="4495648" cy="464919"/>
          </a:xfrm>
          <a:prstGeom prst="rect">
            <a:avLst/>
          </a:prstGeom>
          <a:noFill/>
          <a:ln/>
        </p:spPr>
        <p:txBody>
          <a:bodyPr wrap="square" lIns="0" tIns="0" rIns="0" bIns="0" rtlCol="0" anchor="ctr"/>
          <a:lstStyle/>
          <a:p>
            <a:pPr indent="0" marL="0">
              <a:buNone/>
            </a:pPr>
            <a:r>
              <a:rPr lang="en-US" sz="1500" b="1" dirty="0">
                <a:solidFill>
                  <a:schemeClr val="tx2"/>
                </a:solidFill>
              </a:rPr>
              <a:t>経営・本部</a:t>
            </a:r>
            <a:endParaRPr lang="en-US" sz="1500" dirty="0"/>
          </a:p>
        </p:txBody>
      </p:sp>
      <p:sp>
        <p:nvSpPr>
          <p:cNvPr id="35" name="Text 29"/>
          <p:cNvSpPr txBox="1"/>
          <p:nvPr/>
        </p:nvSpPr>
        <p:spPr>
          <a:xfrm>
            <a:off x="6507328" y="4997255"/>
            <a:ext cx="3169768" cy="371935"/>
          </a:xfrm>
          <a:prstGeom prst="rect">
            <a:avLst/>
          </a:prstGeom>
          <a:noFill/>
          <a:ln/>
        </p:spPr>
        <p:txBody>
          <a:bodyPr wrap="square" lIns="0" tIns="0" rIns="0" bIns="0" rtlCol="0" anchor="ctr"/>
          <a:lstStyle/>
          <a:p>
            <a:pPr indent="0" marL="0">
              <a:buNone/>
            </a:pPr>
            <a:r>
              <a:rPr lang="en-US" sz="1300" dirty="0">
                <a:solidFill>
                  <a:schemeClr val="tx1"/>
                </a:solidFill>
              </a:rPr>
              <a:t>月次会議資料の作成・要約</a:t>
            </a:r>
            <a:endParaRPr lang="en-US" sz="1300" dirty="0"/>
          </a:p>
        </p:txBody>
      </p:sp>
      <p:sp>
        <p:nvSpPr>
          <p:cNvPr id="36" name="Text 30"/>
          <p:cNvSpPr txBox="1"/>
          <p:nvPr/>
        </p:nvSpPr>
        <p:spPr>
          <a:xfrm>
            <a:off x="9722815" y="5048913"/>
            <a:ext cx="1737360" cy="268620"/>
          </a:xfrm>
          <a:prstGeom prst="roundRect">
            <a:avLst>
              <a:gd name="adj" fmla="val 20424"/>
            </a:avLst>
          </a:prstGeom>
          <a:solidFill>
            <a:schemeClr val="tx2"/>
          </a:solidFill>
          <a:ln/>
        </p:spPr>
        <p:txBody>
          <a:bodyPr wrap="square" lIns="0" tIns="0" rIns="0" bIns="0" rtlCol="0" anchor="ctr"/>
          <a:lstStyle/>
          <a:p>
            <a:pPr algn="ctr" indent="0" marL="0">
              <a:buNone/>
            </a:pPr>
            <a:r>
              <a:rPr lang="en-US" sz="900" b="1" dirty="0">
                <a:solidFill>
                  <a:schemeClr val="bg1"/>
                </a:solidFill>
              </a:rPr>
              <a:t>スライド／スプレッドシート</a:t>
            </a:r>
            <a:endParaRPr lang="en-US" sz="900" dirty="0"/>
          </a:p>
        </p:txBody>
      </p:sp>
      <p:sp>
        <p:nvSpPr>
          <p:cNvPr id="37" name="Text 31"/>
          <p:cNvSpPr txBox="1"/>
          <p:nvPr/>
        </p:nvSpPr>
        <p:spPr>
          <a:xfrm>
            <a:off x="6507328" y="5431180"/>
            <a:ext cx="3169768" cy="371935"/>
          </a:xfrm>
          <a:prstGeom prst="rect">
            <a:avLst/>
          </a:prstGeom>
          <a:noFill/>
          <a:ln/>
        </p:spPr>
        <p:txBody>
          <a:bodyPr wrap="square" lIns="0" tIns="0" rIns="0" bIns="0" rtlCol="0" anchor="ctr"/>
          <a:lstStyle/>
          <a:p>
            <a:pPr indent="0" marL="0">
              <a:buNone/>
            </a:pPr>
            <a:r>
              <a:rPr lang="en-US" sz="1300" dirty="0">
                <a:solidFill>
                  <a:schemeClr val="tx1"/>
                </a:solidFill>
              </a:rPr>
              <a:t>制度改正・報酬改定情報の要点整理</a:t>
            </a:r>
            <a:endParaRPr lang="en-US" sz="1300" dirty="0"/>
          </a:p>
        </p:txBody>
      </p:sp>
      <p:sp>
        <p:nvSpPr>
          <p:cNvPr id="38" name="Text 32"/>
          <p:cNvSpPr txBox="1"/>
          <p:nvPr/>
        </p:nvSpPr>
        <p:spPr>
          <a:xfrm>
            <a:off x="9722815" y="5482837"/>
            <a:ext cx="1737360" cy="268620"/>
          </a:xfrm>
          <a:prstGeom prst="roundRect">
            <a:avLst>
              <a:gd name="adj" fmla="val 20424"/>
            </a:avLst>
          </a:prstGeom>
          <a:solidFill>
            <a:schemeClr val="tx2"/>
          </a:solidFill>
          <a:ln/>
        </p:spPr>
        <p:txBody>
          <a:bodyPr wrap="square" lIns="0" tIns="0" rIns="0" bIns="0" rtlCol="0" anchor="ctr"/>
          <a:lstStyle/>
          <a:p>
            <a:pPr algn="ctr" indent="0" marL="0">
              <a:buNone/>
            </a:pPr>
            <a:r>
              <a:rPr lang="en-US" sz="900" b="1" dirty="0">
                <a:solidFill>
                  <a:schemeClr val="bg1"/>
                </a:solidFill>
              </a:rPr>
              <a:t>Gemini</a:t>
            </a:r>
            <a:endParaRPr lang="en-US" sz="900" dirty="0"/>
          </a:p>
        </p:txBody>
      </p:sp>
      <p:sp>
        <p:nvSpPr>
          <p:cNvPr id="39" name="Text 33"/>
          <p:cNvSpPr txBox="1"/>
          <p:nvPr/>
        </p:nvSpPr>
        <p:spPr>
          <a:xfrm>
            <a:off x="6507328" y="5865104"/>
            <a:ext cx="3169768" cy="371935"/>
          </a:xfrm>
          <a:prstGeom prst="rect">
            <a:avLst/>
          </a:prstGeom>
          <a:noFill/>
          <a:ln/>
        </p:spPr>
        <p:txBody>
          <a:bodyPr wrap="square" lIns="0" tIns="0" rIns="0" bIns="0" rtlCol="0" anchor="ctr"/>
          <a:lstStyle/>
          <a:p>
            <a:pPr indent="0" marL="0">
              <a:buNone/>
            </a:pPr>
            <a:r>
              <a:rPr lang="en-US" sz="1300" dirty="0">
                <a:solidFill>
                  <a:schemeClr val="tx1"/>
                </a:solidFill>
              </a:rPr>
              <a:t>事業計画・企画書のたたき台</a:t>
            </a:r>
            <a:endParaRPr lang="en-US" sz="1300" dirty="0"/>
          </a:p>
        </p:txBody>
      </p:sp>
      <p:sp>
        <p:nvSpPr>
          <p:cNvPr id="40" name="Text 34"/>
          <p:cNvSpPr txBox="1"/>
          <p:nvPr/>
        </p:nvSpPr>
        <p:spPr>
          <a:xfrm>
            <a:off x="9722815" y="5916762"/>
            <a:ext cx="1737360" cy="268620"/>
          </a:xfrm>
          <a:prstGeom prst="roundRect">
            <a:avLst>
              <a:gd name="adj" fmla="val 20424"/>
            </a:avLst>
          </a:prstGeom>
          <a:solidFill>
            <a:schemeClr val="tx2"/>
          </a:solidFill>
          <a:ln/>
        </p:spPr>
        <p:txBody>
          <a:bodyPr wrap="square" lIns="0" tIns="0" rIns="0" bIns="0" rtlCol="0" anchor="ctr"/>
          <a:lstStyle/>
          <a:p>
            <a:pPr algn="ctr" indent="0" marL="0">
              <a:buNone/>
            </a:pPr>
            <a:r>
              <a:rPr lang="en-US" sz="900" b="1" dirty="0">
                <a:solidFill>
                  <a:schemeClr val="bg1"/>
                </a:solidFill>
              </a:rPr>
              <a:t>ドキュメント</a:t>
            </a:r>
            <a:endParaRPr lang="en-US" sz="9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効果を実感しやすい業務から着手します</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「効果の大きさ」と「始めやすさ」で業務を整理し、すぐ成果が出る業務から「型」にして現場の抵抗感を下げます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02｜ご提案内容　柱② 業務別AI 活用の「型」づくり</a:t>
            </a:r>
            <a:endParaRPr lang="en-US" sz="900" dirty="0"/>
          </a:p>
        </p:txBody>
      </p:sp>
      <p:sp>
        <p:nvSpPr>
          <p:cNvPr id="5" name="Shape 3"/>
          <p:cNvSpPr/>
          <p:nvPr/>
        </p:nvSpPr>
        <p:spPr>
          <a:xfrm>
            <a:off x="1005840" y="1691165"/>
            <a:ext cx="3017520" cy="2195451"/>
          </a:xfrm>
          <a:prstGeom prst="rect">
            <a:avLst/>
          </a:prstGeom>
          <a:solidFill>
            <a:schemeClr val="accent2">
              <a:alpha val="8000"/>
            </a:schemeClr>
          </a:solidFill>
          <a:ln w="25400">
            <a:solidFill>
              <a:srgbClr val="FFFFFF"/>
            </a:solidFill>
            <a:prstDash val="solid"/>
          </a:ln>
        </p:spPr>
      </p:sp>
      <p:sp>
        <p:nvSpPr>
          <p:cNvPr id="6" name="Shape 4"/>
          <p:cNvSpPr/>
          <p:nvPr/>
        </p:nvSpPr>
        <p:spPr>
          <a:xfrm>
            <a:off x="4023360" y="1691165"/>
            <a:ext cx="3017520" cy="2195451"/>
          </a:xfrm>
          <a:prstGeom prst="rect">
            <a:avLst/>
          </a:prstGeom>
          <a:solidFill>
            <a:schemeClr val="accent3">
              <a:alpha val="15000"/>
            </a:schemeClr>
          </a:solidFill>
          <a:ln w="25400">
            <a:solidFill>
              <a:srgbClr val="FFFFFF"/>
            </a:solidFill>
            <a:prstDash val="solid"/>
          </a:ln>
        </p:spPr>
      </p:sp>
      <p:sp>
        <p:nvSpPr>
          <p:cNvPr id="7" name="Shape 5"/>
          <p:cNvSpPr/>
          <p:nvPr/>
        </p:nvSpPr>
        <p:spPr>
          <a:xfrm>
            <a:off x="1005840" y="3886616"/>
            <a:ext cx="3017520" cy="2195451"/>
          </a:xfrm>
          <a:prstGeom prst="rect">
            <a:avLst/>
          </a:prstGeom>
          <a:solidFill>
            <a:srgbClr val="F3F3F6"/>
          </a:solidFill>
          <a:ln w="25400">
            <a:solidFill>
              <a:srgbClr val="FFFFFF"/>
            </a:solidFill>
            <a:prstDash val="solid"/>
          </a:ln>
        </p:spPr>
      </p:sp>
      <p:sp>
        <p:nvSpPr>
          <p:cNvPr id="8" name="Shape 6"/>
          <p:cNvSpPr/>
          <p:nvPr/>
        </p:nvSpPr>
        <p:spPr>
          <a:xfrm>
            <a:off x="4023360" y="3886616"/>
            <a:ext cx="3017520" cy="2195451"/>
          </a:xfrm>
          <a:prstGeom prst="rect">
            <a:avLst/>
          </a:prstGeom>
          <a:solidFill>
            <a:schemeClr val="accent4">
              <a:alpha val="12000"/>
            </a:schemeClr>
          </a:solidFill>
          <a:ln w="25400">
            <a:solidFill>
              <a:srgbClr val="FFFFFF"/>
            </a:solidFill>
            <a:prstDash val="solid"/>
          </a:ln>
        </p:spPr>
      </p:sp>
      <p:sp>
        <p:nvSpPr>
          <p:cNvPr id="9" name="Text 7"/>
          <p:cNvSpPr txBox="1"/>
          <p:nvPr/>
        </p:nvSpPr>
        <p:spPr>
          <a:xfrm>
            <a:off x="1115568" y="1773817"/>
            <a:ext cx="2286000" cy="289283"/>
          </a:xfrm>
          <a:prstGeom prst="rect">
            <a:avLst/>
          </a:prstGeom>
          <a:noFill/>
          <a:ln/>
        </p:spPr>
        <p:txBody>
          <a:bodyPr wrap="square" lIns="0" tIns="0" rIns="0" bIns="0" rtlCol="0" anchor="t"/>
          <a:lstStyle/>
          <a:p>
            <a:pPr indent="0" marL="0">
              <a:buNone/>
            </a:pPr>
            <a:r>
              <a:rPr lang="en-US" sz="1100" b="1" dirty="0">
                <a:solidFill>
                  <a:schemeClr val="accent2"/>
                </a:solidFill>
              </a:rPr>
              <a:t>仕組み化（STEP2）</a:t>
            </a:r>
            <a:endParaRPr lang="en-US" sz="1100" dirty="0"/>
          </a:p>
        </p:txBody>
      </p:sp>
      <p:sp>
        <p:nvSpPr>
          <p:cNvPr id="10" name="Text 8"/>
          <p:cNvSpPr txBox="1"/>
          <p:nvPr/>
        </p:nvSpPr>
        <p:spPr>
          <a:xfrm>
            <a:off x="4133088" y="1773817"/>
            <a:ext cx="2560320" cy="289283"/>
          </a:xfrm>
          <a:prstGeom prst="rect">
            <a:avLst/>
          </a:prstGeom>
          <a:noFill/>
          <a:ln/>
        </p:spPr>
        <p:txBody>
          <a:bodyPr wrap="square" lIns="0" tIns="0" rIns="0" bIns="0" rtlCol="0" anchor="t"/>
          <a:lstStyle/>
          <a:p>
            <a:pPr indent="0" marL="0">
              <a:buNone/>
            </a:pPr>
            <a:r>
              <a:rPr lang="en-US" sz="1100" b="1" dirty="0">
                <a:solidFill>
                  <a:schemeClr val="accent3"/>
                </a:solidFill>
              </a:rPr>
              <a:t>クイックウィン（STEP1）</a:t>
            </a:r>
            <a:endParaRPr lang="en-US" sz="1100" dirty="0"/>
          </a:p>
        </p:txBody>
      </p:sp>
      <p:sp>
        <p:nvSpPr>
          <p:cNvPr id="11" name="Text 9"/>
          <p:cNvSpPr txBox="1"/>
          <p:nvPr/>
        </p:nvSpPr>
        <p:spPr>
          <a:xfrm>
            <a:off x="1115568" y="3969268"/>
            <a:ext cx="2286000" cy="289283"/>
          </a:xfrm>
          <a:prstGeom prst="rect">
            <a:avLst/>
          </a:prstGeom>
          <a:noFill/>
          <a:ln/>
        </p:spPr>
        <p:txBody>
          <a:bodyPr wrap="square" lIns="0" tIns="0" rIns="0" bIns="0" rtlCol="0" anchor="t"/>
          <a:lstStyle/>
          <a:p>
            <a:pPr indent="0" marL="0">
              <a:buNone/>
            </a:pPr>
            <a:r>
              <a:rPr lang="en-US" sz="1100" b="1" dirty="0">
                <a:solidFill>
                  <a:schemeClr val="accent6"/>
                </a:solidFill>
              </a:rPr>
              <a:t>将来検討（STEP3）</a:t>
            </a:r>
            <a:endParaRPr lang="en-US" sz="1100" dirty="0"/>
          </a:p>
        </p:txBody>
      </p:sp>
      <p:sp>
        <p:nvSpPr>
          <p:cNvPr id="12" name="Text 10"/>
          <p:cNvSpPr txBox="1"/>
          <p:nvPr/>
        </p:nvSpPr>
        <p:spPr>
          <a:xfrm>
            <a:off x="4133088" y="3969268"/>
            <a:ext cx="2560320" cy="289283"/>
          </a:xfrm>
          <a:prstGeom prst="rect">
            <a:avLst/>
          </a:prstGeom>
          <a:noFill/>
          <a:ln/>
        </p:spPr>
        <p:txBody>
          <a:bodyPr wrap="square" lIns="0" tIns="0" rIns="0" bIns="0" rtlCol="0" anchor="t"/>
          <a:lstStyle/>
          <a:p>
            <a:pPr indent="0" marL="0">
              <a:buNone/>
            </a:pPr>
            <a:r>
              <a:rPr lang="en-US" sz="1100" b="1" dirty="0">
                <a:solidFill>
                  <a:srgbClr val="B07A1E"/>
                </a:solidFill>
              </a:rPr>
              <a:t>すき間時間で（随時）</a:t>
            </a:r>
            <a:endParaRPr lang="en-US" sz="1100" dirty="0"/>
          </a:p>
        </p:txBody>
      </p:sp>
      <p:sp>
        <p:nvSpPr>
          <p:cNvPr id="13" name="Text 11"/>
          <p:cNvSpPr txBox="1"/>
          <p:nvPr/>
        </p:nvSpPr>
        <p:spPr>
          <a:xfrm rot="16200000">
            <a:off x="-182880" y="3749456"/>
            <a:ext cx="1828800" cy="274320"/>
          </a:xfrm>
          <a:prstGeom prst="rect">
            <a:avLst/>
          </a:prstGeom>
          <a:noFill/>
          <a:ln/>
        </p:spPr>
        <p:txBody>
          <a:bodyPr wrap="square" lIns="0" tIns="0" rIns="0" bIns="0" rtlCol="0" anchor="t"/>
          <a:lstStyle/>
          <a:p>
            <a:pPr algn="ctr" indent="0" marL="0">
              <a:buNone/>
            </a:pPr>
            <a:r>
              <a:rPr lang="en-US" sz="1100" dirty="0">
                <a:solidFill>
                  <a:schemeClr val="accent6"/>
                </a:solidFill>
              </a:rPr>
              <a:t>効果の大きさ →</a:t>
            </a:r>
            <a:endParaRPr lang="en-US" sz="1100" dirty="0"/>
          </a:p>
        </p:txBody>
      </p:sp>
      <p:sp>
        <p:nvSpPr>
          <p:cNvPr id="14" name="Text 12"/>
          <p:cNvSpPr txBox="1"/>
          <p:nvPr/>
        </p:nvSpPr>
        <p:spPr>
          <a:xfrm>
            <a:off x="1005840" y="6133724"/>
            <a:ext cx="6035040" cy="289283"/>
          </a:xfrm>
          <a:prstGeom prst="rect">
            <a:avLst/>
          </a:prstGeom>
          <a:noFill/>
          <a:ln/>
        </p:spPr>
        <p:txBody>
          <a:bodyPr wrap="square" lIns="0" tIns="0" rIns="0" bIns="0" rtlCol="0" anchor="t"/>
          <a:lstStyle/>
          <a:p>
            <a:pPr algn="ctr" indent="0" marL="0">
              <a:buNone/>
            </a:pPr>
            <a:r>
              <a:rPr lang="en-US" sz="1100" dirty="0">
                <a:solidFill>
                  <a:schemeClr val="accent6"/>
                </a:solidFill>
              </a:rPr>
              <a:t>始めやすさ →</a:t>
            </a:r>
            <a:endParaRPr lang="en-US" sz="1100" dirty="0"/>
          </a:p>
        </p:txBody>
      </p:sp>
      <p:sp>
        <p:nvSpPr>
          <p:cNvPr id="15" name="Shape 13"/>
          <p:cNvSpPr/>
          <p:nvPr/>
        </p:nvSpPr>
        <p:spPr>
          <a:xfrm>
            <a:off x="4897526" y="2038815"/>
            <a:ext cx="182880" cy="182880"/>
          </a:xfrm>
          <a:prstGeom prst="ellipse">
            <a:avLst/>
          </a:prstGeom>
          <a:solidFill>
            <a:schemeClr val="tx2"/>
          </a:solidFill>
          <a:ln/>
        </p:spPr>
      </p:sp>
      <p:sp>
        <p:nvSpPr>
          <p:cNvPr id="16" name="Text 14"/>
          <p:cNvSpPr txBox="1"/>
          <p:nvPr/>
        </p:nvSpPr>
        <p:spPr>
          <a:xfrm>
            <a:off x="5126126" y="1964951"/>
            <a:ext cx="1737360" cy="330609"/>
          </a:xfrm>
          <a:prstGeom prst="rect">
            <a:avLst/>
          </a:prstGeom>
          <a:noFill/>
          <a:ln/>
        </p:spPr>
        <p:txBody>
          <a:bodyPr wrap="square" lIns="0" tIns="0" rIns="0" bIns="0" rtlCol="0" anchor="ctr"/>
          <a:lstStyle/>
          <a:p>
            <a:pPr indent="0" marL="0">
              <a:buNone/>
            </a:pPr>
            <a:r>
              <a:rPr lang="en-US" sz="1200" b="1" dirty="0">
                <a:solidFill>
                  <a:schemeClr val="tx2"/>
                </a:solidFill>
              </a:rPr>
              <a:t>議事録の自動作成</a:t>
            </a:r>
            <a:endParaRPr lang="en-US" sz="1200" dirty="0"/>
          </a:p>
        </p:txBody>
      </p:sp>
      <p:sp>
        <p:nvSpPr>
          <p:cNvPr id="17" name="Shape 15"/>
          <p:cNvSpPr/>
          <p:nvPr/>
        </p:nvSpPr>
        <p:spPr>
          <a:xfrm>
            <a:off x="4294022" y="2565723"/>
            <a:ext cx="182880" cy="182880"/>
          </a:xfrm>
          <a:prstGeom prst="ellipse">
            <a:avLst/>
          </a:prstGeom>
          <a:solidFill>
            <a:schemeClr val="tx2"/>
          </a:solidFill>
          <a:ln/>
        </p:spPr>
      </p:sp>
      <p:sp>
        <p:nvSpPr>
          <p:cNvPr id="18" name="Text 16"/>
          <p:cNvSpPr txBox="1"/>
          <p:nvPr/>
        </p:nvSpPr>
        <p:spPr>
          <a:xfrm>
            <a:off x="4522622" y="2491859"/>
            <a:ext cx="1737360" cy="330609"/>
          </a:xfrm>
          <a:prstGeom prst="rect">
            <a:avLst/>
          </a:prstGeom>
          <a:noFill/>
          <a:ln/>
        </p:spPr>
        <p:txBody>
          <a:bodyPr wrap="square" lIns="0" tIns="0" rIns="0" bIns="0" rtlCol="0" anchor="ctr"/>
          <a:lstStyle/>
          <a:p>
            <a:pPr indent="0" marL="0">
              <a:buNone/>
            </a:pPr>
            <a:r>
              <a:rPr lang="en-US" sz="1200" b="1" dirty="0">
                <a:solidFill>
                  <a:schemeClr val="tx2"/>
                </a:solidFill>
              </a:rPr>
              <a:t>資料作成のたたき台</a:t>
            </a:r>
            <a:endParaRPr lang="en-US" sz="1200" dirty="0"/>
          </a:p>
        </p:txBody>
      </p:sp>
      <p:sp>
        <p:nvSpPr>
          <p:cNvPr id="19" name="Shape 17"/>
          <p:cNvSpPr/>
          <p:nvPr/>
        </p:nvSpPr>
        <p:spPr>
          <a:xfrm>
            <a:off x="5018227" y="3092631"/>
            <a:ext cx="182880" cy="182880"/>
          </a:xfrm>
          <a:prstGeom prst="ellipse">
            <a:avLst/>
          </a:prstGeom>
          <a:solidFill>
            <a:schemeClr val="tx2"/>
          </a:solidFill>
          <a:ln/>
        </p:spPr>
      </p:sp>
      <p:sp>
        <p:nvSpPr>
          <p:cNvPr id="20" name="Text 18"/>
          <p:cNvSpPr txBox="1"/>
          <p:nvPr/>
        </p:nvSpPr>
        <p:spPr>
          <a:xfrm>
            <a:off x="5246827" y="3018767"/>
            <a:ext cx="1737360" cy="330609"/>
          </a:xfrm>
          <a:prstGeom prst="rect">
            <a:avLst/>
          </a:prstGeom>
          <a:noFill/>
          <a:ln/>
        </p:spPr>
        <p:txBody>
          <a:bodyPr wrap="square" lIns="0" tIns="0" rIns="0" bIns="0" rtlCol="0" anchor="ctr"/>
          <a:lstStyle/>
          <a:p>
            <a:pPr indent="0" marL="0">
              <a:buNone/>
            </a:pPr>
            <a:r>
              <a:rPr lang="en-US" sz="1200" b="1" dirty="0">
                <a:solidFill>
                  <a:schemeClr val="tx2"/>
                </a:solidFill>
              </a:rPr>
              <a:t>メール文面の作成</a:t>
            </a:r>
            <a:endParaRPr lang="en-US" sz="1200" dirty="0"/>
          </a:p>
        </p:txBody>
      </p:sp>
      <p:sp>
        <p:nvSpPr>
          <p:cNvPr id="21" name="Shape 19"/>
          <p:cNvSpPr/>
          <p:nvPr/>
        </p:nvSpPr>
        <p:spPr>
          <a:xfrm>
            <a:off x="4354373" y="3531722"/>
            <a:ext cx="182880" cy="182880"/>
          </a:xfrm>
          <a:prstGeom prst="ellipse">
            <a:avLst/>
          </a:prstGeom>
          <a:solidFill>
            <a:schemeClr val="tx2"/>
          </a:solidFill>
          <a:ln/>
        </p:spPr>
      </p:sp>
      <p:sp>
        <p:nvSpPr>
          <p:cNvPr id="22" name="Text 20"/>
          <p:cNvSpPr txBox="1"/>
          <p:nvPr/>
        </p:nvSpPr>
        <p:spPr>
          <a:xfrm>
            <a:off x="4582973" y="3457857"/>
            <a:ext cx="1737360" cy="330609"/>
          </a:xfrm>
          <a:prstGeom prst="rect">
            <a:avLst/>
          </a:prstGeom>
          <a:noFill/>
          <a:ln/>
        </p:spPr>
        <p:txBody>
          <a:bodyPr wrap="square" lIns="0" tIns="0" rIns="0" bIns="0" rtlCol="0" anchor="ctr"/>
          <a:lstStyle/>
          <a:p>
            <a:pPr indent="0" marL="0">
              <a:buNone/>
            </a:pPr>
            <a:r>
              <a:rPr lang="en-US" sz="1200" b="1" dirty="0">
                <a:solidFill>
                  <a:schemeClr val="tx2"/>
                </a:solidFill>
              </a:rPr>
              <a:t>規程・マニュアルQ&amp;A</a:t>
            </a:r>
            <a:endParaRPr lang="en-US" sz="1200" dirty="0"/>
          </a:p>
        </p:txBody>
      </p:sp>
      <p:sp>
        <p:nvSpPr>
          <p:cNvPr id="23" name="Shape 21"/>
          <p:cNvSpPr/>
          <p:nvPr/>
        </p:nvSpPr>
        <p:spPr>
          <a:xfrm>
            <a:off x="1276502" y="2302269"/>
            <a:ext cx="182880" cy="182880"/>
          </a:xfrm>
          <a:prstGeom prst="ellipse">
            <a:avLst/>
          </a:prstGeom>
          <a:solidFill>
            <a:schemeClr val="tx2"/>
          </a:solidFill>
          <a:ln/>
        </p:spPr>
      </p:sp>
      <p:sp>
        <p:nvSpPr>
          <p:cNvPr id="24" name="Text 22"/>
          <p:cNvSpPr txBox="1"/>
          <p:nvPr/>
        </p:nvSpPr>
        <p:spPr>
          <a:xfrm>
            <a:off x="1505102" y="2228405"/>
            <a:ext cx="1737360" cy="330609"/>
          </a:xfrm>
          <a:prstGeom prst="rect">
            <a:avLst/>
          </a:prstGeom>
          <a:noFill/>
          <a:ln/>
        </p:spPr>
        <p:txBody>
          <a:bodyPr wrap="square" lIns="0" tIns="0" rIns="0" bIns="0" rtlCol="0" anchor="ctr"/>
          <a:lstStyle/>
          <a:p>
            <a:pPr indent="0" marL="0">
              <a:buNone/>
            </a:pPr>
            <a:r>
              <a:rPr lang="en-US" sz="1200" b="1" dirty="0">
                <a:solidFill>
                  <a:schemeClr val="tx2"/>
                </a:solidFill>
              </a:rPr>
              <a:t>提出物管理の自動化</a:t>
            </a:r>
            <a:endParaRPr lang="en-US" sz="1200" dirty="0"/>
          </a:p>
        </p:txBody>
      </p:sp>
      <p:sp>
        <p:nvSpPr>
          <p:cNvPr id="25" name="Shape 23"/>
          <p:cNvSpPr/>
          <p:nvPr/>
        </p:nvSpPr>
        <p:spPr>
          <a:xfrm>
            <a:off x="1880006" y="3268267"/>
            <a:ext cx="182880" cy="182880"/>
          </a:xfrm>
          <a:prstGeom prst="ellipse">
            <a:avLst/>
          </a:prstGeom>
          <a:solidFill>
            <a:schemeClr val="tx2"/>
          </a:solidFill>
          <a:ln/>
        </p:spPr>
      </p:sp>
      <p:sp>
        <p:nvSpPr>
          <p:cNvPr id="26" name="Text 24"/>
          <p:cNvSpPr txBox="1"/>
          <p:nvPr/>
        </p:nvSpPr>
        <p:spPr>
          <a:xfrm>
            <a:off x="2108606" y="3194403"/>
            <a:ext cx="1737360" cy="330609"/>
          </a:xfrm>
          <a:prstGeom prst="rect">
            <a:avLst/>
          </a:prstGeom>
          <a:noFill/>
          <a:ln/>
        </p:spPr>
        <p:txBody>
          <a:bodyPr wrap="square" lIns="0" tIns="0" rIns="0" bIns="0" rtlCol="0" anchor="ctr"/>
          <a:lstStyle/>
          <a:p>
            <a:pPr indent="0" marL="0">
              <a:buNone/>
            </a:pPr>
            <a:r>
              <a:rPr lang="en-US" sz="1200" b="1" dirty="0">
                <a:solidFill>
                  <a:schemeClr val="tx2"/>
                </a:solidFill>
              </a:rPr>
              <a:t>月次レポート作成</a:t>
            </a:r>
            <a:endParaRPr lang="en-US" sz="1200" dirty="0"/>
          </a:p>
        </p:txBody>
      </p:sp>
      <p:sp>
        <p:nvSpPr>
          <p:cNvPr id="27" name="Shape 25"/>
          <p:cNvSpPr/>
          <p:nvPr/>
        </p:nvSpPr>
        <p:spPr>
          <a:xfrm>
            <a:off x="1397203" y="4673356"/>
            <a:ext cx="182880" cy="182880"/>
          </a:xfrm>
          <a:prstGeom prst="ellipse">
            <a:avLst/>
          </a:prstGeom>
          <a:solidFill>
            <a:schemeClr val="tx2"/>
          </a:solidFill>
          <a:ln/>
        </p:spPr>
      </p:sp>
      <p:sp>
        <p:nvSpPr>
          <p:cNvPr id="28" name="Text 26"/>
          <p:cNvSpPr txBox="1"/>
          <p:nvPr/>
        </p:nvSpPr>
        <p:spPr>
          <a:xfrm>
            <a:off x="1625803" y="4599491"/>
            <a:ext cx="1737360" cy="330609"/>
          </a:xfrm>
          <a:prstGeom prst="rect">
            <a:avLst/>
          </a:prstGeom>
          <a:noFill/>
          <a:ln/>
        </p:spPr>
        <p:txBody>
          <a:bodyPr wrap="square" lIns="0" tIns="0" rIns="0" bIns="0" rtlCol="0" anchor="ctr"/>
          <a:lstStyle/>
          <a:p>
            <a:pPr indent="0" marL="0">
              <a:buNone/>
            </a:pPr>
            <a:r>
              <a:rPr lang="en-US" sz="1200" b="1" dirty="0">
                <a:solidFill>
                  <a:schemeClr val="tx2"/>
                </a:solidFill>
              </a:rPr>
              <a:t>記録システムとの連携</a:t>
            </a:r>
            <a:endParaRPr lang="en-US" sz="1200" dirty="0"/>
          </a:p>
        </p:txBody>
      </p:sp>
      <p:sp>
        <p:nvSpPr>
          <p:cNvPr id="29" name="Shape 27"/>
          <p:cNvSpPr/>
          <p:nvPr/>
        </p:nvSpPr>
        <p:spPr>
          <a:xfrm>
            <a:off x="4535424" y="4673356"/>
            <a:ext cx="182880" cy="182880"/>
          </a:xfrm>
          <a:prstGeom prst="ellipse">
            <a:avLst/>
          </a:prstGeom>
          <a:solidFill>
            <a:schemeClr val="tx2"/>
          </a:solidFill>
          <a:ln/>
        </p:spPr>
      </p:sp>
      <p:sp>
        <p:nvSpPr>
          <p:cNvPr id="30" name="Text 28"/>
          <p:cNvSpPr txBox="1"/>
          <p:nvPr/>
        </p:nvSpPr>
        <p:spPr>
          <a:xfrm>
            <a:off x="4764024" y="4599491"/>
            <a:ext cx="1737360" cy="330609"/>
          </a:xfrm>
          <a:prstGeom prst="rect">
            <a:avLst/>
          </a:prstGeom>
          <a:noFill/>
          <a:ln/>
        </p:spPr>
        <p:txBody>
          <a:bodyPr wrap="square" lIns="0" tIns="0" rIns="0" bIns="0" rtlCol="0" anchor="ctr"/>
          <a:lstStyle/>
          <a:p>
            <a:pPr indent="0" marL="0">
              <a:buNone/>
            </a:pPr>
            <a:r>
              <a:rPr lang="en-US" sz="1200" b="1" dirty="0">
                <a:solidFill>
                  <a:schemeClr val="tx2"/>
                </a:solidFill>
              </a:rPr>
              <a:t>文章の校正・要約</a:t>
            </a:r>
            <a:endParaRPr lang="en-US" sz="1200" dirty="0"/>
          </a:p>
        </p:txBody>
      </p:sp>
      <p:sp>
        <p:nvSpPr>
          <p:cNvPr id="31" name="Shape 29"/>
          <p:cNvSpPr/>
          <p:nvPr/>
        </p:nvSpPr>
        <p:spPr>
          <a:xfrm>
            <a:off x="7452360" y="1691165"/>
            <a:ext cx="4190695" cy="1343099"/>
          </a:xfrm>
          <a:prstGeom prst="roundRect">
            <a:avLst>
              <a:gd name="adj" fmla="val 6808"/>
            </a:avLst>
          </a:prstGeom>
          <a:solidFill>
            <a:schemeClr val="bg1"/>
          </a:solidFill>
          <a:ln w="9525">
            <a:solidFill>
              <a:srgbClr val="E2E1EE"/>
            </a:solidFill>
            <a:prstDash val="solid"/>
          </a:ln>
        </p:spPr>
      </p:sp>
      <p:sp>
        <p:nvSpPr>
          <p:cNvPr id="32" name="Text 30"/>
          <p:cNvSpPr txBox="1"/>
          <p:nvPr/>
        </p:nvSpPr>
        <p:spPr>
          <a:xfrm>
            <a:off x="7635240" y="1924515"/>
            <a:ext cx="411480" cy="411480"/>
          </a:xfrm>
          <a:prstGeom prst="ellipse">
            <a:avLst/>
          </a:prstGeom>
          <a:solidFill>
            <a:schemeClr val="accent3"/>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3" name="Text 31"/>
          <p:cNvSpPr txBox="1"/>
          <p:nvPr/>
        </p:nvSpPr>
        <p:spPr>
          <a:xfrm>
            <a:off x="8183880" y="1877133"/>
            <a:ext cx="3276295" cy="361604"/>
          </a:xfrm>
          <a:prstGeom prst="rect">
            <a:avLst/>
          </a:prstGeom>
          <a:noFill/>
          <a:ln/>
        </p:spPr>
        <p:txBody>
          <a:bodyPr wrap="square" lIns="0" tIns="0" rIns="0" bIns="0" rtlCol="0" anchor="t"/>
          <a:lstStyle/>
          <a:p>
            <a:pPr indent="0" marL="0">
              <a:buNone/>
            </a:pPr>
            <a:r>
              <a:rPr lang="en-US" sz="1400" b="1" dirty="0">
                <a:solidFill>
                  <a:schemeClr val="tx2"/>
                </a:solidFill>
              </a:rPr>
              <a:t>クイックウィン（1〜2ヶ月目）</a:t>
            </a:r>
            <a:endParaRPr lang="en-US" sz="1400" dirty="0"/>
          </a:p>
        </p:txBody>
      </p:sp>
      <p:sp>
        <p:nvSpPr>
          <p:cNvPr id="34" name="Text 32"/>
          <p:cNvSpPr txBox="1"/>
          <p:nvPr/>
        </p:nvSpPr>
        <p:spPr>
          <a:xfrm>
            <a:off x="8183880" y="2259399"/>
            <a:ext cx="3276295" cy="723207"/>
          </a:xfrm>
          <a:prstGeom prst="rect">
            <a:avLst/>
          </a:prstGeom>
          <a:noFill/>
          <a:ln/>
        </p:spPr>
        <p:txBody>
          <a:bodyPr wrap="square" lIns="0" tIns="0" rIns="0" bIns="0" rtlCol="0" anchor="t"/>
          <a:lstStyle/>
          <a:p>
            <a:pPr indent="0" marL="0">
              <a:buNone/>
            </a:pPr>
            <a:r>
              <a:rPr lang="en-US" sz="1200" dirty="0">
                <a:solidFill>
                  <a:schemeClr val="tx1"/>
                </a:solidFill>
              </a:rPr>
              <a:t>議事録・メール・資料作成など、今日から使える業務でテンプレートを整備</a:t>
            </a:r>
            <a:endParaRPr lang="en-US" sz="1200" dirty="0"/>
          </a:p>
        </p:txBody>
      </p:sp>
      <p:sp>
        <p:nvSpPr>
          <p:cNvPr id="35" name="Shape 33"/>
          <p:cNvSpPr/>
          <p:nvPr/>
        </p:nvSpPr>
        <p:spPr>
          <a:xfrm>
            <a:off x="7452360" y="3189237"/>
            <a:ext cx="4190695" cy="1343099"/>
          </a:xfrm>
          <a:prstGeom prst="roundRect">
            <a:avLst>
              <a:gd name="adj" fmla="val 6808"/>
            </a:avLst>
          </a:prstGeom>
          <a:solidFill>
            <a:schemeClr val="bg1"/>
          </a:solidFill>
          <a:ln w="9525">
            <a:solidFill>
              <a:srgbClr val="E2E1EE"/>
            </a:solidFill>
            <a:prstDash val="solid"/>
          </a:ln>
        </p:spPr>
      </p:sp>
      <p:sp>
        <p:nvSpPr>
          <p:cNvPr id="36" name="Text 34"/>
          <p:cNvSpPr txBox="1"/>
          <p:nvPr/>
        </p:nvSpPr>
        <p:spPr>
          <a:xfrm>
            <a:off x="7635240" y="3422587"/>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7" name="Text 35"/>
          <p:cNvSpPr txBox="1"/>
          <p:nvPr/>
        </p:nvSpPr>
        <p:spPr>
          <a:xfrm>
            <a:off x="8183880" y="3375205"/>
            <a:ext cx="3276295" cy="361604"/>
          </a:xfrm>
          <a:prstGeom prst="rect">
            <a:avLst/>
          </a:prstGeom>
          <a:noFill/>
          <a:ln/>
        </p:spPr>
        <p:txBody>
          <a:bodyPr wrap="square" lIns="0" tIns="0" rIns="0" bIns="0" rtlCol="0" anchor="t"/>
          <a:lstStyle/>
          <a:p>
            <a:pPr indent="0" marL="0">
              <a:buNone/>
            </a:pPr>
            <a:r>
              <a:rPr lang="en-US" sz="1400" b="1" dirty="0">
                <a:solidFill>
                  <a:schemeClr val="tx2"/>
                </a:solidFill>
              </a:rPr>
              <a:t>仕組み化（3〜4ヶ月目）</a:t>
            </a:r>
            <a:endParaRPr lang="en-US" sz="1400" dirty="0"/>
          </a:p>
        </p:txBody>
      </p:sp>
      <p:sp>
        <p:nvSpPr>
          <p:cNvPr id="38" name="Text 36"/>
          <p:cNvSpPr txBox="1"/>
          <p:nvPr/>
        </p:nvSpPr>
        <p:spPr>
          <a:xfrm>
            <a:off x="8183880" y="3757471"/>
            <a:ext cx="3276295" cy="723207"/>
          </a:xfrm>
          <a:prstGeom prst="rect">
            <a:avLst/>
          </a:prstGeom>
          <a:noFill/>
          <a:ln/>
        </p:spPr>
        <p:txBody>
          <a:bodyPr wrap="square" lIns="0" tIns="0" rIns="0" bIns="0" rtlCol="0" anchor="t"/>
          <a:lstStyle/>
          <a:p>
            <a:pPr indent="0" marL="0">
              <a:buNone/>
            </a:pPr>
            <a:r>
              <a:rPr lang="en-US" sz="1200" dirty="0">
                <a:solidFill>
                  <a:schemeClr val="tx1"/>
                </a:solidFill>
              </a:rPr>
              <a:t>提出物管理や月次レポートなど、繰り返し業務を自動化して工数を削減</a:t>
            </a:r>
            <a:endParaRPr lang="en-US" sz="1200" dirty="0"/>
          </a:p>
        </p:txBody>
      </p:sp>
      <p:sp>
        <p:nvSpPr>
          <p:cNvPr id="39" name="Shape 37"/>
          <p:cNvSpPr/>
          <p:nvPr/>
        </p:nvSpPr>
        <p:spPr>
          <a:xfrm>
            <a:off x="7452360" y="4687309"/>
            <a:ext cx="4190695" cy="1343099"/>
          </a:xfrm>
          <a:prstGeom prst="roundRect">
            <a:avLst>
              <a:gd name="adj" fmla="val 6808"/>
            </a:avLst>
          </a:prstGeom>
          <a:solidFill>
            <a:schemeClr val="bg1"/>
          </a:solidFill>
          <a:ln w="9525">
            <a:solidFill>
              <a:srgbClr val="E2E1EE"/>
            </a:solidFill>
            <a:prstDash val="solid"/>
          </a:ln>
        </p:spPr>
      </p:sp>
      <p:sp>
        <p:nvSpPr>
          <p:cNvPr id="40" name="Text 38"/>
          <p:cNvSpPr txBox="1"/>
          <p:nvPr/>
        </p:nvSpPr>
        <p:spPr>
          <a:xfrm>
            <a:off x="7635240" y="492066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1" name="Text 39"/>
          <p:cNvSpPr txBox="1"/>
          <p:nvPr/>
        </p:nvSpPr>
        <p:spPr>
          <a:xfrm>
            <a:off x="8183880" y="4873277"/>
            <a:ext cx="3276295" cy="361604"/>
          </a:xfrm>
          <a:prstGeom prst="rect">
            <a:avLst/>
          </a:prstGeom>
          <a:noFill/>
          <a:ln/>
        </p:spPr>
        <p:txBody>
          <a:bodyPr wrap="square" lIns="0" tIns="0" rIns="0" bIns="0" rtlCol="0" anchor="t"/>
          <a:lstStyle/>
          <a:p>
            <a:pPr indent="0" marL="0">
              <a:buNone/>
            </a:pPr>
            <a:r>
              <a:rPr lang="en-US" sz="1400" b="1" dirty="0">
                <a:solidFill>
                  <a:schemeClr val="tx2"/>
                </a:solidFill>
              </a:rPr>
              <a:t>将来検討（5ヶ月目〜）</a:t>
            </a:r>
            <a:endParaRPr lang="en-US" sz="1400" dirty="0"/>
          </a:p>
        </p:txBody>
      </p:sp>
      <p:sp>
        <p:nvSpPr>
          <p:cNvPr id="42" name="Text 40"/>
          <p:cNvSpPr txBox="1"/>
          <p:nvPr/>
        </p:nvSpPr>
        <p:spPr>
          <a:xfrm>
            <a:off x="8183880" y="5255544"/>
            <a:ext cx="3276295" cy="723207"/>
          </a:xfrm>
          <a:prstGeom prst="rect">
            <a:avLst/>
          </a:prstGeom>
          <a:noFill/>
          <a:ln/>
        </p:spPr>
        <p:txBody>
          <a:bodyPr wrap="square" lIns="0" tIns="0" rIns="0" bIns="0" rtlCol="0" anchor="t"/>
          <a:lstStyle/>
          <a:p>
            <a:pPr indent="0" marL="0">
              <a:buNone/>
            </a:pPr>
            <a:r>
              <a:rPr lang="en-US" sz="1200" dirty="0">
                <a:solidFill>
                  <a:schemeClr val="tx1"/>
                </a:solidFill>
              </a:rPr>
              <a:t>介護記録システム等との役割分担を整理し、連携の可否を検討</a:t>
            </a:r>
            <a:endParaRPr lang="en-US" sz="12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活用シナリオ例：まず着手をおすすめする3つの業務</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いずれも追加ツールなしで実現でき、効果はテスト導入メンバーで実測して展開判断の材料にします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02｜ご提案内容　柱② 業務別AI 活用の「型」づくり</a:t>
            </a:r>
            <a:endParaRPr lang="en-US" sz="900" dirty="0"/>
          </a:p>
        </p:txBody>
      </p:sp>
      <p:sp>
        <p:nvSpPr>
          <p:cNvPr id="5" name="Shape 3"/>
          <p:cNvSpPr/>
          <p:nvPr/>
        </p:nvSpPr>
        <p:spPr>
          <a:xfrm>
            <a:off x="548640" y="1639507"/>
            <a:ext cx="3515258" cy="4649190"/>
          </a:xfrm>
          <a:prstGeom prst="roundRect">
            <a:avLst>
              <a:gd name="adj" fmla="val 2601"/>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6" name="Image 0" descr="studio-microphone">    </p:cNvPr>
          <p:cNvPicPr>
            <a:picLocks noChangeAspect="1"/>
          </p:cNvPicPr>
          <p:nvPr/>
        </p:nvPicPr>
        <p:blipFill>
          <a:blip r:embed="rId1"/>
          <a:stretch>
            <a:fillRect/>
          </a:stretch>
        </p:blipFill>
        <p:spPr>
          <a:xfrm>
            <a:off x="737235" y="1866222"/>
            <a:ext cx="528066" cy="528066"/>
          </a:xfrm>
          <a:prstGeom prst="rect">
            <a:avLst/>
          </a:prstGeom>
        </p:spPr>
      </p:pic>
      <p:sp>
        <p:nvSpPr>
          <p:cNvPr id="7" name="Text 4"/>
          <p:cNvSpPr txBox="1"/>
          <p:nvPr/>
        </p:nvSpPr>
        <p:spPr>
          <a:xfrm>
            <a:off x="1371600" y="1825475"/>
            <a:ext cx="2600858" cy="619892"/>
          </a:xfrm>
          <a:prstGeom prst="rect">
            <a:avLst/>
          </a:prstGeom>
          <a:noFill/>
          <a:ln/>
        </p:spPr>
        <p:txBody>
          <a:bodyPr wrap="square" lIns="0" tIns="0" rIns="0" bIns="0" rtlCol="0" anchor="ctr"/>
          <a:lstStyle/>
          <a:p>
            <a:pPr indent="0" marL="0">
              <a:buNone/>
            </a:pPr>
            <a:r>
              <a:rPr lang="en-US" sz="1400" b="1" dirty="0">
                <a:solidFill>
                  <a:schemeClr val="tx2"/>
                </a:solidFill>
              </a:rPr>
              <a:t>会議・委員会の議事録</a:t>
            </a:r>
            <a:endParaRPr lang="en-US" sz="1400" dirty="0"/>
          </a:p>
        </p:txBody>
      </p:sp>
      <p:sp>
        <p:nvSpPr>
          <p:cNvPr id="8" name="Text 5"/>
          <p:cNvSpPr txBox="1"/>
          <p:nvPr/>
        </p:nvSpPr>
        <p:spPr>
          <a:xfrm>
            <a:off x="777240" y="2621003"/>
            <a:ext cx="1371600" cy="258288"/>
          </a:xfrm>
          <a:prstGeom prst="rect">
            <a:avLst/>
          </a:prstGeom>
          <a:noFill/>
          <a:ln/>
        </p:spPr>
        <p:txBody>
          <a:bodyPr wrap="square" lIns="0" tIns="0" rIns="0" bIns="0" rtlCol="0" anchor="t"/>
          <a:lstStyle/>
          <a:p>
            <a:pPr indent="0" marL="0">
              <a:buNone/>
            </a:pPr>
            <a:r>
              <a:rPr lang="en-US" sz="1000" b="1" dirty="0">
                <a:solidFill>
                  <a:schemeClr val="accent6"/>
                </a:solidFill>
              </a:rPr>
              <a:t>いま（想定）</a:t>
            </a:r>
            <a:endParaRPr lang="en-US" sz="1000" dirty="0"/>
          </a:p>
        </p:txBody>
      </p:sp>
      <p:sp>
        <p:nvSpPr>
          <p:cNvPr id="9" name="Shape 6"/>
          <p:cNvSpPr/>
          <p:nvPr/>
        </p:nvSpPr>
        <p:spPr>
          <a:xfrm>
            <a:off x="731520" y="2879291"/>
            <a:ext cx="3149498" cy="981496"/>
          </a:xfrm>
          <a:prstGeom prst="roundRect">
            <a:avLst>
              <a:gd name="adj" fmla="val 7453"/>
            </a:avLst>
          </a:prstGeom>
          <a:solidFill>
            <a:srgbClr val="F1F1F4"/>
          </a:solidFill>
          <a:ln/>
        </p:spPr>
      </p:sp>
      <p:sp>
        <p:nvSpPr>
          <p:cNvPr id="10" name="Text 7"/>
          <p:cNvSpPr txBox="1"/>
          <p:nvPr/>
        </p:nvSpPr>
        <p:spPr>
          <a:xfrm>
            <a:off x="841248" y="2930949"/>
            <a:ext cx="2930042" cy="878180"/>
          </a:xfrm>
          <a:prstGeom prst="rect">
            <a:avLst/>
          </a:prstGeom>
          <a:noFill/>
          <a:ln/>
        </p:spPr>
        <p:txBody>
          <a:bodyPr wrap="square" lIns="0" tIns="0" rIns="0" bIns="0" rtlCol="0" anchor="ctr"/>
          <a:lstStyle/>
          <a:p>
            <a:pPr indent="0" marL="0">
              <a:buNone/>
            </a:pPr>
            <a:r>
              <a:rPr lang="en-US" sz="1200" dirty="0">
                <a:solidFill>
                  <a:schemeClr val="tx1"/>
                </a:solidFill>
              </a:rPr>
              <a:t>会議後に担当者がメモから議事録を作成。1回あたり30〜60分かかる</a:t>
            </a:r>
            <a:endParaRPr lang="en-US" sz="1200" dirty="0"/>
          </a:p>
        </p:txBody>
      </p:sp>
      <p:sp>
        <p:nvSpPr>
          <p:cNvPr id="11" name="Shape 8"/>
          <p:cNvSpPr/>
          <p:nvPr/>
        </p:nvSpPr>
        <p:spPr>
          <a:xfrm>
            <a:off x="2141677" y="3933108"/>
            <a:ext cx="329184" cy="309946"/>
          </a:xfrm>
          <a:prstGeom prst="downArrow">
            <a:avLst/>
          </a:prstGeom>
          <a:solidFill>
            <a:schemeClr val="accent1"/>
          </a:solidFill>
          <a:ln/>
        </p:spPr>
      </p:sp>
      <p:sp>
        <p:nvSpPr>
          <p:cNvPr id="12" name="Text 9"/>
          <p:cNvSpPr txBox="1"/>
          <p:nvPr/>
        </p:nvSpPr>
        <p:spPr>
          <a:xfrm>
            <a:off x="777240" y="4222390"/>
            <a:ext cx="1097280" cy="258288"/>
          </a:xfrm>
          <a:prstGeom prst="rect">
            <a:avLst/>
          </a:prstGeom>
          <a:noFill/>
          <a:ln/>
        </p:spPr>
        <p:txBody>
          <a:bodyPr wrap="square" lIns="0" tIns="0" rIns="0" bIns="0" rtlCol="0" anchor="t"/>
          <a:lstStyle/>
          <a:p>
            <a:pPr indent="0" marL="0">
              <a:buNone/>
            </a:pPr>
            <a:r>
              <a:rPr lang="en-US" sz="1000" b="1" dirty="0">
                <a:solidFill>
                  <a:schemeClr val="accent1"/>
                </a:solidFill>
              </a:rPr>
              <a:t>これから</a:t>
            </a:r>
            <a:endParaRPr lang="en-US" sz="1000" dirty="0"/>
          </a:p>
        </p:txBody>
      </p:sp>
      <p:sp>
        <p:nvSpPr>
          <p:cNvPr id="13" name="Shape 10"/>
          <p:cNvSpPr/>
          <p:nvPr/>
        </p:nvSpPr>
        <p:spPr>
          <a:xfrm>
            <a:off x="731520" y="4480679"/>
            <a:ext cx="3149498" cy="1188126"/>
          </a:xfrm>
          <a:prstGeom prst="roundRect">
            <a:avLst>
              <a:gd name="adj" fmla="val 6157"/>
            </a:avLst>
          </a:prstGeom>
          <a:solidFill>
            <a:schemeClr val="accent1">
              <a:alpha val="12000"/>
            </a:schemeClr>
          </a:solidFill>
          <a:ln/>
        </p:spPr>
      </p:sp>
      <p:sp>
        <p:nvSpPr>
          <p:cNvPr id="14" name="Text 11"/>
          <p:cNvSpPr txBox="1"/>
          <p:nvPr/>
        </p:nvSpPr>
        <p:spPr>
          <a:xfrm>
            <a:off x="841248" y="4532336"/>
            <a:ext cx="2930042" cy="1084811"/>
          </a:xfrm>
          <a:prstGeom prst="rect">
            <a:avLst/>
          </a:prstGeom>
          <a:noFill/>
          <a:ln/>
        </p:spPr>
        <p:txBody>
          <a:bodyPr wrap="square" lIns="0" tIns="0" rIns="0" bIns="0" rtlCol="0" anchor="ctr"/>
          <a:lstStyle/>
          <a:p>
            <a:pPr indent="0" marL="0">
              <a:buNone/>
            </a:pPr>
            <a:r>
              <a:rPr lang="en-US" sz="1200" b="1" dirty="0">
                <a:solidFill>
                  <a:schemeClr val="tx2"/>
                </a:solidFill>
              </a:rPr>
              <a:t>Meet の「自動メモ生成」で議事録・ToDo を作成。担当者は確認・修正のみ</a:t>
            </a:r>
            <a:endParaRPr lang="en-US" sz="1200" dirty="0"/>
          </a:p>
        </p:txBody>
      </p:sp>
      <p:sp>
        <p:nvSpPr>
          <p:cNvPr id="15" name="Text 12"/>
          <p:cNvSpPr txBox="1"/>
          <p:nvPr/>
        </p:nvSpPr>
        <p:spPr>
          <a:xfrm>
            <a:off x="777240" y="5741126"/>
            <a:ext cx="3149498" cy="464919"/>
          </a:xfrm>
          <a:prstGeom prst="rect">
            <a:avLst/>
          </a:prstGeom>
          <a:noFill/>
          <a:ln/>
        </p:spPr>
        <p:txBody>
          <a:bodyPr wrap="square" lIns="0" tIns="0" rIns="0" bIns="0" rtlCol="0" anchor="t"/>
          <a:lstStyle/>
          <a:p>
            <a:pPr indent="0" marL="0">
              <a:buNone/>
            </a:pPr>
            <a:r>
              <a:rPr lang="en-US" sz="1100" dirty="0">
                <a:solidFill>
                  <a:schemeClr val="tx1"/>
                </a:solidFill>
              </a:rPr>
              <a:t>使う機能：Meet、Gemini、ドキュメント（Business Standard 以上）</a:t>
            </a:r>
            <a:endParaRPr lang="en-US" sz="1100" dirty="0"/>
          </a:p>
        </p:txBody>
      </p:sp>
      <p:sp>
        <p:nvSpPr>
          <p:cNvPr id="16" name="Shape 13"/>
          <p:cNvSpPr/>
          <p:nvPr/>
        </p:nvSpPr>
        <p:spPr>
          <a:xfrm>
            <a:off x="4338218" y="1639507"/>
            <a:ext cx="3515258" cy="4649190"/>
          </a:xfrm>
          <a:prstGeom prst="roundRect">
            <a:avLst>
              <a:gd name="adj" fmla="val 2601"/>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17" name="Image 1" descr="books">    </p:cNvPr>
          <p:cNvPicPr>
            <a:picLocks noChangeAspect="1"/>
          </p:cNvPicPr>
          <p:nvPr/>
        </p:nvPicPr>
        <p:blipFill>
          <a:blip r:embed="rId2"/>
          <a:stretch>
            <a:fillRect/>
          </a:stretch>
        </p:blipFill>
        <p:spPr>
          <a:xfrm>
            <a:off x="4526813" y="1866222"/>
            <a:ext cx="528066" cy="528066"/>
          </a:xfrm>
          <a:prstGeom prst="rect">
            <a:avLst/>
          </a:prstGeom>
        </p:spPr>
      </p:pic>
      <p:sp>
        <p:nvSpPr>
          <p:cNvPr id="18" name="Text 14"/>
          <p:cNvSpPr txBox="1"/>
          <p:nvPr/>
        </p:nvSpPr>
        <p:spPr>
          <a:xfrm>
            <a:off x="5161178" y="1825475"/>
            <a:ext cx="2600858" cy="619892"/>
          </a:xfrm>
          <a:prstGeom prst="rect">
            <a:avLst/>
          </a:prstGeom>
          <a:noFill/>
          <a:ln/>
        </p:spPr>
        <p:txBody>
          <a:bodyPr wrap="square" lIns="0" tIns="0" rIns="0" bIns="0" rtlCol="0" anchor="ctr"/>
          <a:lstStyle/>
          <a:p>
            <a:pPr indent="0" marL="0">
              <a:buNone/>
            </a:pPr>
            <a:r>
              <a:rPr lang="en-US" sz="1400" b="1" dirty="0">
                <a:solidFill>
                  <a:schemeClr val="tx2"/>
                </a:solidFill>
              </a:rPr>
              <a:t>規程・マニュアルの問い合わせ対応</a:t>
            </a:r>
            <a:endParaRPr lang="en-US" sz="1400" dirty="0"/>
          </a:p>
        </p:txBody>
      </p:sp>
      <p:sp>
        <p:nvSpPr>
          <p:cNvPr id="19" name="Text 15"/>
          <p:cNvSpPr txBox="1"/>
          <p:nvPr/>
        </p:nvSpPr>
        <p:spPr>
          <a:xfrm>
            <a:off x="4566818" y="2621003"/>
            <a:ext cx="1371600" cy="258288"/>
          </a:xfrm>
          <a:prstGeom prst="rect">
            <a:avLst/>
          </a:prstGeom>
          <a:noFill/>
          <a:ln/>
        </p:spPr>
        <p:txBody>
          <a:bodyPr wrap="square" lIns="0" tIns="0" rIns="0" bIns="0" rtlCol="0" anchor="t"/>
          <a:lstStyle/>
          <a:p>
            <a:pPr indent="0" marL="0">
              <a:buNone/>
            </a:pPr>
            <a:r>
              <a:rPr lang="en-US" sz="1000" b="1" dirty="0">
                <a:solidFill>
                  <a:schemeClr val="accent6"/>
                </a:solidFill>
              </a:rPr>
              <a:t>いま（想定）</a:t>
            </a:r>
            <a:endParaRPr lang="en-US" sz="1000" dirty="0"/>
          </a:p>
        </p:txBody>
      </p:sp>
      <p:sp>
        <p:nvSpPr>
          <p:cNvPr id="20" name="Shape 16"/>
          <p:cNvSpPr/>
          <p:nvPr/>
        </p:nvSpPr>
        <p:spPr>
          <a:xfrm>
            <a:off x="4521098" y="2879291"/>
            <a:ext cx="3149498" cy="981496"/>
          </a:xfrm>
          <a:prstGeom prst="roundRect">
            <a:avLst>
              <a:gd name="adj" fmla="val 7453"/>
            </a:avLst>
          </a:prstGeom>
          <a:solidFill>
            <a:srgbClr val="F1F1F4"/>
          </a:solidFill>
          <a:ln/>
        </p:spPr>
      </p:sp>
      <p:sp>
        <p:nvSpPr>
          <p:cNvPr id="21" name="Text 17"/>
          <p:cNvSpPr txBox="1"/>
          <p:nvPr/>
        </p:nvSpPr>
        <p:spPr>
          <a:xfrm>
            <a:off x="4630826" y="2930949"/>
            <a:ext cx="2930042" cy="878180"/>
          </a:xfrm>
          <a:prstGeom prst="rect">
            <a:avLst/>
          </a:prstGeom>
          <a:noFill/>
          <a:ln/>
        </p:spPr>
        <p:txBody>
          <a:bodyPr wrap="square" lIns="0" tIns="0" rIns="0" bIns="0" rtlCol="0" anchor="ctr"/>
          <a:lstStyle/>
          <a:p>
            <a:pPr indent="0" marL="0">
              <a:buNone/>
            </a:pPr>
            <a:r>
              <a:rPr lang="en-US" sz="1200" dirty="0">
                <a:solidFill>
                  <a:schemeClr val="tx1"/>
                </a:solidFill>
              </a:rPr>
              <a:t>「この手続きは？」「様式はどこ？」と本部への問い合わせが集中し、都度対応している</a:t>
            </a:r>
            <a:endParaRPr lang="en-US" sz="1200" dirty="0"/>
          </a:p>
        </p:txBody>
      </p:sp>
      <p:sp>
        <p:nvSpPr>
          <p:cNvPr id="22" name="Shape 18"/>
          <p:cNvSpPr/>
          <p:nvPr/>
        </p:nvSpPr>
        <p:spPr>
          <a:xfrm>
            <a:off x="5931256" y="3933108"/>
            <a:ext cx="329184" cy="309946"/>
          </a:xfrm>
          <a:prstGeom prst="downArrow">
            <a:avLst/>
          </a:prstGeom>
          <a:solidFill>
            <a:schemeClr val="accent2"/>
          </a:solidFill>
          <a:ln/>
        </p:spPr>
      </p:sp>
      <p:sp>
        <p:nvSpPr>
          <p:cNvPr id="23" name="Text 19"/>
          <p:cNvSpPr txBox="1"/>
          <p:nvPr/>
        </p:nvSpPr>
        <p:spPr>
          <a:xfrm>
            <a:off x="4566818" y="4222390"/>
            <a:ext cx="1097280" cy="258288"/>
          </a:xfrm>
          <a:prstGeom prst="rect">
            <a:avLst/>
          </a:prstGeom>
          <a:noFill/>
          <a:ln/>
        </p:spPr>
        <p:txBody>
          <a:bodyPr wrap="square" lIns="0" tIns="0" rIns="0" bIns="0" rtlCol="0" anchor="t"/>
          <a:lstStyle/>
          <a:p>
            <a:pPr indent="0" marL="0">
              <a:buNone/>
            </a:pPr>
            <a:r>
              <a:rPr lang="en-US" sz="1000" b="1" dirty="0">
                <a:solidFill>
                  <a:schemeClr val="accent2"/>
                </a:solidFill>
              </a:rPr>
              <a:t>これから</a:t>
            </a:r>
            <a:endParaRPr lang="en-US" sz="1000" dirty="0"/>
          </a:p>
        </p:txBody>
      </p:sp>
      <p:sp>
        <p:nvSpPr>
          <p:cNvPr id="24" name="Shape 20"/>
          <p:cNvSpPr/>
          <p:nvPr/>
        </p:nvSpPr>
        <p:spPr>
          <a:xfrm>
            <a:off x="4521098" y="4480679"/>
            <a:ext cx="3149498" cy="1188126"/>
          </a:xfrm>
          <a:prstGeom prst="roundRect">
            <a:avLst>
              <a:gd name="adj" fmla="val 6157"/>
            </a:avLst>
          </a:prstGeom>
          <a:solidFill>
            <a:schemeClr val="accent2">
              <a:alpha val="12000"/>
            </a:schemeClr>
          </a:solidFill>
          <a:ln/>
        </p:spPr>
      </p:sp>
      <p:sp>
        <p:nvSpPr>
          <p:cNvPr id="25" name="Text 21"/>
          <p:cNvSpPr txBox="1"/>
          <p:nvPr/>
        </p:nvSpPr>
        <p:spPr>
          <a:xfrm>
            <a:off x="4630826" y="4532336"/>
            <a:ext cx="2930042" cy="1084811"/>
          </a:xfrm>
          <a:prstGeom prst="rect">
            <a:avLst/>
          </a:prstGeom>
          <a:noFill/>
          <a:ln/>
        </p:spPr>
        <p:txBody>
          <a:bodyPr wrap="square" lIns="0" tIns="0" rIns="0" bIns="0" rtlCol="0" anchor="ctr"/>
          <a:lstStyle/>
          <a:p>
            <a:pPr indent="0" marL="0">
              <a:buNone/>
            </a:pPr>
            <a:r>
              <a:rPr lang="en-US" sz="1200" b="1" dirty="0">
                <a:solidFill>
                  <a:schemeClr val="tx2"/>
                </a:solidFill>
              </a:rPr>
              <a:t>規程・マニュアルを Gemini Notebook に集約し、職員が自分で質問して、答えと根拠の箇所を確認できる状態に</a:t>
            </a:r>
            <a:endParaRPr lang="en-US" sz="1200" dirty="0"/>
          </a:p>
        </p:txBody>
      </p:sp>
      <p:sp>
        <p:nvSpPr>
          <p:cNvPr id="26" name="Text 22"/>
          <p:cNvSpPr txBox="1"/>
          <p:nvPr/>
        </p:nvSpPr>
        <p:spPr>
          <a:xfrm>
            <a:off x="4566818" y="5741126"/>
            <a:ext cx="3149498" cy="464919"/>
          </a:xfrm>
          <a:prstGeom prst="rect">
            <a:avLst/>
          </a:prstGeom>
          <a:noFill/>
          <a:ln/>
        </p:spPr>
        <p:txBody>
          <a:bodyPr wrap="square" lIns="0" tIns="0" rIns="0" bIns="0" rtlCol="0" anchor="t"/>
          <a:lstStyle/>
          <a:p>
            <a:pPr indent="0" marL="0">
              <a:buNone/>
            </a:pPr>
            <a:r>
              <a:rPr lang="en-US" sz="1100" dirty="0">
                <a:solidFill>
                  <a:schemeClr val="tx1"/>
                </a:solidFill>
              </a:rPr>
              <a:t>使う機能：Gemini Notebook（旧 NotebookLM）、ドライブ</a:t>
            </a:r>
            <a:endParaRPr lang="en-US" sz="1100" dirty="0"/>
          </a:p>
        </p:txBody>
      </p:sp>
      <p:sp>
        <p:nvSpPr>
          <p:cNvPr id="27" name="Shape 23"/>
          <p:cNvSpPr/>
          <p:nvPr/>
        </p:nvSpPr>
        <p:spPr>
          <a:xfrm>
            <a:off x="8127797" y="1639507"/>
            <a:ext cx="3515258" cy="4649190"/>
          </a:xfrm>
          <a:prstGeom prst="roundRect">
            <a:avLst>
              <a:gd name="adj" fmla="val 2601"/>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28" name="Image 2" descr="clipboard">    </p:cNvPr>
          <p:cNvPicPr>
            <a:picLocks noChangeAspect="1"/>
          </p:cNvPicPr>
          <p:nvPr/>
        </p:nvPicPr>
        <p:blipFill>
          <a:blip r:embed="rId3"/>
          <a:stretch>
            <a:fillRect/>
          </a:stretch>
        </p:blipFill>
        <p:spPr>
          <a:xfrm>
            <a:off x="8316392" y="1866222"/>
            <a:ext cx="528066" cy="528066"/>
          </a:xfrm>
          <a:prstGeom prst="rect">
            <a:avLst/>
          </a:prstGeom>
        </p:spPr>
      </p:pic>
      <p:sp>
        <p:nvSpPr>
          <p:cNvPr id="29" name="Text 24"/>
          <p:cNvSpPr txBox="1"/>
          <p:nvPr/>
        </p:nvSpPr>
        <p:spPr>
          <a:xfrm>
            <a:off x="8950757" y="1825475"/>
            <a:ext cx="2600858" cy="619892"/>
          </a:xfrm>
          <a:prstGeom prst="rect">
            <a:avLst/>
          </a:prstGeom>
          <a:noFill/>
          <a:ln/>
        </p:spPr>
        <p:txBody>
          <a:bodyPr wrap="square" lIns="0" tIns="0" rIns="0" bIns="0" rtlCol="0" anchor="ctr"/>
          <a:lstStyle/>
          <a:p>
            <a:pPr indent="0" marL="0">
              <a:buNone/>
            </a:pPr>
            <a:r>
              <a:rPr lang="en-US" sz="1400" b="1" dirty="0">
                <a:solidFill>
                  <a:schemeClr val="tx2"/>
                </a:solidFill>
              </a:rPr>
              <a:t>提出物・郵便物の管理</a:t>
            </a:r>
            <a:endParaRPr lang="en-US" sz="1400" dirty="0"/>
          </a:p>
        </p:txBody>
      </p:sp>
      <p:sp>
        <p:nvSpPr>
          <p:cNvPr id="30" name="Text 25"/>
          <p:cNvSpPr txBox="1"/>
          <p:nvPr/>
        </p:nvSpPr>
        <p:spPr>
          <a:xfrm>
            <a:off x="8356397" y="2621003"/>
            <a:ext cx="1371600" cy="258288"/>
          </a:xfrm>
          <a:prstGeom prst="rect">
            <a:avLst/>
          </a:prstGeom>
          <a:noFill/>
          <a:ln/>
        </p:spPr>
        <p:txBody>
          <a:bodyPr wrap="square" lIns="0" tIns="0" rIns="0" bIns="0" rtlCol="0" anchor="t"/>
          <a:lstStyle/>
          <a:p>
            <a:pPr indent="0" marL="0">
              <a:buNone/>
            </a:pPr>
            <a:r>
              <a:rPr lang="en-US" sz="1000" b="1" dirty="0">
                <a:solidFill>
                  <a:schemeClr val="accent6"/>
                </a:solidFill>
              </a:rPr>
              <a:t>いま（想定）</a:t>
            </a:r>
            <a:endParaRPr lang="en-US" sz="1000" dirty="0"/>
          </a:p>
        </p:txBody>
      </p:sp>
      <p:sp>
        <p:nvSpPr>
          <p:cNvPr id="31" name="Shape 26"/>
          <p:cNvSpPr/>
          <p:nvPr/>
        </p:nvSpPr>
        <p:spPr>
          <a:xfrm>
            <a:off x="8310677" y="2879291"/>
            <a:ext cx="3149498" cy="981496"/>
          </a:xfrm>
          <a:prstGeom prst="roundRect">
            <a:avLst>
              <a:gd name="adj" fmla="val 7453"/>
            </a:avLst>
          </a:prstGeom>
          <a:solidFill>
            <a:srgbClr val="F1F1F4"/>
          </a:solidFill>
          <a:ln/>
        </p:spPr>
      </p:sp>
      <p:sp>
        <p:nvSpPr>
          <p:cNvPr id="32" name="Text 27"/>
          <p:cNvSpPr txBox="1"/>
          <p:nvPr/>
        </p:nvSpPr>
        <p:spPr>
          <a:xfrm>
            <a:off x="8420405" y="2930949"/>
            <a:ext cx="2930042" cy="878180"/>
          </a:xfrm>
          <a:prstGeom prst="rect">
            <a:avLst/>
          </a:prstGeom>
          <a:noFill/>
          <a:ln/>
        </p:spPr>
        <p:txBody>
          <a:bodyPr wrap="square" lIns="0" tIns="0" rIns="0" bIns="0" rtlCol="0" anchor="ctr"/>
          <a:lstStyle/>
          <a:p>
            <a:pPr indent="0" marL="0">
              <a:buNone/>
            </a:pPr>
            <a:r>
              <a:rPr lang="en-US" sz="1200" dirty="0">
                <a:solidFill>
                  <a:schemeClr val="tx1"/>
                </a:solidFill>
              </a:rPr>
              <a:t>スプレッドシートに手入力で記録し、未提出者に個別に催促している</a:t>
            </a:r>
            <a:endParaRPr lang="en-US" sz="1200" dirty="0"/>
          </a:p>
        </p:txBody>
      </p:sp>
      <p:sp>
        <p:nvSpPr>
          <p:cNvPr id="33" name="Shape 28"/>
          <p:cNvSpPr/>
          <p:nvPr/>
        </p:nvSpPr>
        <p:spPr>
          <a:xfrm>
            <a:off x="9720834" y="3933108"/>
            <a:ext cx="329184" cy="309946"/>
          </a:xfrm>
          <a:prstGeom prst="downArrow">
            <a:avLst/>
          </a:prstGeom>
          <a:solidFill>
            <a:schemeClr val="accent3"/>
          </a:solidFill>
          <a:ln/>
        </p:spPr>
      </p:sp>
      <p:sp>
        <p:nvSpPr>
          <p:cNvPr id="34" name="Text 29"/>
          <p:cNvSpPr txBox="1"/>
          <p:nvPr/>
        </p:nvSpPr>
        <p:spPr>
          <a:xfrm>
            <a:off x="8356397" y="4222390"/>
            <a:ext cx="1097280" cy="258288"/>
          </a:xfrm>
          <a:prstGeom prst="rect">
            <a:avLst/>
          </a:prstGeom>
          <a:noFill/>
          <a:ln/>
        </p:spPr>
        <p:txBody>
          <a:bodyPr wrap="square" lIns="0" tIns="0" rIns="0" bIns="0" rtlCol="0" anchor="t"/>
          <a:lstStyle/>
          <a:p>
            <a:pPr indent="0" marL="0">
              <a:buNone/>
            </a:pPr>
            <a:r>
              <a:rPr lang="en-US" sz="1000" b="1" dirty="0">
                <a:solidFill>
                  <a:schemeClr val="accent3"/>
                </a:solidFill>
              </a:rPr>
              <a:t>これから</a:t>
            </a:r>
            <a:endParaRPr lang="en-US" sz="1000" dirty="0"/>
          </a:p>
        </p:txBody>
      </p:sp>
      <p:sp>
        <p:nvSpPr>
          <p:cNvPr id="35" name="Shape 30"/>
          <p:cNvSpPr/>
          <p:nvPr/>
        </p:nvSpPr>
        <p:spPr>
          <a:xfrm>
            <a:off x="8310677" y="4480679"/>
            <a:ext cx="3149498" cy="1188126"/>
          </a:xfrm>
          <a:prstGeom prst="roundRect">
            <a:avLst>
              <a:gd name="adj" fmla="val 6157"/>
            </a:avLst>
          </a:prstGeom>
          <a:solidFill>
            <a:schemeClr val="accent3">
              <a:alpha val="12000"/>
            </a:schemeClr>
          </a:solidFill>
          <a:ln/>
        </p:spPr>
      </p:sp>
      <p:sp>
        <p:nvSpPr>
          <p:cNvPr id="36" name="Text 31"/>
          <p:cNvSpPr txBox="1"/>
          <p:nvPr/>
        </p:nvSpPr>
        <p:spPr>
          <a:xfrm>
            <a:off x="8420405" y="4532336"/>
            <a:ext cx="2930042" cy="1084811"/>
          </a:xfrm>
          <a:prstGeom prst="rect">
            <a:avLst/>
          </a:prstGeom>
          <a:noFill/>
          <a:ln/>
        </p:spPr>
        <p:txBody>
          <a:bodyPr wrap="square" lIns="0" tIns="0" rIns="0" bIns="0" rtlCol="0" anchor="ctr"/>
          <a:lstStyle/>
          <a:p>
            <a:pPr indent="0" marL="0">
              <a:buNone/>
            </a:pPr>
            <a:r>
              <a:rPr lang="en-US" sz="1200" b="1" dirty="0">
                <a:solidFill>
                  <a:schemeClr val="tx2"/>
                </a:solidFill>
              </a:rPr>
              <a:t>フォームで提出→自動で記録→未提出者に自動リマインド。月次の集計も自動化</a:t>
            </a:r>
            <a:endParaRPr lang="en-US" sz="1200" dirty="0"/>
          </a:p>
        </p:txBody>
      </p:sp>
      <p:sp>
        <p:nvSpPr>
          <p:cNvPr id="37" name="Text 32"/>
          <p:cNvSpPr txBox="1"/>
          <p:nvPr/>
        </p:nvSpPr>
        <p:spPr>
          <a:xfrm>
            <a:off x="8356397" y="5741126"/>
            <a:ext cx="3149498" cy="464919"/>
          </a:xfrm>
          <a:prstGeom prst="rect">
            <a:avLst/>
          </a:prstGeom>
          <a:noFill/>
          <a:ln/>
        </p:spPr>
        <p:txBody>
          <a:bodyPr wrap="square" lIns="0" tIns="0" rIns="0" bIns="0" rtlCol="0" anchor="t"/>
          <a:lstStyle/>
          <a:p>
            <a:pPr indent="0" marL="0">
              <a:buNone/>
            </a:pPr>
            <a:r>
              <a:rPr lang="en-US" sz="1100" dirty="0">
                <a:solidFill>
                  <a:schemeClr val="tx1"/>
                </a:solidFill>
              </a:rPr>
              <a:t>使う機能：フォーム、スプレッドシート、Workspace Studio</a:t>
            </a:r>
            <a:endParaRPr lang="en-US" sz="11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ご担当者様が「社内で教えられる」状態をつくります</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ご担当者様を「社内コーチ」として育成し、現場が迷わない教材と相談窓口を揃えて準備期間の負担を減らします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02｜ご提案内容　柱③ 定着・社内展開</a:t>
            </a:r>
            <a:endParaRPr lang="en-US" sz="900" dirty="0"/>
          </a:p>
        </p:txBody>
      </p:sp>
      <p:sp>
        <p:nvSpPr>
          <p:cNvPr id="5" name="Shape 3"/>
          <p:cNvSpPr/>
          <p:nvPr/>
        </p:nvSpPr>
        <p:spPr>
          <a:xfrm>
            <a:off x="548640" y="1639507"/>
            <a:ext cx="3429000" cy="2117964"/>
          </a:xfrm>
          <a:prstGeom prst="roundRect">
            <a:avLst>
              <a:gd name="adj" fmla="val 4317"/>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6" name="Image 0" descr="sparkles">    </p:cNvPr>
          <p:cNvPicPr>
            <a:picLocks noChangeAspect="1"/>
          </p:cNvPicPr>
          <p:nvPr/>
        </p:nvPicPr>
        <p:blipFill>
          <a:blip r:embed="rId1"/>
          <a:stretch>
            <a:fillRect/>
          </a:stretch>
        </p:blipFill>
        <p:spPr>
          <a:xfrm>
            <a:off x="737235" y="1886885"/>
            <a:ext cx="528066" cy="528066"/>
          </a:xfrm>
          <a:prstGeom prst="rect">
            <a:avLst/>
          </a:prstGeom>
        </p:spPr>
      </p:pic>
      <p:sp>
        <p:nvSpPr>
          <p:cNvPr id="7" name="Text 4"/>
          <p:cNvSpPr txBox="1"/>
          <p:nvPr/>
        </p:nvSpPr>
        <p:spPr>
          <a:xfrm>
            <a:off x="1371600" y="1846138"/>
            <a:ext cx="2514600" cy="619892"/>
          </a:xfrm>
          <a:prstGeom prst="rect">
            <a:avLst/>
          </a:prstGeom>
          <a:noFill/>
          <a:ln/>
        </p:spPr>
        <p:txBody>
          <a:bodyPr wrap="square" lIns="0" tIns="0" rIns="0" bIns="0" rtlCol="0" anchor="ctr"/>
          <a:lstStyle/>
          <a:p>
            <a:pPr indent="0" marL="0">
              <a:buNone/>
            </a:pPr>
            <a:r>
              <a:rPr lang="en-US" sz="1300" b="1" dirty="0">
                <a:solidFill>
                  <a:schemeClr val="tx2"/>
                </a:solidFill>
              </a:rPr>
              <a:t>業務別テンプレート・Gem 集</a:t>
            </a:r>
            <a:endParaRPr lang="en-US" sz="1300" dirty="0"/>
          </a:p>
        </p:txBody>
      </p:sp>
      <p:sp>
        <p:nvSpPr>
          <p:cNvPr id="8" name="Text 5"/>
          <p:cNvSpPr txBox="1"/>
          <p:nvPr/>
        </p:nvSpPr>
        <p:spPr>
          <a:xfrm>
            <a:off x="777240" y="2569345"/>
            <a:ext cx="2971800" cy="1084811"/>
          </a:xfrm>
          <a:prstGeom prst="rect">
            <a:avLst/>
          </a:prstGeom>
          <a:noFill/>
          <a:ln/>
        </p:spPr>
        <p:txBody>
          <a:bodyPr wrap="square" lIns="0" tIns="0" rIns="0" bIns="0" rtlCol="0" anchor="t"/>
          <a:lstStyle/>
          <a:p>
            <a:pPr indent="0" marL="0">
              <a:buNone/>
            </a:pPr>
            <a:r>
              <a:rPr lang="en-US" sz="1200" dirty="0">
                <a:solidFill>
                  <a:schemeClr val="tx1"/>
                </a:solidFill>
              </a:rPr>
              <a:t>部門ごとの指示文（プロンプト）とカスタム AI（Gem）を共有ドライブに整備。誰でも同じ品質で使える状態に</a:t>
            </a:r>
            <a:endParaRPr lang="en-US" sz="1200" dirty="0"/>
          </a:p>
        </p:txBody>
      </p:sp>
      <p:sp>
        <p:nvSpPr>
          <p:cNvPr id="9" name="Shape 6"/>
          <p:cNvSpPr/>
          <p:nvPr/>
        </p:nvSpPr>
        <p:spPr>
          <a:xfrm>
            <a:off x="4206240" y="1639507"/>
            <a:ext cx="3429000" cy="2117964"/>
          </a:xfrm>
          <a:prstGeom prst="roundRect">
            <a:avLst>
              <a:gd name="adj" fmla="val 4317"/>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10" name="Image 1" descr="video-camera">    </p:cNvPr>
          <p:cNvPicPr>
            <a:picLocks noChangeAspect="1"/>
          </p:cNvPicPr>
          <p:nvPr/>
        </p:nvPicPr>
        <p:blipFill>
          <a:blip r:embed="rId2"/>
          <a:stretch>
            <a:fillRect/>
          </a:stretch>
        </p:blipFill>
        <p:spPr>
          <a:xfrm>
            <a:off x="4394835" y="1886885"/>
            <a:ext cx="528066" cy="528066"/>
          </a:xfrm>
          <a:prstGeom prst="rect">
            <a:avLst/>
          </a:prstGeom>
        </p:spPr>
      </p:pic>
      <p:sp>
        <p:nvSpPr>
          <p:cNvPr id="11" name="Text 7"/>
          <p:cNvSpPr txBox="1"/>
          <p:nvPr/>
        </p:nvSpPr>
        <p:spPr>
          <a:xfrm>
            <a:off x="5029200" y="1846138"/>
            <a:ext cx="2514600" cy="619892"/>
          </a:xfrm>
          <a:prstGeom prst="rect">
            <a:avLst/>
          </a:prstGeom>
          <a:noFill/>
          <a:ln/>
        </p:spPr>
        <p:txBody>
          <a:bodyPr wrap="square" lIns="0" tIns="0" rIns="0" bIns="0" rtlCol="0" anchor="ctr"/>
          <a:lstStyle/>
          <a:p>
            <a:pPr indent="0" marL="0">
              <a:buNone/>
            </a:pPr>
            <a:r>
              <a:rPr lang="en-US" sz="1300" b="1" dirty="0">
                <a:solidFill>
                  <a:schemeClr val="tx2"/>
                </a:solidFill>
              </a:rPr>
              <a:t>手順書・短尺動画</a:t>
            </a:r>
            <a:endParaRPr lang="en-US" sz="1300" dirty="0"/>
          </a:p>
        </p:txBody>
      </p:sp>
      <p:sp>
        <p:nvSpPr>
          <p:cNvPr id="12" name="Text 8"/>
          <p:cNvSpPr txBox="1"/>
          <p:nvPr/>
        </p:nvSpPr>
        <p:spPr>
          <a:xfrm>
            <a:off x="4434840" y="2569345"/>
            <a:ext cx="2971800" cy="1084811"/>
          </a:xfrm>
          <a:prstGeom prst="rect">
            <a:avLst/>
          </a:prstGeom>
          <a:noFill/>
          <a:ln/>
        </p:spPr>
        <p:txBody>
          <a:bodyPr wrap="square" lIns="0" tIns="0" rIns="0" bIns="0" rtlCol="0" anchor="t"/>
          <a:lstStyle/>
          <a:p>
            <a:pPr indent="0" marL="0">
              <a:buNone/>
            </a:pPr>
            <a:r>
              <a:rPr lang="en-US" sz="1200" dirty="0">
                <a:solidFill>
                  <a:schemeClr val="tx1"/>
                </a:solidFill>
              </a:rPr>
              <a:t>1テーマ3分程度の操作動画と1枚ものの手順書。現場の空き時間で学べる形式に</a:t>
            </a:r>
            <a:endParaRPr lang="en-US" sz="1200" dirty="0"/>
          </a:p>
        </p:txBody>
      </p:sp>
      <p:sp>
        <p:nvSpPr>
          <p:cNvPr id="13" name="Shape 9"/>
          <p:cNvSpPr/>
          <p:nvPr/>
        </p:nvSpPr>
        <p:spPr>
          <a:xfrm>
            <a:off x="548640" y="4015760"/>
            <a:ext cx="3429000" cy="2117964"/>
          </a:xfrm>
          <a:prstGeom prst="roundRect">
            <a:avLst>
              <a:gd name="adj" fmla="val 4317"/>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14" name="Image 2" descr="woman-teacher">    </p:cNvPr>
          <p:cNvPicPr>
            <a:picLocks noChangeAspect="1"/>
          </p:cNvPicPr>
          <p:nvPr/>
        </p:nvPicPr>
        <p:blipFill>
          <a:blip r:embed="rId3"/>
          <a:stretch>
            <a:fillRect/>
          </a:stretch>
        </p:blipFill>
        <p:spPr>
          <a:xfrm>
            <a:off x="737235" y="4263138"/>
            <a:ext cx="528066" cy="528066"/>
          </a:xfrm>
          <a:prstGeom prst="rect">
            <a:avLst/>
          </a:prstGeom>
        </p:spPr>
      </p:pic>
      <p:sp>
        <p:nvSpPr>
          <p:cNvPr id="15" name="Text 10"/>
          <p:cNvSpPr txBox="1"/>
          <p:nvPr/>
        </p:nvSpPr>
        <p:spPr>
          <a:xfrm>
            <a:off x="1371600" y="4222390"/>
            <a:ext cx="2514600" cy="619892"/>
          </a:xfrm>
          <a:prstGeom prst="rect">
            <a:avLst/>
          </a:prstGeom>
          <a:noFill/>
          <a:ln/>
        </p:spPr>
        <p:txBody>
          <a:bodyPr wrap="square" lIns="0" tIns="0" rIns="0" bIns="0" rtlCol="0" anchor="ctr"/>
          <a:lstStyle/>
          <a:p>
            <a:pPr indent="0" marL="0">
              <a:buNone/>
            </a:pPr>
            <a:r>
              <a:rPr lang="en-US" sz="1300" b="1" dirty="0">
                <a:solidFill>
                  <a:schemeClr val="tx2"/>
                </a:solidFill>
              </a:rPr>
              <a:t>社内コーチ育成・リテラシー研修</a:t>
            </a:r>
            <a:endParaRPr lang="en-US" sz="1300" dirty="0"/>
          </a:p>
        </p:txBody>
      </p:sp>
      <p:sp>
        <p:nvSpPr>
          <p:cNvPr id="16" name="Text 11"/>
          <p:cNvSpPr txBox="1"/>
          <p:nvPr/>
        </p:nvSpPr>
        <p:spPr>
          <a:xfrm>
            <a:off x="777240" y="4945598"/>
            <a:ext cx="2971800" cy="1084811"/>
          </a:xfrm>
          <a:prstGeom prst="rect">
            <a:avLst/>
          </a:prstGeom>
          <a:noFill/>
          <a:ln/>
        </p:spPr>
        <p:txBody>
          <a:bodyPr wrap="square" lIns="0" tIns="0" rIns="0" bIns="0" rtlCol="0" anchor="t"/>
          <a:lstStyle/>
          <a:p>
            <a:pPr indent="0" marL="0">
              <a:buNone/>
            </a:pPr>
            <a:r>
              <a:rPr lang="en-US" sz="1200" dirty="0">
                <a:solidFill>
                  <a:schemeClr val="tx1"/>
                </a:solidFill>
              </a:rPr>
              <a:t>ご担当者様が勉強会を開けるよう講師用資料と進め方をお渡しします。セキュリティ・AI 利用ルールの研修も含みます</a:t>
            </a:r>
            <a:endParaRPr lang="en-US" sz="1200" dirty="0"/>
          </a:p>
        </p:txBody>
      </p:sp>
      <p:sp>
        <p:nvSpPr>
          <p:cNvPr id="17" name="Shape 12"/>
          <p:cNvSpPr/>
          <p:nvPr/>
        </p:nvSpPr>
        <p:spPr>
          <a:xfrm>
            <a:off x="4206240" y="4015760"/>
            <a:ext cx="3429000" cy="2117964"/>
          </a:xfrm>
          <a:prstGeom prst="roundRect">
            <a:avLst>
              <a:gd name="adj" fmla="val 4317"/>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18" name="Image 3" descr="speech-balloon">    </p:cNvPr>
          <p:cNvPicPr>
            <a:picLocks noChangeAspect="1"/>
          </p:cNvPicPr>
          <p:nvPr/>
        </p:nvPicPr>
        <p:blipFill>
          <a:blip r:embed="rId4"/>
          <a:stretch>
            <a:fillRect/>
          </a:stretch>
        </p:blipFill>
        <p:spPr>
          <a:xfrm>
            <a:off x="4394835" y="4263138"/>
            <a:ext cx="528066" cy="528066"/>
          </a:xfrm>
          <a:prstGeom prst="rect">
            <a:avLst/>
          </a:prstGeom>
        </p:spPr>
      </p:pic>
      <p:sp>
        <p:nvSpPr>
          <p:cNvPr id="19" name="Text 13"/>
          <p:cNvSpPr txBox="1"/>
          <p:nvPr/>
        </p:nvSpPr>
        <p:spPr>
          <a:xfrm>
            <a:off x="5029200" y="4222390"/>
            <a:ext cx="2514600" cy="619892"/>
          </a:xfrm>
          <a:prstGeom prst="rect">
            <a:avLst/>
          </a:prstGeom>
          <a:noFill/>
          <a:ln/>
        </p:spPr>
        <p:txBody>
          <a:bodyPr wrap="square" lIns="0" tIns="0" rIns="0" bIns="0" rtlCol="0" anchor="ctr"/>
          <a:lstStyle/>
          <a:p>
            <a:pPr indent="0" marL="0">
              <a:buNone/>
            </a:pPr>
            <a:r>
              <a:rPr lang="en-US" sz="1300" b="1" dirty="0">
                <a:solidFill>
                  <a:schemeClr val="tx2"/>
                </a:solidFill>
              </a:rPr>
              <a:t>相談窓口・FAQ</a:t>
            </a:r>
            <a:endParaRPr lang="en-US" sz="1300" dirty="0"/>
          </a:p>
        </p:txBody>
      </p:sp>
      <p:sp>
        <p:nvSpPr>
          <p:cNvPr id="20" name="Text 14"/>
          <p:cNvSpPr txBox="1"/>
          <p:nvPr/>
        </p:nvSpPr>
        <p:spPr>
          <a:xfrm>
            <a:off x="4434840" y="4945598"/>
            <a:ext cx="2971800" cy="1084811"/>
          </a:xfrm>
          <a:prstGeom prst="rect">
            <a:avLst/>
          </a:prstGeom>
          <a:noFill/>
          <a:ln/>
        </p:spPr>
        <p:txBody>
          <a:bodyPr wrap="square" lIns="0" tIns="0" rIns="0" bIns="0" rtlCol="0" anchor="t"/>
          <a:lstStyle/>
          <a:p>
            <a:pPr indent="0" marL="0">
              <a:buNone/>
            </a:pPr>
            <a:r>
              <a:rPr lang="en-US" sz="1200" dirty="0">
                <a:solidFill>
                  <a:schemeClr val="tx1"/>
                </a:solidFill>
              </a:rPr>
              <a:t>Google Chat のスペースで質問を受付。よくある質問は FAQ に蓄積します</a:t>
            </a:r>
            <a:endParaRPr lang="en-US" sz="1200" dirty="0"/>
          </a:p>
        </p:txBody>
      </p:sp>
      <p:sp>
        <p:nvSpPr>
          <p:cNvPr id="21" name="Shape 15"/>
          <p:cNvSpPr/>
          <p:nvPr/>
        </p:nvSpPr>
        <p:spPr>
          <a:xfrm>
            <a:off x="7909560" y="1639507"/>
            <a:ext cx="3733495" cy="4494217"/>
          </a:xfrm>
          <a:prstGeom prst="roundRect">
            <a:avLst>
              <a:gd name="adj" fmla="val 2939"/>
            </a:avLst>
          </a:prstGeom>
          <a:solidFill>
            <a:schemeClr val="bg2"/>
          </a:solidFill>
          <a:ln/>
        </p:spPr>
      </p:sp>
      <p:sp>
        <p:nvSpPr>
          <p:cNvPr id="22" name="Text 16"/>
          <p:cNvSpPr txBox="1"/>
          <p:nvPr/>
        </p:nvSpPr>
        <p:spPr>
          <a:xfrm>
            <a:off x="8183880" y="1846138"/>
            <a:ext cx="3184855" cy="413261"/>
          </a:xfrm>
          <a:prstGeom prst="rect">
            <a:avLst/>
          </a:prstGeom>
          <a:noFill/>
          <a:ln/>
        </p:spPr>
        <p:txBody>
          <a:bodyPr wrap="square" lIns="0" tIns="0" rIns="0" bIns="0" rtlCol="0" anchor="t"/>
          <a:lstStyle/>
          <a:p>
            <a:pPr indent="0" marL="0">
              <a:buNone/>
            </a:pPr>
            <a:r>
              <a:rPr lang="en-US" sz="1500" b="1" dirty="0">
                <a:solidFill>
                  <a:schemeClr val="accent1"/>
                </a:solidFill>
              </a:rPr>
              <a:t>現場の負担を抑える3つの工夫</a:t>
            </a:r>
            <a:endParaRPr lang="en-US" sz="1500" dirty="0"/>
          </a:p>
        </p:txBody>
      </p:sp>
      <p:sp>
        <p:nvSpPr>
          <p:cNvPr id="23" name="Text 17"/>
          <p:cNvSpPr txBox="1"/>
          <p:nvPr/>
        </p:nvSpPr>
        <p:spPr>
          <a:xfrm>
            <a:off x="8183880" y="2490968"/>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4" name="Text 18"/>
          <p:cNvSpPr txBox="1"/>
          <p:nvPr/>
        </p:nvSpPr>
        <p:spPr>
          <a:xfrm>
            <a:off x="8732520" y="2445367"/>
            <a:ext cx="2681935" cy="361604"/>
          </a:xfrm>
          <a:prstGeom prst="rect">
            <a:avLst/>
          </a:prstGeom>
          <a:noFill/>
          <a:ln/>
        </p:spPr>
        <p:txBody>
          <a:bodyPr wrap="square" lIns="0" tIns="0" rIns="0" bIns="0" rtlCol="0" anchor="t"/>
          <a:lstStyle/>
          <a:p>
            <a:pPr indent="0" marL="0">
              <a:buNone/>
            </a:pPr>
            <a:r>
              <a:rPr lang="en-US" sz="1400" b="1" dirty="0">
                <a:solidFill>
                  <a:schemeClr val="tx1"/>
                </a:solidFill>
              </a:rPr>
              <a:t>「今の業務の延長」から始める</a:t>
            </a:r>
            <a:endParaRPr lang="en-US" sz="1400" dirty="0"/>
          </a:p>
        </p:txBody>
      </p:sp>
      <p:sp>
        <p:nvSpPr>
          <p:cNvPr id="25" name="Text 19"/>
          <p:cNvSpPr txBox="1"/>
          <p:nvPr/>
        </p:nvSpPr>
        <p:spPr>
          <a:xfrm>
            <a:off x="8732520" y="2827634"/>
            <a:ext cx="2681935" cy="723207"/>
          </a:xfrm>
          <a:prstGeom prst="rect">
            <a:avLst/>
          </a:prstGeom>
          <a:noFill/>
          <a:ln/>
        </p:spPr>
        <p:txBody>
          <a:bodyPr wrap="square" lIns="0" tIns="0" rIns="0" bIns="0" rtlCol="0" anchor="t"/>
          <a:lstStyle/>
          <a:p>
            <a:pPr indent="0" marL="0">
              <a:buNone/>
            </a:pPr>
            <a:r>
              <a:rPr lang="en-US" sz="1200" dirty="0">
                <a:solidFill>
                  <a:schemeClr val="tx1"/>
                </a:solidFill>
              </a:rPr>
              <a:t>新しいやり方を覚えるのではなく、いつもの資料・メールに AI を足すだけの使い方から</a:t>
            </a:r>
            <a:endParaRPr lang="en-US" sz="1200" dirty="0"/>
          </a:p>
        </p:txBody>
      </p:sp>
      <p:sp>
        <p:nvSpPr>
          <p:cNvPr id="26" name="Text 20"/>
          <p:cNvSpPr txBox="1"/>
          <p:nvPr/>
        </p:nvSpPr>
        <p:spPr>
          <a:xfrm>
            <a:off x="8183880" y="3648100"/>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7" name="Text 21"/>
          <p:cNvSpPr txBox="1"/>
          <p:nvPr/>
        </p:nvSpPr>
        <p:spPr>
          <a:xfrm>
            <a:off x="8732520" y="3602498"/>
            <a:ext cx="2681935" cy="361604"/>
          </a:xfrm>
          <a:prstGeom prst="rect">
            <a:avLst/>
          </a:prstGeom>
          <a:noFill/>
          <a:ln/>
        </p:spPr>
        <p:txBody>
          <a:bodyPr wrap="square" lIns="0" tIns="0" rIns="0" bIns="0" rtlCol="0" anchor="t"/>
          <a:lstStyle/>
          <a:p>
            <a:pPr indent="0" marL="0">
              <a:buNone/>
            </a:pPr>
            <a:r>
              <a:rPr lang="en-US" sz="1400" b="1" dirty="0">
                <a:solidFill>
                  <a:schemeClr val="tx1"/>
                </a:solidFill>
              </a:rPr>
              <a:t>1回30分のミニ勉強会</a:t>
            </a:r>
            <a:endParaRPr lang="en-US" sz="1400" dirty="0"/>
          </a:p>
        </p:txBody>
      </p:sp>
      <p:sp>
        <p:nvSpPr>
          <p:cNvPr id="28" name="Text 22"/>
          <p:cNvSpPr txBox="1"/>
          <p:nvPr/>
        </p:nvSpPr>
        <p:spPr>
          <a:xfrm>
            <a:off x="8732520" y="3984765"/>
            <a:ext cx="2681935" cy="723207"/>
          </a:xfrm>
          <a:prstGeom prst="rect">
            <a:avLst/>
          </a:prstGeom>
          <a:noFill/>
          <a:ln/>
        </p:spPr>
        <p:txBody>
          <a:bodyPr wrap="square" lIns="0" tIns="0" rIns="0" bIns="0" rtlCol="0" anchor="t"/>
          <a:lstStyle/>
          <a:p>
            <a:pPr indent="0" marL="0">
              <a:buNone/>
            </a:pPr>
            <a:r>
              <a:rPr lang="en-US" sz="1200" dirty="0">
                <a:solidFill>
                  <a:schemeClr val="tx1"/>
                </a:solidFill>
              </a:rPr>
              <a:t>業務の合間に参加できる短時間・オンライン中心の形式で</a:t>
            </a:r>
            <a:endParaRPr lang="en-US" sz="1200" dirty="0"/>
          </a:p>
        </p:txBody>
      </p:sp>
      <p:sp>
        <p:nvSpPr>
          <p:cNvPr id="29" name="Text 23"/>
          <p:cNvSpPr txBox="1"/>
          <p:nvPr/>
        </p:nvSpPr>
        <p:spPr>
          <a:xfrm>
            <a:off x="8183880" y="4805231"/>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0" name="Text 24"/>
          <p:cNvSpPr txBox="1"/>
          <p:nvPr/>
        </p:nvSpPr>
        <p:spPr>
          <a:xfrm>
            <a:off x="8732520" y="4759630"/>
            <a:ext cx="2681935" cy="361604"/>
          </a:xfrm>
          <a:prstGeom prst="rect">
            <a:avLst/>
          </a:prstGeom>
          <a:noFill/>
          <a:ln/>
        </p:spPr>
        <p:txBody>
          <a:bodyPr wrap="square" lIns="0" tIns="0" rIns="0" bIns="0" rtlCol="0" anchor="t"/>
          <a:lstStyle/>
          <a:p>
            <a:pPr indent="0" marL="0">
              <a:buNone/>
            </a:pPr>
            <a:r>
              <a:rPr lang="en-US" sz="1400" b="1" dirty="0">
                <a:solidFill>
                  <a:schemeClr val="tx1"/>
                </a:solidFill>
              </a:rPr>
              <a:t>社内の成功事例を共有</a:t>
            </a:r>
            <a:endParaRPr lang="en-US" sz="1400" dirty="0"/>
          </a:p>
        </p:txBody>
      </p:sp>
      <p:sp>
        <p:nvSpPr>
          <p:cNvPr id="31" name="Text 25"/>
          <p:cNvSpPr txBox="1"/>
          <p:nvPr/>
        </p:nvSpPr>
        <p:spPr>
          <a:xfrm>
            <a:off x="8732520" y="5141897"/>
            <a:ext cx="2681935" cy="723207"/>
          </a:xfrm>
          <a:prstGeom prst="rect">
            <a:avLst/>
          </a:prstGeom>
          <a:noFill/>
          <a:ln/>
        </p:spPr>
        <p:txBody>
          <a:bodyPr wrap="square" lIns="0" tIns="0" rIns="0" bIns="0" rtlCol="0" anchor="t"/>
          <a:lstStyle/>
          <a:p>
            <a:pPr indent="0" marL="0">
              <a:buNone/>
            </a:pPr>
            <a:r>
              <a:rPr lang="en-US" sz="1200" dirty="0">
                <a:solidFill>
                  <a:schemeClr val="tx1"/>
                </a:solidFill>
              </a:rPr>
              <a:t>「○○さんがこう使って△分短縮」を月次で共有し、自然に広げる</a:t>
            </a:r>
            <a:endParaRPr lang="en-US" sz="12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段階展開のロードマップ：8名から50〜70名へ</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担当部署 → 本部管理部門 → 営業・現場管理職と、各段階で効果を確認し、次に進むかを判断しながら広げます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02｜ご提案内容　柱③ 定着・社内展開</a:t>
            </a:r>
            <a:endParaRPr lang="en-US" sz="900" dirty="0"/>
          </a:p>
        </p:txBody>
      </p:sp>
      <p:sp>
        <p:nvSpPr>
          <p:cNvPr id="5" name="Shape 3"/>
          <p:cNvSpPr/>
          <p:nvPr/>
        </p:nvSpPr>
        <p:spPr>
          <a:xfrm>
            <a:off x="548640" y="2311057"/>
            <a:ext cx="3545738" cy="1343099"/>
          </a:xfrm>
          <a:prstGeom prst="roundRect">
            <a:avLst>
              <a:gd name="adj" fmla="val 5447"/>
            </a:avLst>
          </a:prstGeom>
          <a:solidFill>
            <a:schemeClr val="accent2"/>
          </a:solidFill>
          <a:ln/>
        </p:spPr>
      </p:sp>
      <p:sp>
        <p:nvSpPr>
          <p:cNvPr id="6" name="Text 4"/>
          <p:cNvSpPr txBox="1"/>
          <p:nvPr/>
        </p:nvSpPr>
        <p:spPr>
          <a:xfrm>
            <a:off x="777240" y="2435035"/>
            <a:ext cx="3088538" cy="309946"/>
          </a:xfrm>
          <a:prstGeom prst="rect">
            <a:avLst/>
          </a:prstGeom>
          <a:noFill/>
          <a:ln/>
        </p:spPr>
        <p:txBody>
          <a:bodyPr wrap="square" lIns="0" tIns="0" rIns="0" bIns="0" rtlCol="0" anchor="t"/>
          <a:lstStyle/>
          <a:p>
            <a:pPr indent="0" marL="0">
              <a:buNone/>
            </a:pPr>
            <a:r>
              <a:rPr lang="en-US" sz="1200" b="1" dirty="0">
                <a:solidFill>
                  <a:schemeClr val="bg1"/>
                </a:solidFill>
              </a:rPr>
              <a:t>Phase 0｜1〜2ヶ月目</a:t>
            </a:r>
            <a:endParaRPr lang="en-US" sz="1200" dirty="0"/>
          </a:p>
        </p:txBody>
      </p:sp>
      <p:sp>
        <p:nvSpPr>
          <p:cNvPr id="7" name="Text 5"/>
          <p:cNvSpPr txBox="1"/>
          <p:nvPr/>
        </p:nvSpPr>
        <p:spPr>
          <a:xfrm>
            <a:off x="777240" y="2744981"/>
            <a:ext cx="3088538" cy="516577"/>
          </a:xfrm>
          <a:prstGeom prst="rect">
            <a:avLst/>
          </a:prstGeom>
          <a:noFill/>
          <a:ln/>
        </p:spPr>
        <p:txBody>
          <a:bodyPr wrap="square" lIns="0" tIns="0" rIns="0" bIns="0" rtlCol="0" anchor="ctr"/>
          <a:lstStyle/>
          <a:p>
            <a:pPr indent="0" marL="0">
              <a:buNone/>
            </a:pPr>
            <a:r>
              <a:rPr lang="en-US" sz="2600" b="1" dirty="0">
                <a:solidFill>
                  <a:schemeClr val="bg1"/>
                </a:solidFill>
              </a:rPr>
              <a:t>8名</a:t>
            </a:r>
            <a:endParaRPr lang="en-US" sz="2600" dirty="0"/>
          </a:p>
        </p:txBody>
      </p:sp>
      <p:sp>
        <p:nvSpPr>
          <p:cNvPr id="8" name="Text 6"/>
          <p:cNvSpPr txBox="1"/>
          <p:nvPr/>
        </p:nvSpPr>
        <p:spPr>
          <a:xfrm>
            <a:off x="777240" y="3261558"/>
            <a:ext cx="3088538" cy="309946"/>
          </a:xfrm>
          <a:prstGeom prst="rect">
            <a:avLst/>
          </a:prstGeom>
          <a:noFill/>
          <a:ln/>
        </p:spPr>
        <p:txBody>
          <a:bodyPr wrap="square" lIns="0" tIns="0" rIns="0" bIns="0" rtlCol="0" anchor="t"/>
          <a:lstStyle/>
          <a:p>
            <a:pPr indent="0" marL="0">
              <a:buNone/>
            </a:pPr>
            <a:r>
              <a:rPr lang="en-US" sz="1300" dirty="0">
                <a:solidFill>
                  <a:schemeClr val="bg1"/>
                </a:solidFill>
              </a:rPr>
              <a:t>担当部署（テスト導入）</a:t>
            </a:r>
            <a:endParaRPr lang="en-US" sz="1300" dirty="0"/>
          </a:p>
        </p:txBody>
      </p:sp>
      <p:sp>
        <p:nvSpPr>
          <p:cNvPr id="9" name="Shape 7"/>
          <p:cNvSpPr/>
          <p:nvPr/>
        </p:nvSpPr>
        <p:spPr>
          <a:xfrm>
            <a:off x="548640" y="3809129"/>
            <a:ext cx="3545738" cy="2427910"/>
          </a:xfrm>
          <a:prstGeom prst="roundRect">
            <a:avLst>
              <a:gd name="adj" fmla="val 3766"/>
            </a:avLst>
          </a:prstGeom>
          <a:solidFill>
            <a:schemeClr val="bg1"/>
          </a:solidFill>
          <a:ln w="9525">
            <a:solidFill>
              <a:srgbClr val="E2E1EE"/>
            </a:solidFill>
            <a:prstDash val="solid"/>
          </a:ln>
        </p:spPr>
      </p:sp>
      <p:sp>
        <p:nvSpPr>
          <p:cNvPr id="10" name="Text 8"/>
          <p:cNvSpPr txBox="1"/>
          <p:nvPr/>
        </p:nvSpPr>
        <p:spPr>
          <a:xfrm>
            <a:off x="731520" y="3933108"/>
            <a:ext cx="3179978" cy="568234"/>
          </a:xfrm>
          <a:prstGeom prst="rect">
            <a:avLst/>
          </a:prstGeom>
          <a:noFill/>
          <a:ln/>
        </p:spPr>
        <p:txBody>
          <a:bodyPr wrap="square" lIns="0" tIns="0" rIns="0" bIns="0" rtlCol="0" anchor="t"/>
          <a:lstStyle/>
          <a:p>
            <a:pPr indent="0" marL="0">
              <a:buNone/>
            </a:pPr>
            <a:r>
              <a:rPr lang="en-US" sz="1300" b="1" dirty="0">
                <a:solidFill>
                  <a:schemeClr val="tx2"/>
                </a:solidFill>
              </a:rPr>
              <a:t>効果の出る「型」をつくり、効果を実測</a:t>
            </a:r>
            <a:endParaRPr lang="en-US" sz="1300" dirty="0"/>
          </a:p>
        </p:txBody>
      </p:sp>
      <p:sp>
        <p:nvSpPr>
          <p:cNvPr id="11" name="Text 9"/>
          <p:cNvSpPr txBox="1"/>
          <p:nvPr/>
        </p:nvSpPr>
        <p:spPr>
          <a:xfrm>
            <a:off x="731520" y="4532336"/>
            <a:ext cx="3179978" cy="1653045"/>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業務棚卸し・ユースケース選定</a:t>
            </a:r>
            <a:endParaRPr lang="en-US" sz="1300" dirty="0"/>
          </a:p>
          <a:p>
            <a:pPr marL="177800" indent="-177800">
              <a:spcAft>
                <a:spcPts val="600"/>
              </a:spcAft>
              <a:buSzPct val="100000"/>
              <a:buChar char="•"/>
            </a:pPr>
            <a:r>
              <a:rPr lang="en-US" sz="1300" dirty="0">
                <a:solidFill>
                  <a:schemeClr val="tx1"/>
                </a:solidFill>
              </a:rPr>
              <a:t>テンプレート・Gem 作成</a:t>
            </a:r>
            <a:endParaRPr lang="en-US" sz="1300" dirty="0"/>
          </a:p>
          <a:p>
            <a:pPr marL="177800" indent="-177800">
              <a:spcAft>
                <a:spcPts val="600"/>
              </a:spcAft>
              <a:buSzPct val="100000"/>
              <a:buChar char="•"/>
            </a:pPr>
            <a:r>
              <a:rPr lang="en-US" sz="1300" dirty="0">
                <a:solidFill>
                  <a:schemeClr val="tx1"/>
                </a:solidFill>
              </a:rPr>
              <a:t>Drive 移行設計・ルール策定</a:t>
            </a:r>
            <a:endParaRPr lang="en-US" sz="1300" dirty="0"/>
          </a:p>
          <a:p>
            <a:pPr marL="177800" indent="-177800">
              <a:spcAft>
                <a:spcPts val="600"/>
              </a:spcAft>
              <a:buSzPct val="100000"/>
              <a:buChar char="•"/>
            </a:pPr>
            <a:r>
              <a:rPr lang="en-US" sz="1300" dirty="0">
                <a:solidFill>
                  <a:schemeClr val="tx1"/>
                </a:solidFill>
              </a:rPr>
              <a:t>効果測定の方法・KPI の設定</a:t>
            </a:r>
            <a:endParaRPr lang="en-US" sz="1300" dirty="0"/>
          </a:p>
        </p:txBody>
      </p:sp>
      <p:sp>
        <p:nvSpPr>
          <p:cNvPr id="12" name="Shape 10"/>
          <p:cNvSpPr/>
          <p:nvPr/>
        </p:nvSpPr>
        <p:spPr>
          <a:xfrm>
            <a:off x="4322978" y="1897796"/>
            <a:ext cx="3545738" cy="1756361"/>
          </a:xfrm>
          <a:prstGeom prst="roundRect">
            <a:avLst>
              <a:gd name="adj" fmla="val 4165"/>
            </a:avLst>
          </a:prstGeom>
          <a:solidFill>
            <a:schemeClr val="accent1"/>
          </a:solidFill>
          <a:ln/>
        </p:spPr>
      </p:sp>
      <p:sp>
        <p:nvSpPr>
          <p:cNvPr id="13" name="Text 11"/>
          <p:cNvSpPr txBox="1"/>
          <p:nvPr/>
        </p:nvSpPr>
        <p:spPr>
          <a:xfrm>
            <a:off x="4551578" y="2021774"/>
            <a:ext cx="3088538" cy="309946"/>
          </a:xfrm>
          <a:prstGeom prst="rect">
            <a:avLst/>
          </a:prstGeom>
          <a:noFill/>
          <a:ln/>
        </p:spPr>
        <p:txBody>
          <a:bodyPr wrap="square" lIns="0" tIns="0" rIns="0" bIns="0" rtlCol="0" anchor="t"/>
          <a:lstStyle/>
          <a:p>
            <a:pPr indent="0" marL="0">
              <a:buNone/>
            </a:pPr>
            <a:r>
              <a:rPr lang="en-US" sz="1200" b="1" dirty="0">
                <a:solidFill>
                  <a:schemeClr val="bg1"/>
                </a:solidFill>
              </a:rPr>
              <a:t>Phase 1｜3〜4ヶ月目</a:t>
            </a:r>
            <a:endParaRPr lang="en-US" sz="1200" dirty="0"/>
          </a:p>
        </p:txBody>
      </p:sp>
      <p:sp>
        <p:nvSpPr>
          <p:cNvPr id="14" name="Text 12"/>
          <p:cNvSpPr txBox="1"/>
          <p:nvPr/>
        </p:nvSpPr>
        <p:spPr>
          <a:xfrm>
            <a:off x="4551578" y="2331720"/>
            <a:ext cx="3088538" cy="516577"/>
          </a:xfrm>
          <a:prstGeom prst="rect">
            <a:avLst/>
          </a:prstGeom>
          <a:noFill/>
          <a:ln/>
        </p:spPr>
        <p:txBody>
          <a:bodyPr wrap="square" lIns="0" tIns="0" rIns="0" bIns="0" rtlCol="0" anchor="ctr"/>
          <a:lstStyle/>
          <a:p>
            <a:pPr indent="0" marL="0">
              <a:buNone/>
            </a:pPr>
            <a:r>
              <a:rPr lang="en-US" sz="2600" b="1" dirty="0">
                <a:solidFill>
                  <a:schemeClr val="bg1"/>
                </a:solidFill>
              </a:rPr>
              <a:t>〜20名</a:t>
            </a:r>
            <a:endParaRPr lang="en-US" sz="2600" dirty="0"/>
          </a:p>
        </p:txBody>
      </p:sp>
      <p:sp>
        <p:nvSpPr>
          <p:cNvPr id="15" name="Text 13"/>
          <p:cNvSpPr txBox="1"/>
          <p:nvPr/>
        </p:nvSpPr>
        <p:spPr>
          <a:xfrm>
            <a:off x="4551578" y="2848297"/>
            <a:ext cx="3088538" cy="309946"/>
          </a:xfrm>
          <a:prstGeom prst="rect">
            <a:avLst/>
          </a:prstGeom>
          <a:noFill/>
          <a:ln/>
        </p:spPr>
        <p:txBody>
          <a:bodyPr wrap="square" lIns="0" tIns="0" rIns="0" bIns="0" rtlCol="0" anchor="t"/>
          <a:lstStyle/>
          <a:p>
            <a:pPr indent="0" marL="0">
              <a:buNone/>
            </a:pPr>
            <a:r>
              <a:rPr lang="en-US" sz="1300" dirty="0">
                <a:solidFill>
                  <a:schemeClr val="bg1"/>
                </a:solidFill>
              </a:rPr>
              <a:t>本部管理部門</a:t>
            </a:r>
            <a:endParaRPr lang="en-US" sz="1300" dirty="0"/>
          </a:p>
        </p:txBody>
      </p:sp>
      <p:sp>
        <p:nvSpPr>
          <p:cNvPr id="16" name="Shape 14"/>
          <p:cNvSpPr/>
          <p:nvPr/>
        </p:nvSpPr>
        <p:spPr>
          <a:xfrm>
            <a:off x="4322978" y="3809129"/>
            <a:ext cx="3545738" cy="2427910"/>
          </a:xfrm>
          <a:prstGeom prst="roundRect">
            <a:avLst>
              <a:gd name="adj" fmla="val 3766"/>
            </a:avLst>
          </a:prstGeom>
          <a:solidFill>
            <a:schemeClr val="bg1"/>
          </a:solidFill>
          <a:ln w="9525">
            <a:solidFill>
              <a:srgbClr val="E2E1EE"/>
            </a:solidFill>
            <a:prstDash val="solid"/>
          </a:ln>
        </p:spPr>
      </p:sp>
      <p:sp>
        <p:nvSpPr>
          <p:cNvPr id="17" name="Text 15"/>
          <p:cNvSpPr txBox="1"/>
          <p:nvPr/>
        </p:nvSpPr>
        <p:spPr>
          <a:xfrm>
            <a:off x="4505858" y="3933108"/>
            <a:ext cx="3179978" cy="568234"/>
          </a:xfrm>
          <a:prstGeom prst="rect">
            <a:avLst/>
          </a:prstGeom>
          <a:noFill/>
          <a:ln/>
        </p:spPr>
        <p:txBody>
          <a:bodyPr wrap="square" lIns="0" tIns="0" rIns="0" bIns="0" rtlCol="0" anchor="t"/>
          <a:lstStyle/>
          <a:p>
            <a:pPr indent="0" marL="0">
              <a:buNone/>
            </a:pPr>
            <a:r>
              <a:rPr lang="en-US" sz="1300" b="1" dirty="0">
                <a:solidFill>
                  <a:schemeClr val="tx2"/>
                </a:solidFill>
              </a:rPr>
              <a:t>バックオフィス全体へ展開し、移行を完了</a:t>
            </a:r>
            <a:endParaRPr lang="en-US" sz="1300" dirty="0"/>
          </a:p>
        </p:txBody>
      </p:sp>
      <p:sp>
        <p:nvSpPr>
          <p:cNvPr id="18" name="Text 16"/>
          <p:cNvSpPr txBox="1"/>
          <p:nvPr/>
        </p:nvSpPr>
        <p:spPr>
          <a:xfrm>
            <a:off x="4505858" y="4532336"/>
            <a:ext cx="3179978" cy="1653045"/>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部門別テンプレートの拡充</a:t>
            </a:r>
            <a:endParaRPr lang="en-US" sz="1300" dirty="0"/>
          </a:p>
          <a:p>
            <a:pPr marL="177800" indent="-177800">
              <a:spcAft>
                <a:spcPts val="600"/>
              </a:spcAft>
              <a:buSzPct val="100000"/>
              <a:buChar char="•"/>
            </a:pPr>
            <a:r>
              <a:rPr lang="en-US" sz="1300" dirty="0">
                <a:solidFill>
                  <a:schemeClr val="tx1"/>
                </a:solidFill>
              </a:rPr>
              <a:t>社内コーチによる勉強会</a:t>
            </a:r>
            <a:endParaRPr lang="en-US" sz="1300" dirty="0"/>
          </a:p>
          <a:p>
            <a:pPr marL="177800" indent="-177800">
              <a:spcAft>
                <a:spcPts val="600"/>
              </a:spcAft>
              <a:buSzPct val="100000"/>
              <a:buChar char="•"/>
            </a:pPr>
            <a:r>
              <a:rPr lang="en-US" sz="1300" dirty="0">
                <a:solidFill>
                  <a:schemeClr val="tx1"/>
                </a:solidFill>
              </a:rPr>
              <a:t>Dropbox からの本移行・切替</a:t>
            </a:r>
            <a:endParaRPr lang="en-US" sz="1300" dirty="0"/>
          </a:p>
          <a:p>
            <a:pPr marL="177800" indent="-177800">
              <a:spcAft>
                <a:spcPts val="600"/>
              </a:spcAft>
              <a:buSzPct val="100000"/>
              <a:buChar char="•"/>
            </a:pPr>
            <a:r>
              <a:rPr lang="en-US" sz="1300" dirty="0">
                <a:solidFill>
                  <a:schemeClr val="tx1"/>
                </a:solidFill>
              </a:rPr>
              <a:t>提出物管理などの自動化</a:t>
            </a:r>
            <a:endParaRPr lang="en-US" sz="1300" dirty="0"/>
          </a:p>
        </p:txBody>
      </p:sp>
      <p:sp>
        <p:nvSpPr>
          <p:cNvPr id="19" name="Shape 17"/>
          <p:cNvSpPr/>
          <p:nvPr/>
        </p:nvSpPr>
        <p:spPr>
          <a:xfrm>
            <a:off x="8097317" y="1484534"/>
            <a:ext cx="3545738" cy="2169622"/>
          </a:xfrm>
          <a:prstGeom prst="roundRect">
            <a:avLst>
              <a:gd name="adj" fmla="val 3372"/>
            </a:avLst>
          </a:prstGeom>
          <a:solidFill>
            <a:schemeClr val="tx2"/>
          </a:solidFill>
          <a:ln/>
        </p:spPr>
      </p:sp>
      <p:sp>
        <p:nvSpPr>
          <p:cNvPr id="20" name="Text 18"/>
          <p:cNvSpPr txBox="1"/>
          <p:nvPr/>
        </p:nvSpPr>
        <p:spPr>
          <a:xfrm>
            <a:off x="8325917" y="1608513"/>
            <a:ext cx="3088538" cy="309946"/>
          </a:xfrm>
          <a:prstGeom prst="rect">
            <a:avLst/>
          </a:prstGeom>
          <a:noFill/>
          <a:ln/>
        </p:spPr>
        <p:txBody>
          <a:bodyPr wrap="square" lIns="0" tIns="0" rIns="0" bIns="0" rtlCol="0" anchor="t"/>
          <a:lstStyle/>
          <a:p>
            <a:pPr indent="0" marL="0">
              <a:buNone/>
            </a:pPr>
            <a:r>
              <a:rPr lang="en-US" sz="1200" b="1" dirty="0">
                <a:solidFill>
                  <a:schemeClr val="bg1"/>
                </a:solidFill>
              </a:rPr>
              <a:t>Phase 2｜5〜6ヶ月目</a:t>
            </a:r>
            <a:endParaRPr lang="en-US" sz="1200" dirty="0"/>
          </a:p>
        </p:txBody>
      </p:sp>
      <p:sp>
        <p:nvSpPr>
          <p:cNvPr id="21" name="Text 19"/>
          <p:cNvSpPr txBox="1"/>
          <p:nvPr/>
        </p:nvSpPr>
        <p:spPr>
          <a:xfrm>
            <a:off x="8325917" y="1918459"/>
            <a:ext cx="3088538" cy="516577"/>
          </a:xfrm>
          <a:prstGeom prst="rect">
            <a:avLst/>
          </a:prstGeom>
          <a:noFill/>
          <a:ln/>
        </p:spPr>
        <p:txBody>
          <a:bodyPr wrap="square" lIns="0" tIns="0" rIns="0" bIns="0" rtlCol="0" anchor="ctr"/>
          <a:lstStyle/>
          <a:p>
            <a:pPr indent="0" marL="0">
              <a:buNone/>
            </a:pPr>
            <a:r>
              <a:rPr lang="en-US" sz="2600" b="1" dirty="0">
                <a:solidFill>
                  <a:schemeClr val="bg1"/>
                </a:solidFill>
              </a:rPr>
              <a:t>50〜70名</a:t>
            </a:r>
            <a:endParaRPr lang="en-US" sz="2600" dirty="0"/>
          </a:p>
        </p:txBody>
      </p:sp>
      <p:sp>
        <p:nvSpPr>
          <p:cNvPr id="22" name="Text 20"/>
          <p:cNvSpPr txBox="1"/>
          <p:nvPr/>
        </p:nvSpPr>
        <p:spPr>
          <a:xfrm>
            <a:off x="8325917" y="2435035"/>
            <a:ext cx="3088538" cy="309946"/>
          </a:xfrm>
          <a:prstGeom prst="rect">
            <a:avLst/>
          </a:prstGeom>
          <a:noFill/>
          <a:ln/>
        </p:spPr>
        <p:txBody>
          <a:bodyPr wrap="square" lIns="0" tIns="0" rIns="0" bIns="0" rtlCol="0" anchor="t"/>
          <a:lstStyle/>
          <a:p>
            <a:pPr indent="0" marL="0">
              <a:buNone/>
            </a:pPr>
            <a:r>
              <a:rPr lang="en-US" sz="1300" dirty="0">
                <a:solidFill>
                  <a:schemeClr val="bg1"/>
                </a:solidFill>
              </a:rPr>
              <a:t>営業・現場管理職</a:t>
            </a:r>
            <a:endParaRPr lang="en-US" sz="1300" dirty="0"/>
          </a:p>
        </p:txBody>
      </p:sp>
      <p:sp>
        <p:nvSpPr>
          <p:cNvPr id="23" name="Shape 21"/>
          <p:cNvSpPr/>
          <p:nvPr/>
        </p:nvSpPr>
        <p:spPr>
          <a:xfrm>
            <a:off x="8097317" y="3809129"/>
            <a:ext cx="3545738" cy="2427910"/>
          </a:xfrm>
          <a:prstGeom prst="roundRect">
            <a:avLst>
              <a:gd name="adj" fmla="val 3766"/>
            </a:avLst>
          </a:prstGeom>
          <a:solidFill>
            <a:schemeClr val="bg1"/>
          </a:solidFill>
          <a:ln w="9525">
            <a:solidFill>
              <a:srgbClr val="E2E1EE"/>
            </a:solidFill>
            <a:prstDash val="solid"/>
          </a:ln>
        </p:spPr>
      </p:sp>
      <p:sp>
        <p:nvSpPr>
          <p:cNvPr id="24" name="Text 22"/>
          <p:cNvSpPr txBox="1"/>
          <p:nvPr/>
        </p:nvSpPr>
        <p:spPr>
          <a:xfrm>
            <a:off x="8280197" y="3933108"/>
            <a:ext cx="3179978" cy="568234"/>
          </a:xfrm>
          <a:prstGeom prst="rect">
            <a:avLst/>
          </a:prstGeom>
          <a:noFill/>
          <a:ln/>
        </p:spPr>
        <p:txBody>
          <a:bodyPr wrap="square" lIns="0" tIns="0" rIns="0" bIns="0" rtlCol="0" anchor="t"/>
          <a:lstStyle/>
          <a:p>
            <a:pPr indent="0" marL="0">
              <a:buNone/>
            </a:pPr>
            <a:r>
              <a:rPr lang="en-US" sz="1300" b="1" dirty="0">
                <a:solidFill>
                  <a:schemeClr val="tx2"/>
                </a:solidFill>
              </a:rPr>
              <a:t>対象部門への展開と効果の定量報告</a:t>
            </a:r>
            <a:endParaRPr lang="en-US" sz="1300" dirty="0"/>
          </a:p>
        </p:txBody>
      </p:sp>
      <p:sp>
        <p:nvSpPr>
          <p:cNvPr id="25" name="Text 23"/>
          <p:cNvSpPr txBox="1"/>
          <p:nvPr/>
        </p:nvSpPr>
        <p:spPr>
          <a:xfrm>
            <a:off x="8280197" y="4532336"/>
            <a:ext cx="3179978" cy="1653045"/>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営業・管理職向けユースケース展開</a:t>
            </a:r>
            <a:endParaRPr lang="en-US" sz="1300" dirty="0"/>
          </a:p>
          <a:p>
            <a:pPr marL="177800" indent="-177800">
              <a:spcAft>
                <a:spcPts val="600"/>
              </a:spcAft>
              <a:buSzPct val="100000"/>
              <a:buChar char="•"/>
            </a:pPr>
            <a:r>
              <a:rPr lang="en-US" sz="1300" dirty="0">
                <a:solidFill>
                  <a:schemeClr val="tx1"/>
                </a:solidFill>
              </a:rPr>
              <a:t>FAQ・相談窓口の運用</a:t>
            </a:r>
            <a:endParaRPr lang="en-US" sz="1300" dirty="0"/>
          </a:p>
          <a:p>
            <a:pPr marL="177800" indent="-177800">
              <a:spcAft>
                <a:spcPts val="600"/>
              </a:spcAft>
              <a:buSzPct val="100000"/>
              <a:buChar char="•"/>
            </a:pPr>
            <a:r>
              <a:rPr lang="en-US" sz="1300" dirty="0">
                <a:solidFill>
                  <a:schemeClr val="tx1"/>
                </a:solidFill>
              </a:rPr>
              <a:t>効果測定と次年度計画の策定</a:t>
            </a:r>
            <a:endParaRPr lang="en-US" sz="1300" dirty="0"/>
          </a:p>
          <a:p>
            <a:pPr marL="177800" indent="-177800">
              <a:spcAft>
                <a:spcPts val="600"/>
              </a:spcAft>
              <a:buSzPct val="100000"/>
              <a:buChar char="•"/>
            </a:pPr>
            <a:r>
              <a:rPr lang="en-US" sz="1300" dirty="0">
                <a:solidFill>
                  <a:schemeClr val="tx1"/>
                </a:solidFill>
              </a:rPr>
              <a:t>社内コーチ中心の自走体制へ</a:t>
            </a:r>
            <a:endParaRPr lang="en-US" sz="13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ご要件と本提案の対応</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いただいた必須要件・推奨要件のすべてに、本提案の具体的な取り組みでお応えします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02｜ご提案内容</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84534"/>
          <a:ext cx="11094415" cy="914400"/>
        </p:xfrm>
        <a:graphic>
          <a:graphicData uri="http://schemas.openxmlformats.org/drawingml/2006/table">
            <a:tbl>
              <a:tblPr/>
              <a:tblGrid>
                <a:gridCol w="822960"/>
                <a:gridCol w="4572000"/>
                <a:gridCol w="5699455"/>
              </a:tblGrid>
              <a:tr h="392598">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区分</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ご要件</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本提案での対応</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r>
              <a:tr h="537240">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必須</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5B4FC4"/>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Google Workspace および Gemini の専門知識を持つこと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管理コンソール設定から Gemini 活用まで一貫支援（柱①②）</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537240">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必須</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5B4FC4"/>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各部門・各担当者の業務に応じた最適な AI 活用方法を提案できること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業務棚卸しをもとに部門別の活用マップと優先度を作成（柱②）</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537240">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必須</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5B4FC4"/>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資料作成・メール・議事録・データ共有・自動化など幅広い活用方法を提示できること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活用シナリオ・テンプレート・Gem 集、Studio で自動化（柱②）</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537240">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必須</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5B4FC4"/>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セキュリティの基礎知識やリテラシーも提供できること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情報区分ルール・AI ガイドライン策定と職員向け研修（柱①③）</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537240">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推奨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A9785"/>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自社ソリューションではなく、Google Workspace の活用支援に特化していること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追加ツールなし。導入済みの Google Workspace の範囲で設計・支援</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537240">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推奨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A9785"/>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限定した人数での知識習得から社内展開する形式に対応できること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8名 → 本部 → 50〜70名の段階展開と、社内コーチ育成プログラム（柱③）</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537240">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推奨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A9785"/>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介護業界の業務特性を理解し、第三者視点で助言・改善提案ができること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介護・福祉法人の公開事例や制度動向を踏まえ、会議・規程運用など現場業務に即して提案</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537240">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推奨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A9785"/>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費用対効果を明確に示せること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削減時間・利用率などの KPI を毎月計測し、金額換算してご報告（プラン A は KPI テンプレートを提供）</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グリーエックスのご支援スタンス</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ツールを売るのではなく、貴社が自走できる状態をつくることをゴールにご支援します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02｜ご提案内容</a:t>
            </a:r>
            <a:endParaRPr lang="en-US" sz="900" dirty="0"/>
          </a:p>
        </p:txBody>
      </p:sp>
      <p:sp>
        <p:nvSpPr>
          <p:cNvPr id="5" name="Shape 3"/>
          <p:cNvSpPr/>
          <p:nvPr/>
        </p:nvSpPr>
        <p:spPr>
          <a:xfrm>
            <a:off x="548640" y="1639507"/>
            <a:ext cx="2567864" cy="3099460"/>
          </a:xfrm>
          <a:prstGeom prst="roundRect">
            <a:avLst>
              <a:gd name="adj" fmla="val 3561"/>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6" name="Image 0" descr="handshake">    </p:cNvPr>
          <p:cNvPicPr>
            <a:picLocks noChangeAspect="1"/>
          </p:cNvPicPr>
          <p:nvPr/>
        </p:nvPicPr>
        <p:blipFill>
          <a:blip r:embed="rId1"/>
          <a:stretch>
            <a:fillRect/>
          </a:stretch>
        </p:blipFill>
        <p:spPr>
          <a:xfrm>
            <a:off x="760095" y="1873525"/>
            <a:ext cx="720090" cy="720090"/>
          </a:xfrm>
          <a:prstGeom prst="rect">
            <a:avLst/>
          </a:prstGeom>
        </p:spPr>
      </p:pic>
      <p:sp>
        <p:nvSpPr>
          <p:cNvPr id="7" name="Text 4"/>
          <p:cNvSpPr txBox="1"/>
          <p:nvPr/>
        </p:nvSpPr>
        <p:spPr>
          <a:xfrm>
            <a:off x="777240" y="2724318"/>
            <a:ext cx="2110664" cy="413261"/>
          </a:xfrm>
          <a:prstGeom prst="rect">
            <a:avLst/>
          </a:prstGeom>
          <a:noFill/>
          <a:ln/>
        </p:spPr>
        <p:txBody>
          <a:bodyPr wrap="square" lIns="0" tIns="0" rIns="0" bIns="0" rtlCol="0" anchor="t"/>
          <a:lstStyle/>
          <a:p>
            <a:pPr indent="0" marL="0">
              <a:buNone/>
            </a:pPr>
            <a:r>
              <a:rPr lang="en-US" sz="1600" b="1" dirty="0">
                <a:solidFill>
                  <a:schemeClr val="tx2"/>
                </a:solidFill>
              </a:rPr>
              <a:t>ツールを売らない</a:t>
            </a:r>
            <a:endParaRPr lang="en-US" sz="1600" dirty="0"/>
          </a:p>
        </p:txBody>
      </p:sp>
      <p:sp>
        <p:nvSpPr>
          <p:cNvPr id="8" name="Text 5"/>
          <p:cNvSpPr txBox="1"/>
          <p:nvPr/>
        </p:nvSpPr>
        <p:spPr>
          <a:xfrm>
            <a:off x="777240" y="3189237"/>
            <a:ext cx="2156384" cy="1446415"/>
          </a:xfrm>
          <a:prstGeom prst="rect">
            <a:avLst/>
          </a:prstGeom>
          <a:noFill/>
          <a:ln/>
        </p:spPr>
        <p:txBody>
          <a:bodyPr wrap="square" lIns="0" tIns="0" rIns="0" bIns="0" rtlCol="0" anchor="t"/>
          <a:lstStyle/>
          <a:p>
            <a:pPr indent="0" marL="0">
              <a:buNone/>
            </a:pPr>
            <a:r>
              <a:rPr lang="en-US" sz="1300" dirty="0">
                <a:solidFill>
                  <a:schemeClr val="tx1"/>
                </a:solidFill>
              </a:rPr>
              <a:t>自社ツールの販売・導入を前提とせず、導入済みの Google Workspace の範囲で設計・支援します</a:t>
            </a:r>
            <a:endParaRPr lang="en-US" sz="1300" dirty="0"/>
          </a:p>
        </p:txBody>
      </p:sp>
      <p:sp>
        <p:nvSpPr>
          <p:cNvPr id="9" name="Shape 6"/>
          <p:cNvSpPr/>
          <p:nvPr/>
        </p:nvSpPr>
        <p:spPr>
          <a:xfrm>
            <a:off x="3390824" y="1639507"/>
            <a:ext cx="2567864" cy="3099460"/>
          </a:xfrm>
          <a:prstGeom prst="roundRect">
            <a:avLst>
              <a:gd name="adj" fmla="val 3561"/>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10" name="Image 1" descr="woman-health-worker">    </p:cNvPr>
          <p:cNvPicPr>
            <a:picLocks noChangeAspect="1"/>
          </p:cNvPicPr>
          <p:nvPr/>
        </p:nvPicPr>
        <p:blipFill>
          <a:blip r:embed="rId2"/>
          <a:stretch>
            <a:fillRect/>
          </a:stretch>
        </p:blipFill>
        <p:spPr>
          <a:xfrm>
            <a:off x="3602279" y="1873525"/>
            <a:ext cx="720090" cy="720090"/>
          </a:xfrm>
          <a:prstGeom prst="rect">
            <a:avLst/>
          </a:prstGeom>
        </p:spPr>
      </p:pic>
      <p:sp>
        <p:nvSpPr>
          <p:cNvPr id="11" name="Text 7"/>
          <p:cNvSpPr txBox="1"/>
          <p:nvPr/>
        </p:nvSpPr>
        <p:spPr>
          <a:xfrm>
            <a:off x="3619424" y="2724318"/>
            <a:ext cx="2110664" cy="413261"/>
          </a:xfrm>
          <a:prstGeom prst="rect">
            <a:avLst/>
          </a:prstGeom>
          <a:noFill/>
          <a:ln/>
        </p:spPr>
        <p:txBody>
          <a:bodyPr wrap="square" lIns="0" tIns="0" rIns="0" bIns="0" rtlCol="0" anchor="t"/>
          <a:lstStyle/>
          <a:p>
            <a:pPr indent="0" marL="0">
              <a:buNone/>
            </a:pPr>
            <a:r>
              <a:rPr lang="en-US" sz="1600" b="1" dirty="0">
                <a:solidFill>
                  <a:schemeClr val="tx2"/>
                </a:solidFill>
              </a:rPr>
              <a:t>現場起点で考える</a:t>
            </a:r>
            <a:endParaRPr lang="en-US" sz="1600" dirty="0"/>
          </a:p>
        </p:txBody>
      </p:sp>
      <p:sp>
        <p:nvSpPr>
          <p:cNvPr id="12" name="Text 8"/>
          <p:cNvSpPr txBox="1"/>
          <p:nvPr/>
        </p:nvSpPr>
        <p:spPr>
          <a:xfrm>
            <a:off x="3619424" y="3189237"/>
            <a:ext cx="2156384" cy="1446415"/>
          </a:xfrm>
          <a:prstGeom prst="rect">
            <a:avLst/>
          </a:prstGeom>
          <a:noFill/>
          <a:ln/>
        </p:spPr>
        <p:txBody>
          <a:bodyPr wrap="square" lIns="0" tIns="0" rIns="0" bIns="0" rtlCol="0" anchor="t"/>
          <a:lstStyle/>
          <a:p>
            <a:pPr indent="0" marL="0">
              <a:buNone/>
            </a:pPr>
            <a:r>
              <a:rPr lang="en-US" sz="1300" dirty="0">
                <a:solidFill>
                  <a:schemeClr val="tx1"/>
                </a:solidFill>
              </a:rPr>
              <a:t>8名の業務ヒアリングから始め、介護事業所の業務や制度（加算・個人情報）を踏まえてご提案します</a:t>
            </a:r>
            <a:endParaRPr lang="en-US" sz="1300" dirty="0"/>
          </a:p>
        </p:txBody>
      </p:sp>
      <p:sp>
        <p:nvSpPr>
          <p:cNvPr id="13" name="Shape 9"/>
          <p:cNvSpPr/>
          <p:nvPr/>
        </p:nvSpPr>
        <p:spPr>
          <a:xfrm>
            <a:off x="6233008" y="1639507"/>
            <a:ext cx="2567864" cy="3099460"/>
          </a:xfrm>
          <a:prstGeom prst="roundRect">
            <a:avLst>
              <a:gd name="adj" fmla="val 3561"/>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14" name="Image 2" descr="seedling">    </p:cNvPr>
          <p:cNvPicPr>
            <a:picLocks noChangeAspect="1"/>
          </p:cNvPicPr>
          <p:nvPr/>
        </p:nvPicPr>
        <p:blipFill>
          <a:blip r:embed="rId3"/>
          <a:stretch>
            <a:fillRect/>
          </a:stretch>
        </p:blipFill>
        <p:spPr>
          <a:xfrm>
            <a:off x="6444463" y="1873525"/>
            <a:ext cx="720090" cy="720090"/>
          </a:xfrm>
          <a:prstGeom prst="rect">
            <a:avLst/>
          </a:prstGeom>
        </p:spPr>
      </p:pic>
      <p:sp>
        <p:nvSpPr>
          <p:cNvPr id="15" name="Text 10"/>
          <p:cNvSpPr txBox="1"/>
          <p:nvPr/>
        </p:nvSpPr>
        <p:spPr>
          <a:xfrm>
            <a:off x="6461608" y="2724318"/>
            <a:ext cx="2110664" cy="413261"/>
          </a:xfrm>
          <a:prstGeom prst="rect">
            <a:avLst/>
          </a:prstGeom>
          <a:noFill/>
          <a:ln/>
        </p:spPr>
        <p:txBody>
          <a:bodyPr wrap="square" lIns="0" tIns="0" rIns="0" bIns="0" rtlCol="0" anchor="t"/>
          <a:lstStyle/>
          <a:p>
            <a:pPr indent="0" marL="0">
              <a:buNone/>
            </a:pPr>
            <a:r>
              <a:rPr lang="en-US" sz="1600" b="1" dirty="0">
                <a:solidFill>
                  <a:schemeClr val="tx2"/>
                </a:solidFill>
              </a:rPr>
              <a:t>内製化をゴールに</a:t>
            </a:r>
            <a:endParaRPr lang="en-US" sz="1600" dirty="0"/>
          </a:p>
        </p:txBody>
      </p:sp>
      <p:sp>
        <p:nvSpPr>
          <p:cNvPr id="16" name="Text 11"/>
          <p:cNvSpPr txBox="1"/>
          <p:nvPr/>
        </p:nvSpPr>
        <p:spPr>
          <a:xfrm>
            <a:off x="6461608" y="3189237"/>
            <a:ext cx="2156384" cy="1446415"/>
          </a:xfrm>
          <a:prstGeom prst="rect">
            <a:avLst/>
          </a:prstGeom>
          <a:noFill/>
          <a:ln/>
        </p:spPr>
        <p:txBody>
          <a:bodyPr wrap="square" lIns="0" tIns="0" rIns="0" bIns="0" rtlCol="0" anchor="t"/>
          <a:lstStyle/>
          <a:p>
            <a:pPr indent="0" marL="0">
              <a:buNone/>
            </a:pPr>
            <a:r>
              <a:rPr lang="en-US" sz="1300" dirty="0">
                <a:solidFill>
                  <a:schemeClr val="tx1"/>
                </a:solidFill>
              </a:rPr>
              <a:t>社内コーチの育成と教材の引き渡しで、当社がいなくても回る状態を目指します</a:t>
            </a:r>
            <a:endParaRPr lang="en-US" sz="1300" dirty="0"/>
          </a:p>
        </p:txBody>
      </p:sp>
      <p:sp>
        <p:nvSpPr>
          <p:cNvPr id="17" name="Shape 12"/>
          <p:cNvSpPr/>
          <p:nvPr/>
        </p:nvSpPr>
        <p:spPr>
          <a:xfrm>
            <a:off x="9075191" y="1639507"/>
            <a:ext cx="2567864" cy="3099460"/>
          </a:xfrm>
          <a:prstGeom prst="roundRect">
            <a:avLst>
              <a:gd name="adj" fmla="val 3561"/>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18" name="Image 3" descr="chart-increasing">    </p:cNvPr>
          <p:cNvPicPr>
            <a:picLocks noChangeAspect="1"/>
          </p:cNvPicPr>
          <p:nvPr/>
        </p:nvPicPr>
        <p:blipFill>
          <a:blip r:embed="rId4"/>
          <a:stretch>
            <a:fillRect/>
          </a:stretch>
        </p:blipFill>
        <p:spPr>
          <a:xfrm>
            <a:off x="9286646" y="1873525"/>
            <a:ext cx="720090" cy="720090"/>
          </a:xfrm>
          <a:prstGeom prst="rect">
            <a:avLst/>
          </a:prstGeom>
        </p:spPr>
      </p:pic>
      <p:sp>
        <p:nvSpPr>
          <p:cNvPr id="19" name="Text 13"/>
          <p:cNvSpPr txBox="1"/>
          <p:nvPr/>
        </p:nvSpPr>
        <p:spPr>
          <a:xfrm>
            <a:off x="9303791" y="2724318"/>
            <a:ext cx="2110664" cy="413261"/>
          </a:xfrm>
          <a:prstGeom prst="rect">
            <a:avLst/>
          </a:prstGeom>
          <a:noFill/>
          <a:ln/>
        </p:spPr>
        <p:txBody>
          <a:bodyPr wrap="square" lIns="0" tIns="0" rIns="0" bIns="0" rtlCol="0" anchor="t"/>
          <a:lstStyle/>
          <a:p>
            <a:pPr indent="0" marL="0">
              <a:buNone/>
            </a:pPr>
            <a:r>
              <a:rPr lang="en-US" sz="1600" b="1" dirty="0">
                <a:solidFill>
                  <a:schemeClr val="tx2"/>
                </a:solidFill>
              </a:rPr>
              <a:t>数字で示す</a:t>
            </a:r>
            <a:endParaRPr lang="en-US" sz="1600" dirty="0"/>
          </a:p>
        </p:txBody>
      </p:sp>
      <p:sp>
        <p:nvSpPr>
          <p:cNvPr id="20" name="Text 14"/>
          <p:cNvSpPr txBox="1"/>
          <p:nvPr/>
        </p:nvSpPr>
        <p:spPr>
          <a:xfrm>
            <a:off x="9303791" y="3189237"/>
            <a:ext cx="2156384" cy="1446415"/>
          </a:xfrm>
          <a:prstGeom prst="rect">
            <a:avLst/>
          </a:prstGeom>
          <a:noFill/>
          <a:ln/>
        </p:spPr>
        <p:txBody>
          <a:bodyPr wrap="square" lIns="0" tIns="0" rIns="0" bIns="0" rtlCol="0" anchor="t"/>
          <a:lstStyle/>
          <a:p>
            <a:pPr indent="0" marL="0">
              <a:buNone/>
            </a:pPr>
            <a:r>
              <a:rPr lang="en-US" sz="1300" dirty="0">
                <a:solidFill>
                  <a:schemeClr val="tx1"/>
                </a:solidFill>
              </a:rPr>
              <a:t>削減時間・利用率を毎月計測し、代表取締役へのご報告資料まで準備します</a:t>
            </a:r>
            <a:endParaRPr lang="en-US" sz="1300" dirty="0"/>
          </a:p>
        </p:txBody>
      </p:sp>
      <p:sp>
        <p:nvSpPr>
          <p:cNvPr id="21" name="Shape 15"/>
          <p:cNvSpPr/>
          <p:nvPr/>
        </p:nvSpPr>
        <p:spPr>
          <a:xfrm>
            <a:off x="548640" y="4945598"/>
            <a:ext cx="11094415" cy="1343099"/>
          </a:xfrm>
          <a:prstGeom prst="roundRect">
            <a:avLst>
              <a:gd name="adj" fmla="val 6808"/>
            </a:avLst>
          </a:prstGeom>
          <a:solidFill>
            <a:srgbClr val="FFF4F6"/>
          </a:solidFill>
          <a:ln w="12700">
            <a:solidFill>
              <a:srgbClr val="D2557A"/>
            </a:solidFill>
            <a:prstDash val="dash"/>
          </a:ln>
        </p:spPr>
      </p:sp>
      <p:sp>
        <p:nvSpPr>
          <p:cNvPr id="22" name="Text 16"/>
          <p:cNvSpPr txBox="1"/>
          <p:nvPr/>
        </p:nvSpPr>
        <p:spPr>
          <a:xfrm>
            <a:off x="822960" y="5048913"/>
            <a:ext cx="10545775" cy="361604"/>
          </a:xfrm>
          <a:prstGeom prst="rect">
            <a:avLst/>
          </a:prstGeom>
          <a:noFill/>
          <a:ln/>
        </p:spPr>
        <p:txBody>
          <a:bodyPr wrap="square" lIns="0" tIns="0" rIns="0" bIns="0" rtlCol="0" anchor="t"/>
          <a:lstStyle/>
          <a:p>
            <a:pPr indent="0" marL="0">
              <a:buNone/>
            </a:pPr>
            <a:r>
              <a:rPr lang="en-US" sz="1400" b="1" dirty="0">
                <a:solidFill>
                  <a:schemeClr val="accent5"/>
                </a:solidFill>
              </a:rPr>
              <a:t>【要記入】当社の支援実績・担当者紹介</a:t>
            </a:r>
            <a:endParaRPr lang="en-US" sz="1400" dirty="0"/>
          </a:p>
        </p:txBody>
      </p:sp>
      <p:sp>
        <p:nvSpPr>
          <p:cNvPr id="23" name="Text 17"/>
          <p:cNvSpPr txBox="1"/>
          <p:nvPr/>
        </p:nvSpPr>
        <p:spPr>
          <a:xfrm>
            <a:off x="822960" y="5441511"/>
            <a:ext cx="10545775" cy="774865"/>
          </a:xfrm>
          <a:prstGeom prst="rect">
            <a:avLst/>
          </a:prstGeom>
          <a:noFill/>
          <a:ln/>
        </p:spPr>
        <p:txBody>
          <a:bodyPr wrap="square" lIns="0" tIns="0" rIns="0" bIns="0" rtlCol="0" anchor="t"/>
          <a:lstStyle/>
          <a:p>
            <a:pPr indent="0" marL="0">
              <a:buNone/>
            </a:pPr>
            <a:r>
              <a:rPr lang="en-US" sz="1300" dirty="0">
                <a:solidFill>
                  <a:schemeClr val="tx1"/>
                </a:solidFill>
              </a:rPr>
              <a:t>Google Workspace／Gemini の支援実績（件数・代表的な事例）、担当者の経歴・保有資格をここに記載してください（提出前に記入または削除）</a:t>
            </a:r>
            <a:endParaRPr lang="en-US" sz="13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事例サマリー：介護・福祉の現場でも活用が進んでいます</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介護・福祉の法人から段階展開・Dropbox 移行まで、貴社の取り組みに近い公開事例をご紹介します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03｜他社事例</a:t>
            </a:r>
            <a:endParaRPr lang="en-US" sz="9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587850"/>
          <a:ext cx="11094415" cy="914400"/>
        </p:xfrm>
        <a:graphic>
          <a:graphicData uri="http://schemas.openxmlformats.org/drawingml/2006/table">
            <a:tbl>
              <a:tblPr/>
              <a:tblGrid>
                <a:gridCol w="2834640"/>
                <a:gridCol w="4754880"/>
                <a:gridCol w="3504895"/>
              </a:tblGrid>
              <a:tr h="371935">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組織（業種）</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取り組み</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成果</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r>
              <a:tr h="516577">
                <a:tc>
                  <a:txBody>
                    <a:bodyPr/>
                    <a:lstStyle/>
                    <a:p>
                      <a:pPr indent="0" marL="0">
                        <a:buNone/>
                      </a:pPr>
                      <a:r>
                        <a:rPr lang="en-US" sz="1100" b="1" dirty="0">
                          <a:solidFill>
                            <a:srgbClr val="1F2233"/>
                          </a:solidFill>
                          <a:latin typeface="Meiryo UI" pitchFamily="34" charset="0"/>
                          <a:ea typeface="Meiryo UI" pitchFamily="34" charset="-122"/>
                          <a:cs typeface="Meiryo UI" pitchFamily="34" charset="-120"/>
                        </a:rPr>
                        <a:t>シーユーシー・ホスピス</a:t>
                      </a:r>
                      <a:endParaRPr lang="en-US" sz="1100" dirty="0">
                        <a:latin typeface="Meiryo UI" charset="0"/>
                        <a:ea typeface="Meiryo UI" charset="0"/>
                        <a:cs typeface="Meiryo UI" charset="0"/>
                      </a:endParaRPr>
                    </a:p>
                    <a:p>
                      <a:pPr indent="0" marL="0">
                        <a:buNone/>
                      </a:pPr>
                      <a:r>
                        <a:rPr lang="en-US" sz="1100" b="1" dirty="0">
                          <a:solidFill>
                            <a:srgbClr val="1F2233"/>
                          </a:solidFill>
                          <a:latin typeface="Meiryo UI" pitchFamily="34" charset="0"/>
                          <a:ea typeface="Meiryo UI" pitchFamily="34" charset="-122"/>
                          <a:cs typeface="Meiryo UI" pitchFamily="34" charset="-120"/>
                        </a:rPr>
                        <a:t>（ホスピス型住宅・訪問看護）</a:t>
                      </a:r>
                      <a:endParaRPr lang="en-US" sz="11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Gemini の Gem で、音声・メモから介護記録の下書きを作成（2拠点27名で検証）</a:t>
                      </a:r>
                      <a:endParaRPr lang="en-US" sz="11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100" b="1" dirty="0">
                          <a:solidFill>
                            <a:srgbClr val="2B2A5E"/>
                          </a:solidFill>
                          <a:latin typeface="Meiryo UI" pitchFamily="34" charset="0"/>
                          <a:ea typeface="Meiryo UI" pitchFamily="34" charset="-122"/>
                          <a:cs typeface="Meiryo UI" pitchFamily="34" charset="-120"/>
                        </a:rPr>
                        <a:t>記録時間 4.0→3.3分／件</a:t>
                      </a:r>
                      <a:endParaRPr lang="en-US" sz="1100" dirty="0">
                        <a:latin typeface="Meiryo UI" charset="0"/>
                        <a:ea typeface="Meiryo UI" charset="0"/>
                        <a:cs typeface="Meiryo UI" charset="0"/>
                      </a:endParaRPr>
                    </a:p>
                    <a:p>
                      <a:pPr indent="0" marL="0">
                        <a:buNone/>
                      </a:pPr>
                      <a:r>
                        <a:rPr lang="en-US" sz="1100" b="1" dirty="0">
                          <a:solidFill>
                            <a:srgbClr val="2B2A5E"/>
                          </a:solidFill>
                          <a:latin typeface="Meiryo UI" pitchFamily="34" charset="0"/>
                          <a:ea typeface="Meiryo UI" pitchFamily="34" charset="-122"/>
                          <a:cs typeface="Meiryo UI" pitchFamily="34" charset="-120"/>
                        </a:rPr>
                        <a:t>職員1人 月約3.5時間削減</a:t>
                      </a:r>
                      <a:endParaRPr lang="en-US" sz="11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516577">
                <a:tc>
                  <a:txBody>
                    <a:bodyPr/>
                    <a:lstStyle/>
                    <a:p>
                      <a:pPr indent="0" marL="0">
                        <a:buNone/>
                      </a:pPr>
                      <a:r>
                        <a:rPr lang="en-US" sz="1100" b="1" dirty="0">
                          <a:solidFill>
                            <a:srgbClr val="1F2233"/>
                          </a:solidFill>
                          <a:latin typeface="Meiryo UI" pitchFamily="34" charset="0"/>
                          <a:ea typeface="Meiryo UI" pitchFamily="34" charset="-122"/>
                          <a:cs typeface="Meiryo UI" pitchFamily="34" charset="-120"/>
                        </a:rPr>
                        <a:t>社会福祉法人ことの海会</a:t>
                      </a:r>
                      <a:endParaRPr lang="en-US" sz="1100" dirty="0">
                        <a:latin typeface="Meiryo UI" charset="0"/>
                        <a:ea typeface="Meiryo UI" charset="0"/>
                        <a:cs typeface="Meiryo UI" charset="0"/>
                      </a:endParaRPr>
                    </a:p>
                    <a:p>
                      <a:pPr indent="0" marL="0">
                        <a:buNone/>
                      </a:pPr>
                      <a:r>
                        <a:rPr lang="en-US" sz="1100" b="1" dirty="0">
                          <a:solidFill>
                            <a:srgbClr val="1F2233"/>
                          </a:solidFill>
                          <a:latin typeface="Meiryo UI" pitchFamily="34" charset="0"/>
                          <a:ea typeface="Meiryo UI" pitchFamily="34" charset="-122"/>
                          <a:cs typeface="Meiryo UI" pitchFamily="34" charset="-120"/>
                        </a:rPr>
                        <a:t>（障がい・児童・高齢者支援）</a:t>
                      </a:r>
                      <a:endParaRPr lang="en-US" sz="11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LINE WORKS から Workspace へ切替（全ライセンス一括導入）。管理職と現場でライセンスを使い分け</a:t>
                      </a:r>
                      <a:endParaRPr lang="en-US" sz="11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100" b="1" dirty="0">
                          <a:solidFill>
                            <a:srgbClr val="2B2A5E"/>
                          </a:solidFill>
                          <a:latin typeface="Meiryo UI" pitchFamily="34" charset="0"/>
                          <a:ea typeface="Meiryo UI" pitchFamily="34" charset="-122"/>
                          <a:cs typeface="Meiryo UI" pitchFamily="34" charset="-120"/>
                        </a:rPr>
                        <a:t>Meet 議事録・フォーム等を活用</a:t>
                      </a:r>
                      <a:endParaRPr lang="en-US" sz="1100" dirty="0">
                        <a:latin typeface="Meiryo UI" charset="0"/>
                        <a:ea typeface="Meiryo UI" charset="0"/>
                        <a:cs typeface="Meiryo UI" charset="0"/>
                      </a:endParaRPr>
                    </a:p>
                    <a:p>
                      <a:pPr indent="0" marL="0">
                        <a:buNone/>
                      </a:pPr>
                      <a:r>
                        <a:rPr lang="en-US" sz="1100" b="1" dirty="0">
                          <a:solidFill>
                            <a:srgbClr val="2B2A5E"/>
                          </a:solidFill>
                          <a:latin typeface="Meiryo UI" pitchFamily="34" charset="0"/>
                          <a:ea typeface="Meiryo UI" pitchFamily="34" charset="-122"/>
                          <a:cs typeface="Meiryo UI" pitchFamily="34" charset="-120"/>
                        </a:rPr>
                        <a:t>Gemini・NotebookLM（現 Gemini Notebook）の研修</a:t>
                      </a:r>
                      <a:endParaRPr lang="en-US" sz="11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516577">
                <a:tc>
                  <a:txBody>
                    <a:bodyPr/>
                    <a:lstStyle/>
                    <a:p>
                      <a:pPr indent="0" marL="0">
                        <a:buNone/>
                      </a:pPr>
                      <a:r>
                        <a:rPr lang="en-US" sz="1100" b="1" dirty="0">
                          <a:solidFill>
                            <a:srgbClr val="1F2233"/>
                          </a:solidFill>
                          <a:latin typeface="Meiryo UI" pitchFamily="34" charset="0"/>
                          <a:ea typeface="Meiryo UI" pitchFamily="34" charset="-122"/>
                          <a:cs typeface="Meiryo UI" pitchFamily="34" charset="-120"/>
                        </a:rPr>
                        <a:t>ソラスト</a:t>
                      </a:r>
                      <a:endParaRPr lang="en-US" sz="1100" dirty="0">
                        <a:latin typeface="Meiryo UI" charset="0"/>
                        <a:ea typeface="Meiryo UI" charset="0"/>
                        <a:cs typeface="Meiryo UI" charset="0"/>
                      </a:endParaRPr>
                    </a:p>
                    <a:p>
                      <a:pPr indent="0" marL="0">
                        <a:buNone/>
                      </a:pPr>
                      <a:r>
                        <a:rPr lang="en-US" sz="1100" b="1" dirty="0">
                          <a:solidFill>
                            <a:srgbClr val="1F2233"/>
                          </a:solidFill>
                          <a:latin typeface="Meiryo UI" pitchFamily="34" charset="0"/>
                          <a:ea typeface="Meiryo UI" pitchFamily="34" charset="-122"/>
                          <a:cs typeface="Meiryo UI" pitchFamily="34" charset="-120"/>
                        </a:rPr>
                        <a:t>（医療事務・介護・保育）</a:t>
                      </a:r>
                      <a:endParaRPr lang="en-US" sz="11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3万人以上の全職員を対象に Workspace への移行を決定。Gemini・NotebookLM でノウハウを共有する仕組みを構築予定</a:t>
                      </a:r>
                      <a:endParaRPr lang="en-US" sz="11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100" b="1" dirty="0">
                          <a:solidFill>
                            <a:srgbClr val="2B2A5E"/>
                          </a:solidFill>
                          <a:latin typeface="Meiryo UI" pitchFamily="34" charset="0"/>
                          <a:ea typeface="Meiryo UI" pitchFamily="34" charset="-122"/>
                          <a:cs typeface="Meiryo UI" pitchFamily="34" charset="-120"/>
                        </a:rPr>
                        <a:t>約3ヶ月で基盤を構築</a:t>
                      </a:r>
                      <a:endParaRPr lang="en-US" sz="1100" dirty="0">
                        <a:latin typeface="Meiryo UI" charset="0"/>
                        <a:ea typeface="Meiryo UI" charset="0"/>
                        <a:cs typeface="Meiryo UI" charset="0"/>
                      </a:endParaRPr>
                    </a:p>
                    <a:p>
                      <a:pPr indent="0" marL="0">
                        <a:buNone/>
                      </a:pPr>
                      <a:r>
                        <a:rPr lang="en-US" sz="1100" b="1" dirty="0">
                          <a:solidFill>
                            <a:srgbClr val="2B2A5E"/>
                          </a:solidFill>
                          <a:latin typeface="Meiryo UI" pitchFamily="34" charset="0"/>
                          <a:ea typeface="Meiryo UI" pitchFamily="34" charset="-122"/>
                          <a:cs typeface="Meiryo UI" pitchFamily="34" charset="-120"/>
                        </a:rPr>
                        <a:t>導入決定から約1年で利用開始</a:t>
                      </a:r>
                      <a:endParaRPr lang="en-US" sz="11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516577">
                <a:tc>
                  <a:txBody>
                    <a:bodyPr/>
                    <a:lstStyle/>
                    <a:p>
                      <a:pPr indent="0" marL="0">
                        <a:buNone/>
                      </a:pPr>
                      <a:r>
                        <a:rPr lang="en-US" sz="1100" b="1" dirty="0">
                          <a:solidFill>
                            <a:srgbClr val="1F2233"/>
                          </a:solidFill>
                          <a:latin typeface="Meiryo UI" pitchFamily="34" charset="0"/>
                          <a:ea typeface="Meiryo UI" pitchFamily="34" charset="-122"/>
                          <a:cs typeface="Meiryo UI" pitchFamily="34" charset="-120"/>
                        </a:rPr>
                        <a:t>日本特殊陶業</a:t>
                      </a:r>
                      <a:endParaRPr lang="en-US" sz="1100" dirty="0">
                        <a:latin typeface="Meiryo UI" charset="0"/>
                        <a:ea typeface="Meiryo UI" charset="0"/>
                        <a:cs typeface="Meiryo UI" charset="0"/>
                      </a:endParaRPr>
                    </a:p>
                    <a:p>
                      <a:pPr indent="0" marL="0">
                        <a:buNone/>
                      </a:pPr>
                      <a:r>
                        <a:rPr lang="en-US" sz="1100" b="1" dirty="0">
                          <a:solidFill>
                            <a:srgbClr val="1F2233"/>
                          </a:solidFill>
                          <a:latin typeface="Meiryo UI" pitchFamily="34" charset="0"/>
                          <a:ea typeface="Meiryo UI" pitchFamily="34" charset="-122"/>
                          <a:cs typeface="Meiryo UI" pitchFamily="34" charset="-120"/>
                        </a:rPr>
                        <a:t>（製造・名古屋本社）</a:t>
                      </a:r>
                      <a:endParaRPr lang="en-US" sz="11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15部門40名で Gemini を1ヶ月トライアル</a:t>
                      </a:r>
                      <a:endParaRPr lang="en-US" sz="11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100" b="1" dirty="0">
                          <a:solidFill>
                            <a:srgbClr val="2B2A5E"/>
                          </a:solidFill>
                          <a:latin typeface="Meiryo UI" pitchFamily="34" charset="0"/>
                          <a:ea typeface="Meiryo UI" pitchFamily="34" charset="-122"/>
                          <a:cs typeface="Meiryo UI" pitchFamily="34" charset="-120"/>
                        </a:rPr>
                        <a:t>ユースケース60件</a:t>
                      </a:r>
                      <a:endParaRPr lang="en-US" sz="1100" dirty="0">
                        <a:latin typeface="Meiryo UI" charset="0"/>
                        <a:ea typeface="Meiryo UI" charset="0"/>
                        <a:cs typeface="Meiryo UI" charset="0"/>
                      </a:endParaRPr>
                    </a:p>
                    <a:p>
                      <a:pPr indent="0" marL="0">
                        <a:buNone/>
                      </a:pPr>
                      <a:r>
                        <a:rPr lang="en-US" sz="1100" b="1" dirty="0">
                          <a:solidFill>
                            <a:srgbClr val="2B2A5E"/>
                          </a:solidFill>
                          <a:latin typeface="Meiryo UI" pitchFamily="34" charset="0"/>
                          <a:ea typeface="Meiryo UI" pitchFamily="34" charset="-122"/>
                          <a:cs typeface="Meiryo UI" pitchFamily="34" charset="-120"/>
                        </a:rPr>
                        <a:t>週平均3.1時間削減／人</a:t>
                      </a:r>
                      <a:endParaRPr lang="en-US" sz="11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516577">
                <a:tc>
                  <a:txBody>
                    <a:bodyPr/>
                    <a:lstStyle/>
                    <a:p>
                      <a:pPr indent="0" marL="0">
                        <a:buNone/>
                      </a:pPr>
                      <a:r>
                        <a:rPr lang="en-US" sz="1100" b="1" dirty="0">
                          <a:solidFill>
                            <a:srgbClr val="1F2233"/>
                          </a:solidFill>
                          <a:latin typeface="Meiryo UI" pitchFamily="34" charset="0"/>
                          <a:ea typeface="Meiryo UI" pitchFamily="34" charset="-122"/>
                          <a:cs typeface="Meiryo UI" pitchFamily="34" charset="-120"/>
                        </a:rPr>
                        <a:t>船井総研ホールディングス</a:t>
                      </a:r>
                      <a:endParaRPr lang="en-US" sz="1100" dirty="0">
                        <a:latin typeface="Meiryo UI" charset="0"/>
                        <a:ea typeface="Meiryo UI" charset="0"/>
                        <a:cs typeface="Meiryo UI" charset="0"/>
                      </a:endParaRPr>
                    </a:p>
                    <a:p>
                      <a:pPr indent="0" marL="0">
                        <a:buNone/>
                      </a:pPr>
                      <a:r>
                        <a:rPr lang="en-US" sz="1100" b="1" dirty="0">
                          <a:solidFill>
                            <a:srgbClr val="1F2233"/>
                          </a:solidFill>
                          <a:latin typeface="Meiryo UI" pitchFamily="34" charset="0"/>
                          <a:ea typeface="Meiryo UI" pitchFamily="34" charset="-122"/>
                          <a:cs typeface="Meiryo UI" pitchFamily="34" charset="-120"/>
                        </a:rPr>
                        <a:t>（経営コンサルティング）</a:t>
                      </a:r>
                      <a:endParaRPr lang="en-US" sz="11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50名→150名→全社と段階展開。活用コンテストや勉強会で定着</a:t>
                      </a:r>
                      <a:endParaRPr lang="en-US" sz="11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100" b="1" dirty="0">
                          <a:solidFill>
                            <a:srgbClr val="2B2A5E"/>
                          </a:solidFill>
                          <a:latin typeface="Meiryo UI" pitchFamily="34" charset="0"/>
                          <a:ea typeface="Meiryo UI" pitchFamily="34" charset="-122"/>
                          <a:cs typeface="Meiryo UI" pitchFamily="34" charset="-120"/>
                        </a:rPr>
                        <a:t>4ヶ月で全社展開</a:t>
                      </a:r>
                      <a:endParaRPr lang="en-US" sz="1100" dirty="0">
                        <a:latin typeface="Meiryo UI" charset="0"/>
                        <a:ea typeface="Meiryo UI" charset="0"/>
                        <a:cs typeface="Meiryo UI" charset="0"/>
                      </a:endParaRPr>
                    </a:p>
                    <a:p>
                      <a:pPr indent="0" marL="0">
                        <a:buNone/>
                      </a:pPr>
                      <a:r>
                        <a:rPr lang="en-US" sz="1100" b="1" dirty="0">
                          <a:solidFill>
                            <a:srgbClr val="2B2A5E"/>
                          </a:solidFill>
                          <a:latin typeface="Meiryo UI" pitchFamily="34" charset="0"/>
                          <a:ea typeface="Meiryo UI" pitchFamily="34" charset="-122"/>
                          <a:cs typeface="Meiryo UI" pitchFamily="34" charset="-120"/>
                        </a:rPr>
                        <a:t>社員の97%が活用</a:t>
                      </a:r>
                      <a:endParaRPr lang="en-US" sz="11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516577">
                <a:tc>
                  <a:txBody>
                    <a:bodyPr/>
                    <a:lstStyle/>
                    <a:p>
                      <a:pPr indent="0" marL="0">
                        <a:buNone/>
                      </a:pPr>
                      <a:r>
                        <a:rPr lang="en-US" sz="1100" b="1" dirty="0">
                          <a:solidFill>
                            <a:srgbClr val="1F2233"/>
                          </a:solidFill>
                          <a:latin typeface="Meiryo UI" pitchFamily="34" charset="0"/>
                          <a:ea typeface="Meiryo UI" pitchFamily="34" charset="-122"/>
                          <a:cs typeface="Meiryo UI" pitchFamily="34" charset="-120"/>
                        </a:rPr>
                        <a:t>星野リゾート</a:t>
                      </a:r>
                      <a:endParaRPr lang="en-US" sz="1100" dirty="0">
                        <a:latin typeface="Meiryo UI" charset="0"/>
                        <a:ea typeface="Meiryo UI" charset="0"/>
                        <a:cs typeface="Meiryo UI" charset="0"/>
                      </a:endParaRPr>
                    </a:p>
                    <a:p>
                      <a:pPr indent="0" marL="0">
                        <a:buNone/>
                      </a:pPr>
                      <a:r>
                        <a:rPr lang="en-US" sz="1100" b="1" dirty="0">
                          <a:solidFill>
                            <a:srgbClr val="1F2233"/>
                          </a:solidFill>
                          <a:latin typeface="Meiryo UI" pitchFamily="34" charset="0"/>
                          <a:ea typeface="Meiryo UI" pitchFamily="34" charset="-122"/>
                          <a:cs typeface="Meiryo UI" pitchFamily="34" charset="-120"/>
                        </a:rPr>
                        <a:t>（宿泊・約8,000名）</a:t>
                      </a:r>
                      <a:endParaRPr lang="en-US" sz="11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「魅力造成」（施設の企画・発信）やアンケート分析に Gemini を活用</a:t>
                      </a:r>
                      <a:endParaRPr lang="en-US" sz="11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100" b="1" dirty="0">
                          <a:solidFill>
                            <a:srgbClr val="2B2A5E"/>
                          </a:solidFill>
                          <a:latin typeface="Meiryo UI" pitchFamily="34" charset="0"/>
                          <a:ea typeface="Meiryo UI" pitchFamily="34" charset="-122"/>
                          <a:cs typeface="Meiryo UI" pitchFamily="34" charset="-120"/>
                        </a:rPr>
                        <a:t>「魅力造成」の作業時間 約30%削減</a:t>
                      </a:r>
                      <a:endParaRPr lang="en-US" sz="1100" dirty="0">
                        <a:latin typeface="Meiryo UI" charset="0"/>
                        <a:ea typeface="Meiryo UI" charset="0"/>
                        <a:cs typeface="Meiryo UI" charset="0"/>
                      </a:endParaRPr>
                    </a:p>
                    <a:p>
                      <a:pPr indent="0" marL="0">
                        <a:buNone/>
                      </a:pPr>
                      <a:r>
                        <a:rPr lang="en-US" sz="1100" b="1" dirty="0">
                          <a:solidFill>
                            <a:srgbClr val="2B2A5E"/>
                          </a:solidFill>
                          <a:latin typeface="Meiryo UI" pitchFamily="34" charset="0"/>
                          <a:ea typeface="Meiryo UI" pitchFamily="34" charset="-122"/>
                          <a:cs typeface="Meiryo UI" pitchFamily="34" charset="-120"/>
                        </a:rPr>
                        <a:t>校正 30分→約5分</a:t>
                      </a:r>
                      <a:endParaRPr lang="en-US" sz="11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516577">
                <a:tc>
                  <a:txBody>
                    <a:bodyPr/>
                    <a:lstStyle/>
                    <a:p>
                      <a:pPr indent="0" marL="0">
                        <a:buNone/>
                      </a:pPr>
                      <a:r>
                        <a:rPr lang="en-US" sz="1100" b="1" dirty="0">
                          <a:solidFill>
                            <a:srgbClr val="1F2233"/>
                          </a:solidFill>
                          <a:latin typeface="Meiryo UI" pitchFamily="34" charset="0"/>
                          <a:ea typeface="Meiryo UI" pitchFamily="34" charset="-122"/>
                          <a:cs typeface="Meiryo UI" pitchFamily="34" charset="-120"/>
                        </a:rPr>
                        <a:t>The Washington Post</a:t>
                      </a:r>
                      <a:endParaRPr lang="en-US" sz="1100" dirty="0">
                        <a:latin typeface="Meiryo UI" charset="0"/>
                        <a:ea typeface="Meiryo UI" charset="0"/>
                        <a:cs typeface="Meiryo UI" charset="0"/>
                      </a:endParaRPr>
                    </a:p>
                    <a:p>
                      <a:pPr indent="0" marL="0">
                        <a:buNone/>
                      </a:pPr>
                      <a:r>
                        <a:rPr lang="en-US" sz="1100" b="1" dirty="0">
                          <a:solidFill>
                            <a:srgbClr val="1F2233"/>
                          </a:solidFill>
                          <a:latin typeface="Meiryo UI" pitchFamily="34" charset="0"/>
                          <a:ea typeface="Meiryo UI" pitchFamily="34" charset="-122"/>
                          <a:cs typeface="Meiryo UI" pitchFamily="34" charset="-120"/>
                        </a:rPr>
                        <a:t>（報道）</a:t>
                      </a:r>
                      <a:endParaRPr lang="en-US" sz="11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Dropbox から Google Workspace へ移行（1,500名超・240TB超）</a:t>
                      </a:r>
                      <a:endParaRPr lang="en-US" sz="11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100" b="1" dirty="0">
                          <a:solidFill>
                            <a:srgbClr val="2B2A5E"/>
                          </a:solidFill>
                          <a:latin typeface="Meiryo UI" pitchFamily="34" charset="0"/>
                          <a:ea typeface="Meiryo UI" pitchFamily="34" charset="-122"/>
                          <a:cs typeface="Meiryo UI" pitchFamily="34" charset="-120"/>
                        </a:rPr>
                        <a:t>契約終了の期限内に</a:t>
                      </a:r>
                      <a:endParaRPr lang="en-US" sz="1100" dirty="0">
                        <a:latin typeface="Meiryo UI" charset="0"/>
                        <a:ea typeface="Meiryo UI" charset="0"/>
                        <a:cs typeface="Meiryo UI" charset="0"/>
                      </a:endParaRPr>
                    </a:p>
                    <a:p>
                      <a:pPr indent="0" marL="0">
                        <a:buNone/>
                      </a:pPr>
                      <a:r>
                        <a:rPr lang="en-US" sz="1100" b="1" dirty="0">
                          <a:solidFill>
                            <a:srgbClr val="2B2A5E"/>
                          </a:solidFill>
                          <a:latin typeface="Meiryo UI" pitchFamily="34" charset="0"/>
                          <a:ea typeface="Meiryo UI" pitchFamily="34" charset="-122"/>
                          <a:cs typeface="Meiryo UI" pitchFamily="34" charset="-120"/>
                        </a:rPr>
                        <a:t>業務を止めずに移行完了</a:t>
                      </a:r>
                      <a:endParaRPr lang="en-US" sz="11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bl>
          </a:graphicData>
        </a:graphic>
      </p:graphicFrame>
      <p:sp>
        <p:nvSpPr>
          <p:cNvPr id="6" name="source"/>
          <p:cNvSpPr txBox="1"/>
          <p:nvPr/>
        </p:nvSpPr>
        <p:spPr>
          <a:xfrm>
            <a:off x="548640" y="6336792"/>
            <a:ext cx="11094415" cy="201168"/>
          </a:xfrm>
          <a:prstGeom prst="rect">
            <a:avLst/>
          </a:prstGeom>
          <a:noFill/>
          <a:ln/>
        </p:spPr>
        <p:txBody>
          <a:bodyPr wrap="square" lIns="0" tIns="0" rIns="0" bIns="0" rtlCol="0" anchor="ctr"/>
          <a:lstStyle/>
          <a:p>
            <a:pPr indent="0" marL="0">
              <a:buNone/>
            </a:pPr>
            <a:r>
              <a:rPr lang="en-US" sz="900" dirty="0">
                <a:solidFill>
                  <a:schemeClr val="accent6"/>
                </a:solidFill>
              </a:rPr>
              <a:t>出典：各社・Google 公式事例、プレスリリース、販売パートナー事例ページ（いずれも公開事例で、当社の支援事例ではありません。詳細は出典一覧）</a:t>
            </a:r>
            <a:endParaRPr lang="en-US" sz="9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介護・福祉の事例：記録業務と情報共有基盤の見直し</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同じ介護・福祉の現場で、Gemini による記録業務の効率化と情報共有基盤の見直しが進んでいます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03｜他社事例</a:t>
            </a:r>
            <a:endParaRPr lang="en-US" sz="900" dirty="0"/>
          </a:p>
        </p:txBody>
      </p:sp>
      <p:sp>
        <p:nvSpPr>
          <p:cNvPr id="5" name="Shape 3"/>
          <p:cNvSpPr/>
          <p:nvPr/>
        </p:nvSpPr>
        <p:spPr>
          <a:xfrm>
            <a:off x="548640" y="1639507"/>
            <a:ext cx="5364328" cy="4597532"/>
          </a:xfrm>
          <a:prstGeom prst="roundRect">
            <a:avLst>
              <a:gd name="adj" fmla="val 1989"/>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6" name="Text 4"/>
          <p:cNvSpPr txBox="1"/>
          <p:nvPr/>
        </p:nvSpPr>
        <p:spPr>
          <a:xfrm>
            <a:off x="822960" y="1897796"/>
            <a:ext cx="1737360" cy="289283"/>
          </a:xfrm>
          <a:prstGeom prst="roundRect">
            <a:avLst>
              <a:gd name="adj" fmla="val 18966"/>
            </a:avLst>
          </a:prstGeom>
          <a:solidFill>
            <a:schemeClr val="accent1"/>
          </a:solidFill>
          <a:ln/>
        </p:spPr>
        <p:txBody>
          <a:bodyPr wrap="square" lIns="0" tIns="0" rIns="0" bIns="0" rtlCol="0" anchor="ctr"/>
          <a:lstStyle/>
          <a:p>
            <a:pPr algn="ctr" indent="0" marL="0">
              <a:buNone/>
            </a:pPr>
            <a:r>
              <a:rPr lang="en-US" sz="1000" b="1" dirty="0">
                <a:solidFill>
                  <a:schemeClr val="bg1"/>
                </a:solidFill>
              </a:rPr>
              <a:t>介護・ホスピス</a:t>
            </a:r>
            <a:endParaRPr lang="en-US" sz="1000" dirty="0"/>
          </a:p>
        </p:txBody>
      </p:sp>
      <p:sp>
        <p:nvSpPr>
          <p:cNvPr id="7" name="Text 5"/>
          <p:cNvSpPr txBox="1"/>
          <p:nvPr/>
        </p:nvSpPr>
        <p:spPr>
          <a:xfrm>
            <a:off x="822960" y="2280062"/>
            <a:ext cx="4815688" cy="433924"/>
          </a:xfrm>
          <a:prstGeom prst="rect">
            <a:avLst/>
          </a:prstGeom>
          <a:noFill/>
          <a:ln/>
        </p:spPr>
        <p:txBody>
          <a:bodyPr wrap="square" lIns="0" tIns="0" rIns="0" bIns="0" rtlCol="0" anchor="t"/>
          <a:lstStyle/>
          <a:p>
            <a:pPr indent="0" marL="0">
              <a:buNone/>
            </a:pPr>
            <a:r>
              <a:rPr lang="en-US" sz="1700" b="1" dirty="0">
                <a:solidFill>
                  <a:schemeClr val="tx2"/>
                </a:solidFill>
              </a:rPr>
              <a:t>株式会社シーユーシー・ホスピス（ReHOPE）</a:t>
            </a:r>
            <a:endParaRPr lang="en-US" sz="1700" dirty="0"/>
          </a:p>
        </p:txBody>
      </p:sp>
      <p:sp>
        <p:nvSpPr>
          <p:cNvPr id="8" name="Text 6"/>
          <p:cNvSpPr txBox="1"/>
          <p:nvPr/>
        </p:nvSpPr>
        <p:spPr>
          <a:xfrm>
            <a:off x="822960" y="2724318"/>
            <a:ext cx="4815688" cy="309946"/>
          </a:xfrm>
          <a:prstGeom prst="rect">
            <a:avLst/>
          </a:prstGeom>
          <a:noFill/>
          <a:ln/>
        </p:spPr>
        <p:txBody>
          <a:bodyPr wrap="square" lIns="0" tIns="0" rIns="0" bIns="0" rtlCol="0" anchor="t"/>
          <a:lstStyle/>
          <a:p>
            <a:pPr indent="0" marL="0">
              <a:buNone/>
            </a:pPr>
            <a:r>
              <a:rPr lang="en-US" sz="1100" dirty="0">
                <a:solidFill>
                  <a:schemeClr val="accent6"/>
                </a:solidFill>
              </a:rPr>
              <a:t>ホスピス型住宅「ReHOPE」など全国59拠点（2026年3月時点）</a:t>
            </a:r>
            <a:endParaRPr lang="en-US" sz="1100" dirty="0"/>
          </a:p>
        </p:txBody>
      </p:sp>
      <p:sp>
        <p:nvSpPr>
          <p:cNvPr id="9" name="Shape 7"/>
          <p:cNvSpPr/>
          <p:nvPr/>
        </p:nvSpPr>
        <p:spPr>
          <a:xfrm>
            <a:off x="822960" y="3085922"/>
            <a:ext cx="4815688" cy="929838"/>
          </a:xfrm>
          <a:prstGeom prst="roundRect">
            <a:avLst>
              <a:gd name="adj" fmla="val 7867"/>
            </a:avLst>
          </a:prstGeom>
          <a:solidFill>
            <a:schemeClr val="accent1">
              <a:alpha val="10000"/>
            </a:schemeClr>
          </a:solidFill>
          <a:ln/>
        </p:spPr>
      </p:sp>
      <p:sp>
        <p:nvSpPr>
          <p:cNvPr id="10" name="Text 8"/>
          <p:cNvSpPr txBox="1"/>
          <p:nvPr/>
        </p:nvSpPr>
        <p:spPr>
          <a:xfrm>
            <a:off x="1005840" y="3106585"/>
            <a:ext cx="4449928" cy="888512"/>
          </a:xfrm>
          <a:prstGeom prst="rect">
            <a:avLst/>
          </a:prstGeom>
          <a:noFill/>
          <a:ln/>
        </p:spPr>
        <p:txBody>
          <a:bodyPr wrap="square" lIns="0" tIns="0" rIns="0" bIns="0" rtlCol="0" anchor="ctr"/>
          <a:lstStyle/>
          <a:p>
            <a:pPr indent="0" marL="0">
              <a:buNone/>
            </a:pPr>
            <a:r>
              <a:rPr lang="en-US" sz="3000" b="1" dirty="0">
                <a:solidFill>
                  <a:schemeClr val="accent1"/>
                </a:solidFill>
              </a:rPr>
              <a:t>月約3.5時間</a:t>
            </a:r>
            <a:pPr indent="0" marL="0">
              <a:buNone/>
            </a:pPr>
            <a:r>
              <a:rPr lang="en-US" sz="1300" b="1" dirty="0">
                <a:solidFill>
                  <a:schemeClr val="tx2"/>
                </a:solidFill>
              </a:rPr>
              <a:t>  削減／職員1人</a:t>
            </a:r>
            <a:endParaRPr lang="en-US" sz="1400" dirty="0"/>
          </a:p>
        </p:txBody>
      </p:sp>
      <p:sp>
        <p:nvSpPr>
          <p:cNvPr id="11" name="Text 9"/>
          <p:cNvSpPr txBox="1"/>
          <p:nvPr/>
        </p:nvSpPr>
        <p:spPr>
          <a:xfrm>
            <a:off x="822960" y="4170733"/>
            <a:ext cx="4815688" cy="1394757"/>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Gemini アプリの Gem「ケア記録アシスト」で、音声メモや手書きメモの写真から記録の下書きを作成</a:t>
            </a:r>
            <a:endParaRPr lang="en-US" sz="1200" dirty="0"/>
          </a:p>
          <a:p>
            <a:pPr marL="177800" indent="-177800">
              <a:spcAft>
                <a:spcPts val="400"/>
              </a:spcAft>
              <a:buSzPct val="100000"/>
              <a:buChar char="•"/>
            </a:pPr>
            <a:r>
              <a:rPr lang="en-US" sz="1200" dirty="0">
                <a:solidFill>
                  <a:schemeClr val="tx1"/>
                </a:solidFill>
              </a:rPr>
              <a:t>2拠点27名で検証。1件 4.0分→3.3分（約20%短縮）</a:t>
            </a:r>
            <a:endParaRPr lang="en-US" sz="1200" dirty="0"/>
          </a:p>
          <a:p>
            <a:pPr marL="177800" indent="-177800">
              <a:spcAft>
                <a:spcPts val="400"/>
              </a:spcAft>
              <a:buSzPct val="100000"/>
              <a:buChar char="•"/>
            </a:pPr>
            <a:r>
              <a:rPr lang="en-US" sz="1200" dirty="0">
                <a:solidFill>
                  <a:schemeClr val="tx1"/>
                </a:solidFill>
              </a:rPr>
              <a:t>新たなシステム開発なしで、指示文の調整のみで実現</a:t>
            </a:r>
            <a:endParaRPr lang="en-US" sz="1200" dirty="0"/>
          </a:p>
        </p:txBody>
      </p:sp>
      <p:sp>
        <p:nvSpPr>
          <p:cNvPr id="12" name="Shape 10"/>
          <p:cNvSpPr/>
          <p:nvPr/>
        </p:nvSpPr>
        <p:spPr>
          <a:xfrm>
            <a:off x="822960" y="5617147"/>
            <a:ext cx="4815688" cy="464919"/>
          </a:xfrm>
          <a:prstGeom prst="roundRect">
            <a:avLst>
              <a:gd name="adj" fmla="val 11801"/>
            </a:avLst>
          </a:prstGeom>
          <a:solidFill>
            <a:schemeClr val="accent4">
              <a:alpha val="18000"/>
            </a:schemeClr>
          </a:solidFill>
          <a:ln/>
        </p:spPr>
      </p:sp>
      <p:sp>
        <p:nvSpPr>
          <p:cNvPr id="13" name="Text 11"/>
          <p:cNvSpPr txBox="1"/>
          <p:nvPr/>
        </p:nvSpPr>
        <p:spPr>
          <a:xfrm>
            <a:off x="932688" y="5617147"/>
            <a:ext cx="4596232" cy="464919"/>
          </a:xfrm>
          <a:prstGeom prst="rect">
            <a:avLst/>
          </a:prstGeom>
          <a:noFill/>
          <a:ln/>
        </p:spPr>
        <p:txBody>
          <a:bodyPr wrap="square" lIns="0" tIns="0" rIns="0" bIns="0" rtlCol="0" anchor="ctr"/>
          <a:lstStyle/>
          <a:p>
            <a:pPr indent="0" marL="0">
              <a:buNone/>
            </a:pPr>
            <a:r>
              <a:rPr lang="en-US" sz="1100" b="1" dirty="0">
                <a:solidFill>
                  <a:schemeClr val="tx2"/>
                </a:solidFill>
              </a:rPr>
              <a:t>示唆：ルール整備後に、将来の現場展開の候補として検討可能</a:t>
            </a:r>
            <a:endParaRPr lang="en-US" sz="1100" dirty="0"/>
          </a:p>
        </p:txBody>
      </p:sp>
      <p:sp>
        <p:nvSpPr>
          <p:cNvPr id="14" name="Shape 12"/>
          <p:cNvSpPr/>
          <p:nvPr/>
        </p:nvSpPr>
        <p:spPr>
          <a:xfrm>
            <a:off x="6278728" y="1639507"/>
            <a:ext cx="5364328" cy="4597532"/>
          </a:xfrm>
          <a:prstGeom prst="roundRect">
            <a:avLst>
              <a:gd name="adj" fmla="val 1989"/>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15" name="Text 13"/>
          <p:cNvSpPr txBox="1"/>
          <p:nvPr/>
        </p:nvSpPr>
        <p:spPr>
          <a:xfrm>
            <a:off x="6553048" y="1897796"/>
            <a:ext cx="1737360" cy="289283"/>
          </a:xfrm>
          <a:prstGeom prst="roundRect">
            <a:avLst>
              <a:gd name="adj" fmla="val 18966"/>
            </a:avLst>
          </a:prstGeom>
          <a:solidFill>
            <a:schemeClr val="accent2"/>
          </a:solidFill>
          <a:ln/>
        </p:spPr>
        <p:txBody>
          <a:bodyPr wrap="square" lIns="0" tIns="0" rIns="0" bIns="0" rtlCol="0" anchor="ctr"/>
          <a:lstStyle/>
          <a:p>
            <a:pPr algn="ctr" indent="0" marL="0">
              <a:buNone/>
            </a:pPr>
            <a:r>
              <a:rPr lang="en-US" sz="1000" b="1" dirty="0">
                <a:solidFill>
                  <a:schemeClr val="bg1"/>
                </a:solidFill>
              </a:rPr>
              <a:t>社会福祉法人</a:t>
            </a:r>
            <a:endParaRPr lang="en-US" sz="1000" dirty="0"/>
          </a:p>
        </p:txBody>
      </p:sp>
      <p:sp>
        <p:nvSpPr>
          <p:cNvPr id="16" name="Text 14"/>
          <p:cNvSpPr txBox="1"/>
          <p:nvPr/>
        </p:nvSpPr>
        <p:spPr>
          <a:xfrm>
            <a:off x="6553048" y="2280062"/>
            <a:ext cx="4815688" cy="433924"/>
          </a:xfrm>
          <a:prstGeom prst="rect">
            <a:avLst/>
          </a:prstGeom>
          <a:noFill/>
          <a:ln/>
        </p:spPr>
        <p:txBody>
          <a:bodyPr wrap="square" lIns="0" tIns="0" rIns="0" bIns="0" rtlCol="0" anchor="t"/>
          <a:lstStyle/>
          <a:p>
            <a:pPr indent="0" marL="0">
              <a:buNone/>
            </a:pPr>
            <a:r>
              <a:rPr lang="en-US" sz="1700" b="1" dirty="0">
                <a:solidFill>
                  <a:schemeClr val="tx2"/>
                </a:solidFill>
              </a:rPr>
              <a:t>社会福祉法人ことの海会（長崎県）</a:t>
            </a:r>
            <a:endParaRPr lang="en-US" sz="1700" dirty="0"/>
          </a:p>
        </p:txBody>
      </p:sp>
      <p:sp>
        <p:nvSpPr>
          <p:cNvPr id="17" name="Text 15"/>
          <p:cNvSpPr txBox="1"/>
          <p:nvPr/>
        </p:nvSpPr>
        <p:spPr>
          <a:xfrm>
            <a:off x="6553048" y="2724318"/>
            <a:ext cx="4815688" cy="309946"/>
          </a:xfrm>
          <a:prstGeom prst="rect">
            <a:avLst/>
          </a:prstGeom>
          <a:noFill/>
          <a:ln/>
        </p:spPr>
        <p:txBody>
          <a:bodyPr wrap="square" lIns="0" tIns="0" rIns="0" bIns="0" rtlCol="0" anchor="t"/>
          <a:lstStyle/>
          <a:p>
            <a:pPr indent="0" marL="0">
              <a:buNone/>
            </a:pPr>
            <a:r>
              <a:rPr lang="en-US" sz="1100" dirty="0">
                <a:solidFill>
                  <a:schemeClr val="accent6"/>
                </a:solidFill>
              </a:rPr>
              <a:t>障がい・児童発達・高齢者支援（職員100〜999名）</a:t>
            </a:r>
            <a:endParaRPr lang="en-US" sz="1100" dirty="0"/>
          </a:p>
        </p:txBody>
      </p:sp>
      <p:sp>
        <p:nvSpPr>
          <p:cNvPr id="18" name="Shape 16"/>
          <p:cNvSpPr/>
          <p:nvPr/>
        </p:nvSpPr>
        <p:spPr>
          <a:xfrm>
            <a:off x="6553048" y="3085922"/>
            <a:ext cx="4815688" cy="929838"/>
          </a:xfrm>
          <a:prstGeom prst="roundRect">
            <a:avLst>
              <a:gd name="adj" fmla="val 7867"/>
            </a:avLst>
          </a:prstGeom>
          <a:solidFill>
            <a:schemeClr val="accent2">
              <a:alpha val="10000"/>
            </a:schemeClr>
          </a:solidFill>
          <a:ln/>
        </p:spPr>
      </p:sp>
      <p:sp>
        <p:nvSpPr>
          <p:cNvPr id="19" name="Text 17"/>
          <p:cNvSpPr txBox="1"/>
          <p:nvPr/>
        </p:nvSpPr>
        <p:spPr>
          <a:xfrm>
            <a:off x="6735928" y="3106585"/>
            <a:ext cx="4449928" cy="888512"/>
          </a:xfrm>
          <a:prstGeom prst="rect">
            <a:avLst/>
          </a:prstGeom>
          <a:noFill/>
          <a:ln/>
        </p:spPr>
        <p:txBody>
          <a:bodyPr wrap="square" lIns="0" tIns="0" rIns="0" bIns="0" rtlCol="0" anchor="ctr"/>
          <a:lstStyle/>
          <a:p>
            <a:pPr indent="0" marL="0">
              <a:buNone/>
            </a:pPr>
            <a:r>
              <a:rPr lang="en-US" sz="3000" b="1" dirty="0">
                <a:solidFill>
                  <a:schemeClr val="accent2"/>
                </a:solidFill>
              </a:rPr>
              <a:t>一括導入</a:t>
            </a:r>
            <a:pPr indent="0" marL="0">
              <a:buNone/>
            </a:pPr>
            <a:r>
              <a:rPr lang="en-US" sz="1300" b="1" dirty="0">
                <a:solidFill>
                  <a:schemeClr val="tx2"/>
                </a:solidFill>
              </a:rPr>
              <a:t>  全ライセンスを段階導入から切替</a:t>
            </a:r>
            <a:endParaRPr lang="en-US" sz="1400" dirty="0"/>
          </a:p>
        </p:txBody>
      </p:sp>
      <p:sp>
        <p:nvSpPr>
          <p:cNvPr id="20" name="Text 18"/>
          <p:cNvSpPr txBox="1"/>
          <p:nvPr/>
        </p:nvSpPr>
        <p:spPr>
          <a:xfrm>
            <a:off x="6553048" y="4170733"/>
            <a:ext cx="4815688" cy="1394757"/>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以前は LINE WORKS とオンプレミスのファイルサーバー（約20年分のデータの整理が追いつかない状態）</a:t>
            </a:r>
            <a:endParaRPr lang="en-US" sz="1200" dirty="0"/>
          </a:p>
          <a:p>
            <a:pPr marL="177800" indent="-177800">
              <a:spcAft>
                <a:spcPts val="400"/>
              </a:spcAft>
              <a:buSzPct val="100000"/>
              <a:buChar char="•"/>
            </a:pPr>
            <a:r>
              <a:rPr lang="en-US" sz="1200" dirty="0">
                <a:solidFill>
                  <a:schemeClr val="tx1"/>
                </a:solidFill>
              </a:rPr>
              <a:t>LINE WORKS から Google チャットへ切替。管理職は Business Standard、現場は Frontline Starter で使い分け</a:t>
            </a:r>
            <a:endParaRPr lang="en-US" sz="1200" dirty="0"/>
          </a:p>
          <a:p>
            <a:pPr marL="177800" indent="-177800">
              <a:spcAft>
                <a:spcPts val="400"/>
              </a:spcAft>
              <a:buSzPct val="100000"/>
              <a:buChar char="•"/>
            </a:pPr>
            <a:r>
              <a:rPr lang="en-US" sz="1200" dirty="0">
                <a:solidFill>
                  <a:schemeClr val="tx1"/>
                </a:solidFill>
              </a:rPr>
              <a:t>ユーザー講習を段階的に実施。Meet の自動議事録やフォーム、Gemini・NotebookLM も活用</a:t>
            </a:r>
            <a:endParaRPr lang="en-US" sz="1200" dirty="0"/>
          </a:p>
        </p:txBody>
      </p:sp>
      <p:sp>
        <p:nvSpPr>
          <p:cNvPr id="21" name="Shape 19"/>
          <p:cNvSpPr/>
          <p:nvPr/>
        </p:nvSpPr>
        <p:spPr>
          <a:xfrm>
            <a:off x="6553048" y="5617147"/>
            <a:ext cx="4815688" cy="464919"/>
          </a:xfrm>
          <a:prstGeom prst="roundRect">
            <a:avLst>
              <a:gd name="adj" fmla="val 11801"/>
            </a:avLst>
          </a:prstGeom>
          <a:solidFill>
            <a:schemeClr val="accent4">
              <a:alpha val="18000"/>
            </a:schemeClr>
          </a:solidFill>
          <a:ln/>
        </p:spPr>
      </p:sp>
      <p:sp>
        <p:nvSpPr>
          <p:cNvPr id="22" name="Text 20"/>
          <p:cNvSpPr txBox="1"/>
          <p:nvPr/>
        </p:nvSpPr>
        <p:spPr>
          <a:xfrm>
            <a:off x="6662776" y="5617147"/>
            <a:ext cx="4596232" cy="464919"/>
          </a:xfrm>
          <a:prstGeom prst="rect">
            <a:avLst/>
          </a:prstGeom>
          <a:noFill/>
          <a:ln/>
        </p:spPr>
        <p:txBody>
          <a:bodyPr wrap="square" lIns="0" tIns="0" rIns="0" bIns="0" rtlCol="0" anchor="ctr"/>
          <a:lstStyle/>
          <a:p>
            <a:pPr indent="0" marL="0">
              <a:buNone/>
            </a:pPr>
            <a:r>
              <a:rPr lang="en-US" sz="1100" b="1" dirty="0">
                <a:solidFill>
                  <a:schemeClr val="tx2"/>
                </a:solidFill>
              </a:rPr>
              <a:t>示唆：管理職／現場のライセンス使い分けは、貴社の設計の参考に</a:t>
            </a:r>
            <a:endParaRPr lang="en-US" sz="1100" dirty="0"/>
          </a:p>
        </p:txBody>
      </p:sp>
      <p:sp>
        <p:nvSpPr>
          <p:cNvPr id="23" name="source"/>
          <p:cNvSpPr txBox="1"/>
          <p:nvPr/>
        </p:nvSpPr>
        <p:spPr>
          <a:xfrm>
            <a:off x="548640" y="6336792"/>
            <a:ext cx="11094415" cy="201168"/>
          </a:xfrm>
          <a:prstGeom prst="rect">
            <a:avLst/>
          </a:prstGeom>
          <a:noFill/>
          <a:ln/>
        </p:spPr>
        <p:txBody>
          <a:bodyPr wrap="square" lIns="0" tIns="0" rIns="0" bIns="0" rtlCol="0" anchor="ctr"/>
          <a:lstStyle/>
          <a:p>
            <a:pPr indent="0" marL="0">
              <a:buNone/>
            </a:pPr>
            <a:r>
              <a:rPr lang="en-US" sz="900" dirty="0">
                <a:solidFill>
                  <a:schemeClr val="accent6"/>
                </a:solidFill>
              </a:rPr>
              <a:t>出典：シーユーシー プレスリリース（2026年3月27日）、Google Japan Blog、吉積情報 導入事例（2026年2月）。いずれも当社の支援事例ではありません</a:t>
            </a:r>
            <a:endParaRPr lang="en-US" sz="9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段階展開の事例：小さく試して、全社に広げる</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少人数で効果を測ってから全社に広げる進め方は、貴社の「8名 → 50〜70名」の計画と同じ型です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03｜他社事例</a:t>
            </a:r>
            <a:endParaRPr lang="en-US" sz="900" dirty="0"/>
          </a:p>
        </p:txBody>
      </p:sp>
      <p:sp>
        <p:nvSpPr>
          <p:cNvPr id="5" name="Shape 3"/>
          <p:cNvSpPr/>
          <p:nvPr/>
        </p:nvSpPr>
        <p:spPr>
          <a:xfrm>
            <a:off x="548640" y="1639507"/>
            <a:ext cx="5364328" cy="4597532"/>
          </a:xfrm>
          <a:prstGeom prst="roundRect">
            <a:avLst>
              <a:gd name="adj" fmla="val 1989"/>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6" name="Text 4"/>
          <p:cNvSpPr txBox="1"/>
          <p:nvPr/>
        </p:nvSpPr>
        <p:spPr>
          <a:xfrm>
            <a:off x="822960" y="1897796"/>
            <a:ext cx="1737360" cy="289283"/>
          </a:xfrm>
          <a:prstGeom prst="roundRect">
            <a:avLst>
              <a:gd name="adj" fmla="val 18966"/>
            </a:avLst>
          </a:prstGeom>
          <a:solidFill>
            <a:schemeClr val="accent1"/>
          </a:solidFill>
          <a:ln/>
        </p:spPr>
        <p:txBody>
          <a:bodyPr wrap="square" lIns="0" tIns="0" rIns="0" bIns="0" rtlCol="0" anchor="ctr"/>
          <a:lstStyle/>
          <a:p>
            <a:pPr algn="ctr" indent="0" marL="0">
              <a:buNone/>
            </a:pPr>
            <a:r>
              <a:rPr lang="en-US" sz="1000" b="1" dirty="0">
                <a:solidFill>
                  <a:schemeClr val="bg1"/>
                </a:solidFill>
              </a:rPr>
              <a:t>製造・愛知県</a:t>
            </a:r>
            <a:endParaRPr lang="en-US" sz="1000" dirty="0"/>
          </a:p>
        </p:txBody>
      </p:sp>
      <p:sp>
        <p:nvSpPr>
          <p:cNvPr id="7" name="Text 5"/>
          <p:cNvSpPr txBox="1"/>
          <p:nvPr/>
        </p:nvSpPr>
        <p:spPr>
          <a:xfrm>
            <a:off x="822960" y="2280062"/>
            <a:ext cx="4815688" cy="433924"/>
          </a:xfrm>
          <a:prstGeom prst="rect">
            <a:avLst/>
          </a:prstGeom>
          <a:noFill/>
          <a:ln/>
        </p:spPr>
        <p:txBody>
          <a:bodyPr wrap="square" lIns="0" tIns="0" rIns="0" bIns="0" rtlCol="0" anchor="t"/>
          <a:lstStyle/>
          <a:p>
            <a:pPr indent="0" marL="0">
              <a:buNone/>
            </a:pPr>
            <a:r>
              <a:rPr lang="en-US" sz="1700" b="1" dirty="0">
                <a:solidFill>
                  <a:schemeClr val="tx2"/>
                </a:solidFill>
              </a:rPr>
              <a:t>日本特殊陶業株式会社</a:t>
            </a:r>
            <a:endParaRPr lang="en-US" sz="1700" dirty="0"/>
          </a:p>
        </p:txBody>
      </p:sp>
      <p:sp>
        <p:nvSpPr>
          <p:cNvPr id="8" name="Text 6"/>
          <p:cNvSpPr txBox="1"/>
          <p:nvPr/>
        </p:nvSpPr>
        <p:spPr>
          <a:xfrm>
            <a:off x="822960" y="2724318"/>
            <a:ext cx="4815688" cy="309946"/>
          </a:xfrm>
          <a:prstGeom prst="rect">
            <a:avLst/>
          </a:prstGeom>
          <a:noFill/>
          <a:ln/>
        </p:spPr>
        <p:txBody>
          <a:bodyPr wrap="square" lIns="0" tIns="0" rIns="0" bIns="0" rtlCol="0" anchor="t"/>
          <a:lstStyle/>
          <a:p>
            <a:pPr indent="0" marL="0">
              <a:buNone/>
            </a:pPr>
            <a:r>
              <a:rPr lang="en-US" sz="1100" dirty="0">
                <a:solidFill>
                  <a:schemeClr val="accent6"/>
                </a:solidFill>
              </a:rPr>
              <a:t>名古屋市に本社を置くメーカー（2024年11月公開）</a:t>
            </a:r>
            <a:endParaRPr lang="en-US" sz="1100" dirty="0"/>
          </a:p>
        </p:txBody>
      </p:sp>
      <p:sp>
        <p:nvSpPr>
          <p:cNvPr id="9" name="Shape 7"/>
          <p:cNvSpPr/>
          <p:nvPr/>
        </p:nvSpPr>
        <p:spPr>
          <a:xfrm>
            <a:off x="822960" y="3085922"/>
            <a:ext cx="4815688" cy="929838"/>
          </a:xfrm>
          <a:prstGeom prst="roundRect">
            <a:avLst>
              <a:gd name="adj" fmla="val 7867"/>
            </a:avLst>
          </a:prstGeom>
          <a:solidFill>
            <a:schemeClr val="accent1">
              <a:alpha val="10000"/>
            </a:schemeClr>
          </a:solidFill>
          <a:ln/>
        </p:spPr>
      </p:sp>
      <p:sp>
        <p:nvSpPr>
          <p:cNvPr id="10" name="Text 8"/>
          <p:cNvSpPr txBox="1"/>
          <p:nvPr/>
        </p:nvSpPr>
        <p:spPr>
          <a:xfrm>
            <a:off x="1005840" y="3106585"/>
            <a:ext cx="4449928" cy="888512"/>
          </a:xfrm>
          <a:prstGeom prst="rect">
            <a:avLst/>
          </a:prstGeom>
          <a:noFill/>
          <a:ln/>
        </p:spPr>
        <p:txBody>
          <a:bodyPr wrap="square" lIns="0" tIns="0" rIns="0" bIns="0" rtlCol="0" anchor="ctr"/>
          <a:lstStyle/>
          <a:p>
            <a:pPr indent="0" marL="0">
              <a:buNone/>
            </a:pPr>
            <a:r>
              <a:rPr lang="en-US" sz="3000" b="1" dirty="0">
                <a:solidFill>
                  <a:schemeClr val="accent1"/>
                </a:solidFill>
              </a:rPr>
              <a:t>週3.1時間</a:t>
            </a:r>
            <a:pPr indent="0" marL="0">
              <a:buNone/>
            </a:pPr>
            <a:r>
              <a:rPr lang="en-US" sz="1300" b="1" dirty="0">
                <a:solidFill>
                  <a:schemeClr val="tx2"/>
                </a:solidFill>
              </a:rPr>
              <a:t>  削減／人（平均）</a:t>
            </a:r>
            <a:endParaRPr lang="en-US" sz="1400" dirty="0"/>
          </a:p>
        </p:txBody>
      </p:sp>
      <p:sp>
        <p:nvSpPr>
          <p:cNvPr id="11" name="Text 9"/>
          <p:cNvSpPr txBox="1"/>
          <p:nvPr/>
        </p:nvSpPr>
        <p:spPr>
          <a:xfrm>
            <a:off x="822960" y="4170733"/>
            <a:ext cx="4815688" cy="1394757"/>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15部門から40名を選び、Gemini を1ヶ月トライアル</a:t>
            </a:r>
            <a:endParaRPr lang="en-US" sz="1200" dirty="0"/>
          </a:p>
          <a:p>
            <a:pPr marL="177800" indent="-177800">
              <a:spcAft>
                <a:spcPts val="400"/>
              </a:spcAft>
              <a:buSzPct val="100000"/>
              <a:buChar char="•"/>
            </a:pPr>
            <a:r>
              <a:rPr lang="en-US" sz="1200" dirty="0">
                <a:solidFill>
                  <a:schemeClr val="tx1"/>
                </a:solidFill>
              </a:rPr>
              <a:t>60件のユースケースが集まり、生成 AI を活用できる領域が多数あると確認</a:t>
            </a:r>
            <a:endParaRPr lang="en-US" sz="1200" dirty="0"/>
          </a:p>
          <a:p>
            <a:pPr marL="177800" indent="-177800">
              <a:spcAft>
                <a:spcPts val="400"/>
              </a:spcAft>
              <a:buSzPct val="100000"/>
              <a:buChar char="•"/>
            </a:pPr>
            <a:r>
              <a:rPr lang="en-US" sz="1200" dirty="0">
                <a:solidFill>
                  <a:schemeClr val="tx1"/>
                </a:solidFill>
              </a:rPr>
              <a:t>削減時間を調査で数値化（平均 週3.1時間）</a:t>
            </a:r>
            <a:endParaRPr lang="en-US" sz="1200" dirty="0"/>
          </a:p>
        </p:txBody>
      </p:sp>
      <p:sp>
        <p:nvSpPr>
          <p:cNvPr id="12" name="Shape 10"/>
          <p:cNvSpPr/>
          <p:nvPr/>
        </p:nvSpPr>
        <p:spPr>
          <a:xfrm>
            <a:off x="822960" y="5617147"/>
            <a:ext cx="4815688" cy="464919"/>
          </a:xfrm>
          <a:prstGeom prst="roundRect">
            <a:avLst>
              <a:gd name="adj" fmla="val 11801"/>
            </a:avLst>
          </a:prstGeom>
          <a:solidFill>
            <a:schemeClr val="accent4">
              <a:alpha val="18000"/>
            </a:schemeClr>
          </a:solidFill>
          <a:ln/>
        </p:spPr>
      </p:sp>
      <p:sp>
        <p:nvSpPr>
          <p:cNvPr id="13" name="Text 11"/>
          <p:cNvSpPr txBox="1"/>
          <p:nvPr/>
        </p:nvSpPr>
        <p:spPr>
          <a:xfrm>
            <a:off x="932688" y="5617147"/>
            <a:ext cx="4596232" cy="464919"/>
          </a:xfrm>
          <a:prstGeom prst="rect">
            <a:avLst/>
          </a:prstGeom>
          <a:noFill/>
          <a:ln/>
        </p:spPr>
        <p:txBody>
          <a:bodyPr wrap="square" lIns="0" tIns="0" rIns="0" bIns="0" rtlCol="0" anchor="ctr"/>
          <a:lstStyle/>
          <a:p>
            <a:pPr indent="0" marL="0">
              <a:buNone/>
            </a:pPr>
            <a:r>
              <a:rPr lang="en-US" sz="1100" b="1" dirty="0">
                <a:solidFill>
                  <a:schemeClr val="tx2"/>
                </a:solidFill>
              </a:rPr>
              <a:t>示唆：テスト導入8名でも、削減時間を測れば展開判断の材料になる</a:t>
            </a:r>
            <a:endParaRPr lang="en-US" sz="1100" dirty="0"/>
          </a:p>
        </p:txBody>
      </p:sp>
      <p:sp>
        <p:nvSpPr>
          <p:cNvPr id="14" name="Shape 12"/>
          <p:cNvSpPr/>
          <p:nvPr/>
        </p:nvSpPr>
        <p:spPr>
          <a:xfrm>
            <a:off x="6278728" y="1639507"/>
            <a:ext cx="5364328" cy="4597532"/>
          </a:xfrm>
          <a:prstGeom prst="roundRect">
            <a:avLst>
              <a:gd name="adj" fmla="val 1989"/>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15" name="Text 13"/>
          <p:cNvSpPr txBox="1"/>
          <p:nvPr/>
        </p:nvSpPr>
        <p:spPr>
          <a:xfrm>
            <a:off x="6553048" y="1897796"/>
            <a:ext cx="1737360" cy="289283"/>
          </a:xfrm>
          <a:prstGeom prst="roundRect">
            <a:avLst>
              <a:gd name="adj" fmla="val 18966"/>
            </a:avLst>
          </a:prstGeom>
          <a:solidFill>
            <a:schemeClr val="accent2"/>
          </a:solidFill>
          <a:ln/>
        </p:spPr>
        <p:txBody>
          <a:bodyPr wrap="square" lIns="0" tIns="0" rIns="0" bIns="0" rtlCol="0" anchor="ctr"/>
          <a:lstStyle/>
          <a:p>
            <a:pPr algn="ctr" indent="0" marL="0">
              <a:buNone/>
            </a:pPr>
            <a:r>
              <a:rPr lang="en-US" sz="1000" b="1" dirty="0">
                <a:solidFill>
                  <a:schemeClr val="bg1"/>
                </a:solidFill>
              </a:rPr>
              <a:t>経営コンサルティング</a:t>
            </a:r>
            <a:endParaRPr lang="en-US" sz="1000" dirty="0"/>
          </a:p>
        </p:txBody>
      </p:sp>
      <p:sp>
        <p:nvSpPr>
          <p:cNvPr id="16" name="Text 14"/>
          <p:cNvSpPr txBox="1"/>
          <p:nvPr/>
        </p:nvSpPr>
        <p:spPr>
          <a:xfrm>
            <a:off x="6553048" y="2280062"/>
            <a:ext cx="4815688" cy="433924"/>
          </a:xfrm>
          <a:prstGeom prst="rect">
            <a:avLst/>
          </a:prstGeom>
          <a:noFill/>
          <a:ln/>
        </p:spPr>
        <p:txBody>
          <a:bodyPr wrap="square" lIns="0" tIns="0" rIns="0" bIns="0" rtlCol="0" anchor="t"/>
          <a:lstStyle/>
          <a:p>
            <a:pPr indent="0" marL="0">
              <a:buNone/>
            </a:pPr>
            <a:r>
              <a:rPr lang="en-US" sz="1700" b="1" dirty="0">
                <a:solidFill>
                  <a:schemeClr val="tx2"/>
                </a:solidFill>
              </a:rPr>
              <a:t>株式会社船井総研ホールディングス</a:t>
            </a:r>
            <a:endParaRPr lang="en-US" sz="1700" dirty="0"/>
          </a:p>
        </p:txBody>
      </p:sp>
      <p:sp>
        <p:nvSpPr>
          <p:cNvPr id="17" name="Text 15"/>
          <p:cNvSpPr txBox="1"/>
          <p:nvPr/>
        </p:nvSpPr>
        <p:spPr>
          <a:xfrm>
            <a:off x="6553048" y="2724318"/>
            <a:ext cx="4815688" cy="309946"/>
          </a:xfrm>
          <a:prstGeom prst="rect">
            <a:avLst/>
          </a:prstGeom>
          <a:noFill/>
          <a:ln/>
        </p:spPr>
        <p:txBody>
          <a:bodyPr wrap="square" lIns="0" tIns="0" rIns="0" bIns="0" rtlCol="0" anchor="t"/>
          <a:lstStyle/>
          <a:p>
            <a:pPr indent="0" marL="0">
              <a:buNone/>
            </a:pPr>
            <a:r>
              <a:rPr lang="en-US" sz="1100" dirty="0">
                <a:solidFill>
                  <a:schemeClr val="accent6"/>
                </a:solidFill>
              </a:rPr>
              <a:t>中堅・中小企業向けコンサルティング（社員1,000名以上）</a:t>
            </a:r>
            <a:endParaRPr lang="en-US" sz="1100" dirty="0"/>
          </a:p>
        </p:txBody>
      </p:sp>
      <p:sp>
        <p:nvSpPr>
          <p:cNvPr id="18" name="Shape 16"/>
          <p:cNvSpPr/>
          <p:nvPr/>
        </p:nvSpPr>
        <p:spPr>
          <a:xfrm>
            <a:off x="6553048" y="3085922"/>
            <a:ext cx="4815688" cy="929838"/>
          </a:xfrm>
          <a:prstGeom prst="roundRect">
            <a:avLst>
              <a:gd name="adj" fmla="val 7867"/>
            </a:avLst>
          </a:prstGeom>
          <a:solidFill>
            <a:schemeClr val="accent2">
              <a:alpha val="10000"/>
            </a:schemeClr>
          </a:solidFill>
          <a:ln/>
        </p:spPr>
      </p:sp>
      <p:sp>
        <p:nvSpPr>
          <p:cNvPr id="19" name="Text 17"/>
          <p:cNvSpPr txBox="1"/>
          <p:nvPr/>
        </p:nvSpPr>
        <p:spPr>
          <a:xfrm>
            <a:off x="6735928" y="3106585"/>
            <a:ext cx="4449928" cy="888512"/>
          </a:xfrm>
          <a:prstGeom prst="rect">
            <a:avLst/>
          </a:prstGeom>
          <a:noFill/>
          <a:ln/>
        </p:spPr>
        <p:txBody>
          <a:bodyPr wrap="square" lIns="0" tIns="0" rIns="0" bIns="0" rtlCol="0" anchor="ctr"/>
          <a:lstStyle/>
          <a:p>
            <a:pPr indent="0" marL="0">
              <a:buNone/>
            </a:pPr>
            <a:r>
              <a:rPr lang="en-US" sz="3000" b="1" dirty="0">
                <a:solidFill>
                  <a:schemeClr val="accent2"/>
                </a:solidFill>
              </a:rPr>
              <a:t>97%</a:t>
            </a:r>
            <a:pPr indent="0" marL="0">
              <a:buNone/>
            </a:pPr>
            <a:r>
              <a:rPr lang="en-US" sz="1300" b="1" dirty="0">
                <a:solidFill>
                  <a:schemeClr val="tx2"/>
                </a:solidFill>
              </a:rPr>
              <a:t>  の社員が Gemini を活用</a:t>
            </a:r>
            <a:endParaRPr lang="en-US" sz="1400" dirty="0"/>
          </a:p>
        </p:txBody>
      </p:sp>
      <p:sp>
        <p:nvSpPr>
          <p:cNvPr id="20" name="Text 18"/>
          <p:cNvSpPr txBox="1"/>
          <p:nvPr/>
        </p:nvSpPr>
        <p:spPr>
          <a:xfrm>
            <a:off x="6553048" y="4170733"/>
            <a:ext cx="4815688" cy="1394757"/>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50名で先行導入 → 1ヶ月後に150名 → 全社へと段階展開</a:t>
            </a:r>
            <a:endParaRPr lang="en-US" sz="1200" dirty="0"/>
          </a:p>
          <a:p>
            <a:pPr marL="177800" indent="-177800">
              <a:spcAft>
                <a:spcPts val="400"/>
              </a:spcAft>
              <a:buSzPct val="100000"/>
              <a:buChar char="•"/>
            </a:pPr>
            <a:r>
              <a:rPr lang="en-US" sz="1200" dirty="0">
                <a:solidFill>
                  <a:schemeClr val="tx1"/>
                </a:solidFill>
              </a:rPr>
              <a:t>部門別の説明会、社長も参加する活用コンテスト、ワークショップで定着</a:t>
            </a:r>
            <a:endParaRPr lang="en-US" sz="1200" dirty="0"/>
          </a:p>
          <a:p>
            <a:pPr marL="177800" indent="-177800">
              <a:spcAft>
                <a:spcPts val="400"/>
              </a:spcAft>
              <a:buSzPct val="100000"/>
              <a:buChar char="•"/>
            </a:pPr>
            <a:r>
              <a:rPr lang="en-US" sz="1200" dirty="0">
                <a:solidFill>
                  <a:schemeClr val="tx1"/>
                </a:solidFill>
              </a:rPr>
              <a:t>開発部門が NotebookLM でナレッジベースを構築し、顧客支援にも拡大</a:t>
            </a:r>
            <a:endParaRPr lang="en-US" sz="1200" dirty="0"/>
          </a:p>
        </p:txBody>
      </p:sp>
      <p:sp>
        <p:nvSpPr>
          <p:cNvPr id="21" name="Shape 19"/>
          <p:cNvSpPr/>
          <p:nvPr/>
        </p:nvSpPr>
        <p:spPr>
          <a:xfrm>
            <a:off x="6553048" y="5617147"/>
            <a:ext cx="4815688" cy="464919"/>
          </a:xfrm>
          <a:prstGeom prst="roundRect">
            <a:avLst>
              <a:gd name="adj" fmla="val 11801"/>
            </a:avLst>
          </a:prstGeom>
          <a:solidFill>
            <a:schemeClr val="accent4">
              <a:alpha val="18000"/>
            </a:schemeClr>
          </a:solidFill>
          <a:ln/>
        </p:spPr>
      </p:sp>
      <p:sp>
        <p:nvSpPr>
          <p:cNvPr id="22" name="Text 20"/>
          <p:cNvSpPr txBox="1"/>
          <p:nvPr/>
        </p:nvSpPr>
        <p:spPr>
          <a:xfrm>
            <a:off x="6662776" y="5617147"/>
            <a:ext cx="4596232" cy="464919"/>
          </a:xfrm>
          <a:prstGeom prst="rect">
            <a:avLst/>
          </a:prstGeom>
          <a:noFill/>
          <a:ln/>
        </p:spPr>
        <p:txBody>
          <a:bodyPr wrap="square" lIns="0" tIns="0" rIns="0" bIns="0" rtlCol="0" anchor="ctr"/>
          <a:lstStyle/>
          <a:p>
            <a:pPr indent="0" marL="0">
              <a:buNone/>
            </a:pPr>
            <a:r>
              <a:rPr lang="en-US" sz="1100" b="1" dirty="0">
                <a:solidFill>
                  <a:schemeClr val="tx2"/>
                </a:solidFill>
              </a:rPr>
              <a:t>示唆：4ヶ月で全社導入。成功事例の共有で利用率97%に</a:t>
            </a:r>
            <a:endParaRPr lang="en-US" sz="1100" dirty="0"/>
          </a:p>
        </p:txBody>
      </p:sp>
      <p:sp>
        <p:nvSpPr>
          <p:cNvPr id="23" name="source"/>
          <p:cNvSpPr txBox="1"/>
          <p:nvPr/>
        </p:nvSpPr>
        <p:spPr>
          <a:xfrm>
            <a:off x="548640" y="6336792"/>
            <a:ext cx="11094415" cy="201168"/>
          </a:xfrm>
          <a:prstGeom prst="rect">
            <a:avLst/>
          </a:prstGeom>
          <a:noFill/>
          <a:ln/>
        </p:spPr>
        <p:txBody>
          <a:bodyPr wrap="square" lIns="0" tIns="0" rIns="0" bIns="0" rtlCol="0" anchor="ctr"/>
          <a:lstStyle/>
          <a:p>
            <a:pPr indent="0" marL="0">
              <a:buNone/>
            </a:pPr>
            <a:r>
              <a:rPr lang="en-US" sz="900" dirty="0">
                <a:solidFill>
                  <a:schemeClr val="accent6"/>
                </a:solidFill>
              </a:rPr>
              <a:t>出典：Google Gemini 公式 note（2024年11月14日）、Google Workspace 導入事例「船井総研ホールディングス」（2025年8月）。いずれも当社の支援事例ではありません</a:t>
            </a:r>
            <a:endParaRPr lang="en-US" sz="9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データ移行とナレッジ活用の事例</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移行は「引っ越し」で終わらせず、蓄積した資料を AI で「使える知識」に変える土台にします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03｜他社事例</a:t>
            </a:r>
            <a:endParaRPr lang="en-US" sz="900" dirty="0"/>
          </a:p>
        </p:txBody>
      </p:sp>
      <p:sp>
        <p:nvSpPr>
          <p:cNvPr id="5" name="Shape 3"/>
          <p:cNvSpPr/>
          <p:nvPr/>
        </p:nvSpPr>
        <p:spPr>
          <a:xfrm>
            <a:off x="548640" y="1639507"/>
            <a:ext cx="5364328" cy="4597532"/>
          </a:xfrm>
          <a:prstGeom prst="roundRect">
            <a:avLst>
              <a:gd name="adj" fmla="val 1989"/>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6" name="Text 4"/>
          <p:cNvSpPr txBox="1"/>
          <p:nvPr/>
        </p:nvSpPr>
        <p:spPr>
          <a:xfrm>
            <a:off x="822960" y="1897796"/>
            <a:ext cx="1737360" cy="289283"/>
          </a:xfrm>
          <a:prstGeom prst="roundRect">
            <a:avLst>
              <a:gd name="adj" fmla="val 18966"/>
            </a:avLst>
          </a:prstGeom>
          <a:solidFill>
            <a:schemeClr val="accent1"/>
          </a:solidFill>
          <a:ln/>
        </p:spPr>
        <p:txBody>
          <a:bodyPr wrap="square" lIns="0" tIns="0" rIns="0" bIns="0" rtlCol="0" anchor="ctr"/>
          <a:lstStyle/>
          <a:p>
            <a:pPr algn="ctr" indent="0" marL="0">
              <a:buNone/>
            </a:pPr>
            <a:r>
              <a:rPr lang="en-US" sz="1000" b="1" dirty="0">
                <a:solidFill>
                  <a:schemeClr val="bg1"/>
                </a:solidFill>
              </a:rPr>
              <a:t>医療用品メーカー</a:t>
            </a:r>
            <a:endParaRPr lang="en-US" sz="1000" dirty="0"/>
          </a:p>
        </p:txBody>
      </p:sp>
      <p:sp>
        <p:nvSpPr>
          <p:cNvPr id="7" name="Text 5"/>
          <p:cNvSpPr txBox="1"/>
          <p:nvPr/>
        </p:nvSpPr>
        <p:spPr>
          <a:xfrm>
            <a:off x="822960" y="2280062"/>
            <a:ext cx="4815688" cy="433924"/>
          </a:xfrm>
          <a:prstGeom prst="rect">
            <a:avLst/>
          </a:prstGeom>
          <a:noFill/>
          <a:ln/>
        </p:spPr>
        <p:txBody>
          <a:bodyPr wrap="square" lIns="0" tIns="0" rIns="0" bIns="0" rtlCol="0" anchor="t"/>
          <a:lstStyle/>
          <a:p>
            <a:pPr indent="0" marL="0">
              <a:buNone/>
            </a:pPr>
            <a:r>
              <a:rPr lang="en-US" sz="1700" b="1" dirty="0">
                <a:solidFill>
                  <a:schemeClr val="tx2"/>
                </a:solidFill>
              </a:rPr>
              <a:t>ダイヤ工業株式会社（岡山県）</a:t>
            </a:r>
            <a:endParaRPr lang="en-US" sz="1700" dirty="0"/>
          </a:p>
        </p:txBody>
      </p:sp>
      <p:sp>
        <p:nvSpPr>
          <p:cNvPr id="8" name="Text 6"/>
          <p:cNvSpPr txBox="1"/>
          <p:nvPr/>
        </p:nvSpPr>
        <p:spPr>
          <a:xfrm>
            <a:off x="822960" y="2724318"/>
            <a:ext cx="4815688" cy="309946"/>
          </a:xfrm>
          <a:prstGeom prst="rect">
            <a:avLst/>
          </a:prstGeom>
          <a:noFill/>
          <a:ln/>
        </p:spPr>
        <p:txBody>
          <a:bodyPr wrap="square" lIns="0" tIns="0" rIns="0" bIns="0" rtlCol="0" anchor="t"/>
          <a:lstStyle/>
          <a:p>
            <a:pPr indent="0" marL="0">
              <a:buNone/>
            </a:pPr>
            <a:r>
              <a:rPr lang="en-US" sz="1100" dirty="0">
                <a:solidFill>
                  <a:schemeClr val="accent6"/>
                </a:solidFill>
              </a:rPr>
              <a:t>サポーター・コルセット等の医療用品メーカー（2026年6月発表）</a:t>
            </a:r>
            <a:endParaRPr lang="en-US" sz="1100" dirty="0"/>
          </a:p>
        </p:txBody>
      </p:sp>
      <p:sp>
        <p:nvSpPr>
          <p:cNvPr id="9" name="Shape 7"/>
          <p:cNvSpPr/>
          <p:nvPr/>
        </p:nvSpPr>
        <p:spPr>
          <a:xfrm>
            <a:off x="822960" y="3085922"/>
            <a:ext cx="4815688" cy="929838"/>
          </a:xfrm>
          <a:prstGeom prst="roundRect">
            <a:avLst>
              <a:gd name="adj" fmla="val 7867"/>
            </a:avLst>
          </a:prstGeom>
          <a:solidFill>
            <a:schemeClr val="accent1">
              <a:alpha val="10000"/>
            </a:schemeClr>
          </a:solidFill>
          <a:ln/>
        </p:spPr>
      </p:sp>
      <p:sp>
        <p:nvSpPr>
          <p:cNvPr id="10" name="Text 8"/>
          <p:cNvSpPr txBox="1"/>
          <p:nvPr/>
        </p:nvSpPr>
        <p:spPr>
          <a:xfrm>
            <a:off x="1005840" y="3106585"/>
            <a:ext cx="4449928" cy="888512"/>
          </a:xfrm>
          <a:prstGeom prst="rect">
            <a:avLst/>
          </a:prstGeom>
          <a:noFill/>
          <a:ln/>
        </p:spPr>
        <p:txBody>
          <a:bodyPr wrap="square" lIns="0" tIns="0" rIns="0" bIns="0" rtlCol="0" anchor="ctr"/>
          <a:lstStyle/>
          <a:p>
            <a:pPr indent="0" marL="0">
              <a:buNone/>
            </a:pPr>
            <a:r>
              <a:rPr lang="en-US" sz="3000" b="1" dirty="0">
                <a:solidFill>
                  <a:schemeClr val="accent1"/>
                </a:solidFill>
              </a:rPr>
              <a:t>70%超</a:t>
            </a:r>
            <a:pPr indent="0" marL="0">
              <a:buNone/>
            </a:pPr>
            <a:r>
              <a:rPr lang="en-US" sz="1300" b="1" dirty="0">
                <a:solidFill>
                  <a:schemeClr val="tx2"/>
                </a:solidFill>
              </a:rPr>
              <a:t>  の社員が Gemini を日常利用</a:t>
            </a:r>
            <a:endParaRPr lang="en-US" sz="1400" dirty="0"/>
          </a:p>
        </p:txBody>
      </p:sp>
      <p:sp>
        <p:nvSpPr>
          <p:cNvPr id="11" name="Text 9"/>
          <p:cNvSpPr txBox="1"/>
          <p:nvPr/>
        </p:nvSpPr>
        <p:spPr>
          <a:xfrm>
            <a:off x="822960" y="4170733"/>
            <a:ext cx="4815688" cy="1394757"/>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社内ファイルサーバーから Google Workspace へ移行</a:t>
            </a:r>
            <a:endParaRPr lang="en-US" sz="1200" dirty="0"/>
          </a:p>
          <a:p>
            <a:pPr marL="177800" indent="-177800">
              <a:spcAft>
                <a:spcPts val="400"/>
              </a:spcAft>
              <a:buSzPct val="100000"/>
              <a:buChar char="•"/>
            </a:pPr>
            <a:r>
              <a:rPr lang="en-US" sz="1200" dirty="0">
                <a:solidFill>
                  <a:schemeClr val="tx1"/>
                </a:solidFill>
              </a:rPr>
              <a:t>過去2年分の投資会議資料と社内規定を NotebookLM に集約し、若手社員が対話で疑問を自己解決</a:t>
            </a:r>
            <a:endParaRPr lang="en-US" sz="1200" dirty="0"/>
          </a:p>
          <a:p>
            <a:pPr marL="177800" indent="-177800">
              <a:spcAft>
                <a:spcPts val="400"/>
              </a:spcAft>
              <a:buSzPct val="100000"/>
              <a:buChar char="•"/>
            </a:pPr>
            <a:r>
              <a:rPr lang="en-US" sz="1200" dirty="0">
                <a:solidFill>
                  <a:schemeClr val="tx1"/>
                </a:solidFill>
              </a:rPr>
              <a:t>全12回のワークショップで活用を定着</a:t>
            </a:r>
            <a:endParaRPr lang="en-US" sz="1200" dirty="0"/>
          </a:p>
        </p:txBody>
      </p:sp>
      <p:sp>
        <p:nvSpPr>
          <p:cNvPr id="12" name="Shape 10"/>
          <p:cNvSpPr/>
          <p:nvPr/>
        </p:nvSpPr>
        <p:spPr>
          <a:xfrm>
            <a:off x="822960" y="5617147"/>
            <a:ext cx="4815688" cy="464919"/>
          </a:xfrm>
          <a:prstGeom prst="roundRect">
            <a:avLst>
              <a:gd name="adj" fmla="val 11801"/>
            </a:avLst>
          </a:prstGeom>
          <a:solidFill>
            <a:schemeClr val="accent4">
              <a:alpha val="18000"/>
            </a:schemeClr>
          </a:solidFill>
          <a:ln/>
        </p:spPr>
      </p:sp>
      <p:sp>
        <p:nvSpPr>
          <p:cNvPr id="13" name="Text 11"/>
          <p:cNvSpPr txBox="1"/>
          <p:nvPr/>
        </p:nvSpPr>
        <p:spPr>
          <a:xfrm>
            <a:off x="932688" y="5617147"/>
            <a:ext cx="4596232" cy="464919"/>
          </a:xfrm>
          <a:prstGeom prst="rect">
            <a:avLst/>
          </a:prstGeom>
          <a:noFill/>
          <a:ln/>
        </p:spPr>
        <p:txBody>
          <a:bodyPr wrap="square" lIns="0" tIns="0" rIns="0" bIns="0" rtlCol="0" anchor="ctr"/>
          <a:lstStyle/>
          <a:p>
            <a:pPr indent="0" marL="0">
              <a:buNone/>
            </a:pPr>
            <a:r>
              <a:rPr lang="en-US" sz="1100" b="1" dirty="0">
                <a:solidFill>
                  <a:schemeClr val="tx2"/>
                </a:solidFill>
              </a:rPr>
              <a:t>示唆：規程・マニュアルの問い合わせ対応にそのまま応用できる</a:t>
            </a:r>
            <a:endParaRPr lang="en-US" sz="1100" dirty="0"/>
          </a:p>
        </p:txBody>
      </p:sp>
      <p:sp>
        <p:nvSpPr>
          <p:cNvPr id="14" name="Shape 12"/>
          <p:cNvSpPr/>
          <p:nvPr/>
        </p:nvSpPr>
        <p:spPr>
          <a:xfrm>
            <a:off x="6278728" y="1639507"/>
            <a:ext cx="5364328" cy="4597532"/>
          </a:xfrm>
          <a:prstGeom prst="roundRect">
            <a:avLst>
              <a:gd name="adj" fmla="val 1989"/>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15" name="Text 13"/>
          <p:cNvSpPr txBox="1"/>
          <p:nvPr/>
        </p:nvSpPr>
        <p:spPr>
          <a:xfrm>
            <a:off x="6553048" y="1897796"/>
            <a:ext cx="1737360" cy="289283"/>
          </a:xfrm>
          <a:prstGeom prst="roundRect">
            <a:avLst>
              <a:gd name="adj" fmla="val 18966"/>
            </a:avLst>
          </a:prstGeom>
          <a:solidFill>
            <a:schemeClr val="accent2"/>
          </a:solidFill>
          <a:ln/>
        </p:spPr>
        <p:txBody>
          <a:bodyPr wrap="square" lIns="0" tIns="0" rIns="0" bIns="0" rtlCol="0" anchor="ctr"/>
          <a:lstStyle/>
          <a:p>
            <a:pPr algn="ctr" indent="0" marL="0">
              <a:buNone/>
            </a:pPr>
            <a:r>
              <a:rPr lang="en-US" sz="1000" b="1" dirty="0">
                <a:solidFill>
                  <a:schemeClr val="bg1"/>
                </a:solidFill>
              </a:rPr>
              <a:t>Dropbox からの移行</a:t>
            </a:r>
            <a:endParaRPr lang="en-US" sz="1000" dirty="0"/>
          </a:p>
        </p:txBody>
      </p:sp>
      <p:sp>
        <p:nvSpPr>
          <p:cNvPr id="16" name="Text 14"/>
          <p:cNvSpPr txBox="1"/>
          <p:nvPr/>
        </p:nvSpPr>
        <p:spPr>
          <a:xfrm>
            <a:off x="6553048" y="2280062"/>
            <a:ext cx="4815688" cy="433924"/>
          </a:xfrm>
          <a:prstGeom prst="rect">
            <a:avLst/>
          </a:prstGeom>
          <a:noFill/>
          <a:ln/>
        </p:spPr>
        <p:txBody>
          <a:bodyPr wrap="square" lIns="0" tIns="0" rIns="0" bIns="0" rtlCol="0" anchor="t"/>
          <a:lstStyle/>
          <a:p>
            <a:pPr indent="0" marL="0">
              <a:buNone/>
            </a:pPr>
            <a:r>
              <a:rPr lang="en-US" sz="1700" b="1" dirty="0">
                <a:solidFill>
                  <a:schemeClr val="tx2"/>
                </a:solidFill>
              </a:rPr>
              <a:t>The Washington Post（米国）</a:t>
            </a:r>
            <a:endParaRPr lang="en-US" sz="1700" dirty="0"/>
          </a:p>
        </p:txBody>
      </p:sp>
      <p:sp>
        <p:nvSpPr>
          <p:cNvPr id="17" name="Text 15"/>
          <p:cNvSpPr txBox="1"/>
          <p:nvPr/>
        </p:nvSpPr>
        <p:spPr>
          <a:xfrm>
            <a:off x="6553048" y="2724318"/>
            <a:ext cx="4815688" cy="309946"/>
          </a:xfrm>
          <a:prstGeom prst="rect">
            <a:avLst/>
          </a:prstGeom>
          <a:noFill/>
          <a:ln/>
        </p:spPr>
        <p:txBody>
          <a:bodyPr wrap="square" lIns="0" tIns="0" rIns="0" bIns="0" rtlCol="0" anchor="t"/>
          <a:lstStyle/>
          <a:p>
            <a:pPr indent="0" marL="0">
              <a:buNone/>
            </a:pPr>
            <a:r>
              <a:rPr lang="en-US" sz="1100" dirty="0">
                <a:solidFill>
                  <a:schemeClr val="accent6"/>
                </a:solidFill>
              </a:rPr>
              <a:t>報道機関（従業員2,500名以上）</a:t>
            </a:r>
            <a:endParaRPr lang="en-US" sz="1100" dirty="0"/>
          </a:p>
        </p:txBody>
      </p:sp>
      <p:sp>
        <p:nvSpPr>
          <p:cNvPr id="18" name="Shape 16"/>
          <p:cNvSpPr/>
          <p:nvPr/>
        </p:nvSpPr>
        <p:spPr>
          <a:xfrm>
            <a:off x="6553048" y="3085922"/>
            <a:ext cx="4815688" cy="929838"/>
          </a:xfrm>
          <a:prstGeom prst="roundRect">
            <a:avLst>
              <a:gd name="adj" fmla="val 7867"/>
            </a:avLst>
          </a:prstGeom>
          <a:solidFill>
            <a:schemeClr val="accent2">
              <a:alpha val="10000"/>
            </a:schemeClr>
          </a:solidFill>
          <a:ln/>
        </p:spPr>
      </p:sp>
      <p:sp>
        <p:nvSpPr>
          <p:cNvPr id="19" name="Text 17"/>
          <p:cNvSpPr txBox="1"/>
          <p:nvPr/>
        </p:nvSpPr>
        <p:spPr>
          <a:xfrm>
            <a:off x="6735928" y="3106585"/>
            <a:ext cx="4449928" cy="888512"/>
          </a:xfrm>
          <a:prstGeom prst="rect">
            <a:avLst/>
          </a:prstGeom>
          <a:noFill/>
          <a:ln/>
        </p:spPr>
        <p:txBody>
          <a:bodyPr wrap="square" lIns="0" tIns="0" rIns="0" bIns="0" rtlCol="0" anchor="ctr"/>
          <a:lstStyle/>
          <a:p>
            <a:pPr indent="0" marL="0">
              <a:buNone/>
            </a:pPr>
            <a:r>
              <a:rPr lang="en-US" sz="3000" b="1" dirty="0">
                <a:solidFill>
                  <a:schemeClr val="accent2"/>
                </a:solidFill>
              </a:rPr>
              <a:t>240TB超</a:t>
            </a:r>
            <a:pPr indent="0" marL="0">
              <a:buNone/>
            </a:pPr>
            <a:r>
              <a:rPr lang="en-US" sz="1300" b="1" dirty="0">
                <a:solidFill>
                  <a:schemeClr val="tx2"/>
                </a:solidFill>
              </a:rPr>
              <a:t>  1,500名超のデータを移行</a:t>
            </a:r>
            <a:endParaRPr lang="en-US" sz="1400" dirty="0"/>
          </a:p>
        </p:txBody>
      </p:sp>
      <p:sp>
        <p:nvSpPr>
          <p:cNvPr id="20" name="Text 18"/>
          <p:cNvSpPr txBox="1"/>
          <p:nvPr/>
        </p:nvSpPr>
        <p:spPr>
          <a:xfrm>
            <a:off x="6553048" y="4170733"/>
            <a:ext cx="4815688" cy="1394757"/>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Dropbox の契約終了を期限に、Google Workspace へ移行</a:t>
            </a:r>
            <a:endParaRPr lang="en-US" sz="1200" dirty="0"/>
          </a:p>
          <a:p>
            <a:pPr marL="177800" indent="-177800">
              <a:spcAft>
                <a:spcPts val="400"/>
              </a:spcAft>
              <a:buSzPct val="100000"/>
              <a:buChar char="•"/>
            </a:pPr>
            <a:r>
              <a:rPr lang="en-US" sz="1200" dirty="0">
                <a:solidFill>
                  <a:schemeClr val="tx1"/>
                </a:solidFill>
              </a:rPr>
              <a:t>複雑化した共有権限を正確に引き継ぎ、深い階層・大容量のフォルダは移行前に再構成</a:t>
            </a:r>
            <a:endParaRPr lang="en-US" sz="1200" dirty="0"/>
          </a:p>
          <a:p>
            <a:pPr marL="177800" indent="-177800">
              <a:spcAft>
                <a:spcPts val="400"/>
              </a:spcAft>
              <a:buSzPct val="100000"/>
              <a:buChar char="•"/>
            </a:pPr>
            <a:r>
              <a:rPr lang="en-US" sz="1200" dirty="0">
                <a:solidFill>
                  <a:schemeClr val="tx1"/>
                </a:solidFill>
              </a:rPr>
              <a:t>業務を止めずに期限内に移行を完了</a:t>
            </a:r>
            <a:endParaRPr lang="en-US" sz="1200" dirty="0"/>
          </a:p>
        </p:txBody>
      </p:sp>
      <p:sp>
        <p:nvSpPr>
          <p:cNvPr id="21" name="Shape 19"/>
          <p:cNvSpPr/>
          <p:nvPr/>
        </p:nvSpPr>
        <p:spPr>
          <a:xfrm>
            <a:off x="6553048" y="5617147"/>
            <a:ext cx="4815688" cy="464919"/>
          </a:xfrm>
          <a:prstGeom prst="roundRect">
            <a:avLst>
              <a:gd name="adj" fmla="val 11801"/>
            </a:avLst>
          </a:prstGeom>
          <a:solidFill>
            <a:schemeClr val="accent4">
              <a:alpha val="18000"/>
            </a:schemeClr>
          </a:solidFill>
          <a:ln/>
        </p:spPr>
      </p:sp>
      <p:sp>
        <p:nvSpPr>
          <p:cNvPr id="22" name="Text 20"/>
          <p:cNvSpPr txBox="1"/>
          <p:nvPr/>
        </p:nvSpPr>
        <p:spPr>
          <a:xfrm>
            <a:off x="6662776" y="5617147"/>
            <a:ext cx="4596232" cy="464919"/>
          </a:xfrm>
          <a:prstGeom prst="rect">
            <a:avLst/>
          </a:prstGeom>
          <a:noFill/>
          <a:ln/>
        </p:spPr>
        <p:txBody>
          <a:bodyPr wrap="square" lIns="0" tIns="0" rIns="0" bIns="0" rtlCol="0" anchor="ctr"/>
          <a:lstStyle/>
          <a:p>
            <a:pPr indent="0" marL="0">
              <a:buNone/>
            </a:pPr>
            <a:r>
              <a:rPr lang="en-US" sz="1100" b="1" dirty="0">
                <a:solidFill>
                  <a:schemeClr val="tx2"/>
                </a:solidFill>
              </a:rPr>
              <a:t>示唆：成否は移行前の権限・フォルダ整理（STEP1〜2）で決まる</a:t>
            </a:r>
            <a:endParaRPr lang="en-US" sz="1100" dirty="0"/>
          </a:p>
        </p:txBody>
      </p:sp>
      <p:sp>
        <p:nvSpPr>
          <p:cNvPr id="23" name="source"/>
          <p:cNvSpPr txBox="1"/>
          <p:nvPr/>
        </p:nvSpPr>
        <p:spPr>
          <a:xfrm>
            <a:off x="548640" y="6336792"/>
            <a:ext cx="11094415" cy="201168"/>
          </a:xfrm>
          <a:prstGeom prst="rect">
            <a:avLst/>
          </a:prstGeom>
          <a:noFill/>
          <a:ln/>
        </p:spPr>
        <p:txBody>
          <a:bodyPr wrap="square" lIns="0" tIns="0" rIns="0" bIns="0" rtlCol="0" anchor="ctr"/>
          <a:lstStyle/>
          <a:p>
            <a:pPr indent="0" marL="0">
              <a:buNone/>
            </a:pPr>
            <a:r>
              <a:rPr lang="en-US" sz="900" dirty="0">
                <a:solidFill>
                  <a:schemeClr val="accent6"/>
                </a:solidFill>
              </a:rPr>
              <a:t>出典：吉積情報 プレスリリース（2026年6月1日）、CloudFuze 導入事例（移行ベンダーの事例ページ）。いずれも当社の支援事例ではありません</a:t>
            </a:r>
            <a:endParaRPr lang="en-US" sz="9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スケジュール（案）：6ヶ月で移行完了と対象部門への展開</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Dropbox 切替を最優先に、移行と並行して活用の「型」づくりを進め、6ヶ月で対象部門への展開まで進めます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04｜進め方・体制・費用</a:t>
            </a:r>
            <a:endParaRPr lang="en-US" sz="900" dirty="0"/>
          </a:p>
        </p:txBody>
      </p:sp>
      <p:sp>
        <p:nvSpPr>
          <p:cNvPr id="5" name="Shape 3"/>
          <p:cNvSpPr/>
          <p:nvPr/>
        </p:nvSpPr>
        <p:spPr>
          <a:xfrm>
            <a:off x="3566160" y="1587850"/>
            <a:ext cx="1346149" cy="392598"/>
          </a:xfrm>
          <a:prstGeom prst="rect">
            <a:avLst/>
          </a:prstGeom>
          <a:solidFill>
            <a:srgbClr val="2B2A5E"/>
          </a:solidFill>
          <a:ln/>
        </p:spPr>
      </p:sp>
      <p:sp>
        <p:nvSpPr>
          <p:cNvPr id="6" name="Text 4"/>
          <p:cNvSpPr txBox="1"/>
          <p:nvPr/>
        </p:nvSpPr>
        <p:spPr>
          <a:xfrm>
            <a:off x="3566160" y="1587850"/>
            <a:ext cx="1346149" cy="392598"/>
          </a:xfrm>
          <a:prstGeom prst="rect">
            <a:avLst/>
          </a:prstGeom>
          <a:noFill/>
          <a:ln/>
        </p:spPr>
        <p:txBody>
          <a:bodyPr wrap="square" lIns="0" tIns="0" rIns="0" bIns="0" rtlCol="0" anchor="ctr"/>
          <a:lstStyle/>
          <a:p>
            <a:pPr algn="ctr" indent="0" marL="0">
              <a:buNone/>
            </a:pPr>
            <a:r>
              <a:rPr lang="en-US" sz="1200" b="1" dirty="0">
                <a:solidFill>
                  <a:schemeClr val="bg1"/>
                </a:solidFill>
              </a:rPr>
              <a:t>1ヶ月目</a:t>
            </a:r>
            <a:endParaRPr lang="en-US" sz="1200" dirty="0"/>
          </a:p>
        </p:txBody>
      </p:sp>
      <p:sp>
        <p:nvSpPr>
          <p:cNvPr id="7" name="Shape 5"/>
          <p:cNvSpPr/>
          <p:nvPr/>
        </p:nvSpPr>
        <p:spPr>
          <a:xfrm>
            <a:off x="4912309" y="1587850"/>
            <a:ext cx="1346149" cy="392598"/>
          </a:xfrm>
          <a:prstGeom prst="rect">
            <a:avLst/>
          </a:prstGeom>
          <a:solidFill>
            <a:srgbClr val="5B4FC4"/>
          </a:solidFill>
          <a:ln/>
        </p:spPr>
      </p:sp>
      <p:sp>
        <p:nvSpPr>
          <p:cNvPr id="8" name="Text 6"/>
          <p:cNvSpPr txBox="1"/>
          <p:nvPr/>
        </p:nvSpPr>
        <p:spPr>
          <a:xfrm>
            <a:off x="4912309" y="1587850"/>
            <a:ext cx="1346149" cy="392598"/>
          </a:xfrm>
          <a:prstGeom prst="rect">
            <a:avLst/>
          </a:prstGeom>
          <a:noFill/>
          <a:ln/>
        </p:spPr>
        <p:txBody>
          <a:bodyPr wrap="square" lIns="0" tIns="0" rIns="0" bIns="0" rtlCol="0" anchor="ctr"/>
          <a:lstStyle/>
          <a:p>
            <a:pPr algn="ctr" indent="0" marL="0">
              <a:buNone/>
            </a:pPr>
            <a:r>
              <a:rPr lang="en-US" sz="1200" b="1" dirty="0">
                <a:solidFill>
                  <a:schemeClr val="bg1"/>
                </a:solidFill>
              </a:rPr>
              <a:t>2ヶ月目</a:t>
            </a:r>
            <a:endParaRPr lang="en-US" sz="1200" dirty="0"/>
          </a:p>
        </p:txBody>
      </p:sp>
      <p:sp>
        <p:nvSpPr>
          <p:cNvPr id="9" name="Shape 7"/>
          <p:cNvSpPr/>
          <p:nvPr/>
        </p:nvSpPr>
        <p:spPr>
          <a:xfrm>
            <a:off x="6258458" y="1587850"/>
            <a:ext cx="1346149" cy="392598"/>
          </a:xfrm>
          <a:prstGeom prst="rect">
            <a:avLst/>
          </a:prstGeom>
          <a:solidFill>
            <a:srgbClr val="2B2A5E"/>
          </a:solidFill>
          <a:ln/>
        </p:spPr>
      </p:sp>
      <p:sp>
        <p:nvSpPr>
          <p:cNvPr id="10" name="Text 8"/>
          <p:cNvSpPr txBox="1"/>
          <p:nvPr/>
        </p:nvSpPr>
        <p:spPr>
          <a:xfrm>
            <a:off x="6258458" y="1587850"/>
            <a:ext cx="1346149" cy="392598"/>
          </a:xfrm>
          <a:prstGeom prst="rect">
            <a:avLst/>
          </a:prstGeom>
          <a:noFill/>
          <a:ln/>
        </p:spPr>
        <p:txBody>
          <a:bodyPr wrap="square" lIns="0" tIns="0" rIns="0" bIns="0" rtlCol="0" anchor="ctr"/>
          <a:lstStyle/>
          <a:p>
            <a:pPr algn="ctr" indent="0" marL="0">
              <a:buNone/>
            </a:pPr>
            <a:r>
              <a:rPr lang="en-US" sz="1200" b="1" dirty="0">
                <a:solidFill>
                  <a:schemeClr val="bg1"/>
                </a:solidFill>
              </a:rPr>
              <a:t>3ヶ月目</a:t>
            </a:r>
            <a:endParaRPr lang="en-US" sz="1200" dirty="0"/>
          </a:p>
        </p:txBody>
      </p:sp>
      <p:sp>
        <p:nvSpPr>
          <p:cNvPr id="11" name="Shape 9"/>
          <p:cNvSpPr/>
          <p:nvPr/>
        </p:nvSpPr>
        <p:spPr>
          <a:xfrm>
            <a:off x="7604608" y="1587850"/>
            <a:ext cx="1346149" cy="392598"/>
          </a:xfrm>
          <a:prstGeom prst="rect">
            <a:avLst/>
          </a:prstGeom>
          <a:solidFill>
            <a:srgbClr val="5B4FC4"/>
          </a:solidFill>
          <a:ln/>
        </p:spPr>
      </p:sp>
      <p:sp>
        <p:nvSpPr>
          <p:cNvPr id="12" name="Text 10"/>
          <p:cNvSpPr txBox="1"/>
          <p:nvPr/>
        </p:nvSpPr>
        <p:spPr>
          <a:xfrm>
            <a:off x="7604608" y="1587850"/>
            <a:ext cx="1346149" cy="392598"/>
          </a:xfrm>
          <a:prstGeom prst="rect">
            <a:avLst/>
          </a:prstGeom>
          <a:noFill/>
          <a:ln/>
        </p:spPr>
        <p:txBody>
          <a:bodyPr wrap="square" lIns="0" tIns="0" rIns="0" bIns="0" rtlCol="0" anchor="ctr"/>
          <a:lstStyle/>
          <a:p>
            <a:pPr algn="ctr" indent="0" marL="0">
              <a:buNone/>
            </a:pPr>
            <a:r>
              <a:rPr lang="en-US" sz="1200" b="1" dirty="0">
                <a:solidFill>
                  <a:schemeClr val="bg1"/>
                </a:solidFill>
              </a:rPr>
              <a:t>4ヶ月目</a:t>
            </a:r>
            <a:endParaRPr lang="en-US" sz="1200" dirty="0"/>
          </a:p>
        </p:txBody>
      </p:sp>
      <p:sp>
        <p:nvSpPr>
          <p:cNvPr id="13" name="Shape 11"/>
          <p:cNvSpPr/>
          <p:nvPr/>
        </p:nvSpPr>
        <p:spPr>
          <a:xfrm>
            <a:off x="8950757" y="1587850"/>
            <a:ext cx="1346149" cy="392598"/>
          </a:xfrm>
          <a:prstGeom prst="rect">
            <a:avLst/>
          </a:prstGeom>
          <a:solidFill>
            <a:srgbClr val="2B2A5E"/>
          </a:solidFill>
          <a:ln/>
        </p:spPr>
      </p:sp>
      <p:sp>
        <p:nvSpPr>
          <p:cNvPr id="14" name="Text 12"/>
          <p:cNvSpPr txBox="1"/>
          <p:nvPr/>
        </p:nvSpPr>
        <p:spPr>
          <a:xfrm>
            <a:off x="8950757" y="1587850"/>
            <a:ext cx="1346149" cy="392598"/>
          </a:xfrm>
          <a:prstGeom prst="rect">
            <a:avLst/>
          </a:prstGeom>
          <a:noFill/>
          <a:ln/>
        </p:spPr>
        <p:txBody>
          <a:bodyPr wrap="square" lIns="0" tIns="0" rIns="0" bIns="0" rtlCol="0" anchor="ctr"/>
          <a:lstStyle/>
          <a:p>
            <a:pPr algn="ctr" indent="0" marL="0">
              <a:buNone/>
            </a:pPr>
            <a:r>
              <a:rPr lang="en-US" sz="1200" b="1" dirty="0">
                <a:solidFill>
                  <a:schemeClr val="bg1"/>
                </a:solidFill>
              </a:rPr>
              <a:t>5ヶ月目</a:t>
            </a:r>
            <a:endParaRPr lang="en-US" sz="1200" dirty="0"/>
          </a:p>
        </p:txBody>
      </p:sp>
      <p:sp>
        <p:nvSpPr>
          <p:cNvPr id="15" name="Shape 13"/>
          <p:cNvSpPr/>
          <p:nvPr/>
        </p:nvSpPr>
        <p:spPr>
          <a:xfrm>
            <a:off x="10296906" y="1587850"/>
            <a:ext cx="1346149" cy="392598"/>
          </a:xfrm>
          <a:prstGeom prst="rect">
            <a:avLst/>
          </a:prstGeom>
          <a:solidFill>
            <a:srgbClr val="5B4FC4"/>
          </a:solidFill>
          <a:ln/>
        </p:spPr>
      </p:sp>
      <p:sp>
        <p:nvSpPr>
          <p:cNvPr id="16" name="Text 14"/>
          <p:cNvSpPr txBox="1"/>
          <p:nvPr/>
        </p:nvSpPr>
        <p:spPr>
          <a:xfrm>
            <a:off x="10296906" y="1587850"/>
            <a:ext cx="1346149" cy="392598"/>
          </a:xfrm>
          <a:prstGeom prst="rect">
            <a:avLst/>
          </a:prstGeom>
          <a:noFill/>
          <a:ln/>
        </p:spPr>
        <p:txBody>
          <a:bodyPr wrap="square" lIns="0" tIns="0" rIns="0" bIns="0" rtlCol="0" anchor="ctr"/>
          <a:lstStyle/>
          <a:p>
            <a:pPr algn="ctr" indent="0" marL="0">
              <a:buNone/>
            </a:pPr>
            <a:r>
              <a:rPr lang="en-US" sz="1200" b="1" dirty="0">
                <a:solidFill>
                  <a:schemeClr val="bg1"/>
                </a:solidFill>
              </a:rPr>
              <a:t>6ヶ月目</a:t>
            </a:r>
            <a:endParaRPr lang="en-US" sz="1200" dirty="0"/>
          </a:p>
        </p:txBody>
      </p:sp>
      <p:sp>
        <p:nvSpPr>
          <p:cNvPr id="17" name="Shape 15"/>
          <p:cNvSpPr/>
          <p:nvPr/>
        </p:nvSpPr>
        <p:spPr>
          <a:xfrm>
            <a:off x="548640" y="2104426"/>
            <a:ext cx="11094415" cy="475250"/>
          </a:xfrm>
          <a:prstGeom prst="rect">
            <a:avLst/>
          </a:prstGeom>
          <a:solidFill>
            <a:srgbClr val="F7F6FC"/>
          </a:solidFill>
          <a:ln/>
        </p:spPr>
      </p:sp>
      <p:sp>
        <p:nvSpPr>
          <p:cNvPr id="18" name="Text 16"/>
          <p:cNvSpPr txBox="1"/>
          <p:nvPr/>
        </p:nvSpPr>
        <p:spPr>
          <a:xfrm>
            <a:off x="640080" y="2104426"/>
            <a:ext cx="2834640" cy="475250"/>
          </a:xfrm>
          <a:prstGeom prst="rect">
            <a:avLst/>
          </a:prstGeom>
          <a:noFill/>
          <a:ln/>
        </p:spPr>
        <p:txBody>
          <a:bodyPr wrap="square" lIns="0" tIns="0" rIns="0" bIns="0" rtlCol="0" anchor="ctr"/>
          <a:lstStyle/>
          <a:p>
            <a:pPr indent="0" marL="0">
              <a:buNone/>
            </a:pPr>
            <a:r>
              <a:rPr lang="en-US" sz="1200" dirty="0">
                <a:solidFill>
                  <a:schemeClr val="tx1"/>
                </a:solidFill>
              </a:rPr>
              <a:t>キックオフ・現状調査</a:t>
            </a:r>
            <a:endParaRPr lang="en-US" sz="1200" dirty="0"/>
          </a:p>
        </p:txBody>
      </p:sp>
      <p:sp>
        <p:nvSpPr>
          <p:cNvPr id="19" name="Shape 17"/>
          <p:cNvSpPr/>
          <p:nvPr/>
        </p:nvSpPr>
        <p:spPr>
          <a:xfrm>
            <a:off x="3611880" y="2228405"/>
            <a:ext cx="716250" cy="227294"/>
          </a:xfrm>
          <a:prstGeom prst="roundRect">
            <a:avLst>
              <a:gd name="adj" fmla="val 20115"/>
            </a:avLst>
          </a:prstGeom>
          <a:solidFill>
            <a:schemeClr val="accent4"/>
          </a:solidFill>
          <a:ln/>
        </p:spPr>
      </p:sp>
      <p:sp>
        <p:nvSpPr>
          <p:cNvPr id="20" name="Text 18"/>
          <p:cNvSpPr txBox="1"/>
          <p:nvPr/>
        </p:nvSpPr>
        <p:spPr>
          <a:xfrm>
            <a:off x="640080" y="2579677"/>
            <a:ext cx="2834640" cy="475250"/>
          </a:xfrm>
          <a:prstGeom prst="rect">
            <a:avLst/>
          </a:prstGeom>
          <a:noFill/>
          <a:ln/>
        </p:spPr>
        <p:txBody>
          <a:bodyPr wrap="square" lIns="0" tIns="0" rIns="0" bIns="0" rtlCol="0" anchor="ctr"/>
          <a:lstStyle/>
          <a:p>
            <a:pPr indent="0" marL="0">
              <a:buNone/>
            </a:pPr>
            <a:r>
              <a:rPr lang="en-US" sz="1200" dirty="0">
                <a:solidFill>
                  <a:schemeClr val="tx1"/>
                </a:solidFill>
              </a:rPr>
              <a:t>Drive 移行設計・ルール策定</a:t>
            </a:r>
            <a:endParaRPr lang="en-US" sz="1200" dirty="0"/>
          </a:p>
        </p:txBody>
      </p:sp>
      <p:sp>
        <p:nvSpPr>
          <p:cNvPr id="21" name="Shape 19"/>
          <p:cNvSpPr/>
          <p:nvPr/>
        </p:nvSpPr>
        <p:spPr>
          <a:xfrm>
            <a:off x="4150340" y="2703655"/>
            <a:ext cx="1523939" cy="227294"/>
          </a:xfrm>
          <a:prstGeom prst="roundRect">
            <a:avLst>
              <a:gd name="adj" fmla="val 20115"/>
            </a:avLst>
          </a:prstGeom>
          <a:solidFill>
            <a:schemeClr val="accent1"/>
          </a:solidFill>
          <a:ln/>
        </p:spPr>
      </p:sp>
      <p:sp>
        <p:nvSpPr>
          <p:cNvPr id="22" name="Shape 20"/>
          <p:cNvSpPr/>
          <p:nvPr/>
        </p:nvSpPr>
        <p:spPr>
          <a:xfrm>
            <a:off x="548640" y="3054927"/>
            <a:ext cx="11094415" cy="475250"/>
          </a:xfrm>
          <a:prstGeom prst="rect">
            <a:avLst/>
          </a:prstGeom>
          <a:solidFill>
            <a:srgbClr val="F7F6FC"/>
          </a:solidFill>
          <a:ln/>
        </p:spPr>
      </p:sp>
      <p:sp>
        <p:nvSpPr>
          <p:cNvPr id="23" name="Text 21"/>
          <p:cNvSpPr txBox="1"/>
          <p:nvPr/>
        </p:nvSpPr>
        <p:spPr>
          <a:xfrm>
            <a:off x="640080" y="3054927"/>
            <a:ext cx="2834640" cy="475250"/>
          </a:xfrm>
          <a:prstGeom prst="rect">
            <a:avLst/>
          </a:prstGeom>
          <a:noFill/>
          <a:ln/>
        </p:spPr>
        <p:txBody>
          <a:bodyPr wrap="square" lIns="0" tIns="0" rIns="0" bIns="0" rtlCol="0" anchor="ctr"/>
          <a:lstStyle/>
          <a:p>
            <a:pPr indent="0" marL="0">
              <a:buNone/>
            </a:pPr>
            <a:r>
              <a:rPr lang="en-US" sz="1200" dirty="0">
                <a:solidFill>
                  <a:schemeClr val="tx1"/>
                </a:solidFill>
              </a:rPr>
              <a:t>パイロット移行（1部署）</a:t>
            </a:r>
            <a:endParaRPr lang="en-US" sz="1200" dirty="0"/>
          </a:p>
        </p:txBody>
      </p:sp>
      <p:sp>
        <p:nvSpPr>
          <p:cNvPr id="24" name="Shape 22"/>
          <p:cNvSpPr/>
          <p:nvPr/>
        </p:nvSpPr>
        <p:spPr>
          <a:xfrm>
            <a:off x="5496489" y="3178906"/>
            <a:ext cx="985479" cy="227294"/>
          </a:xfrm>
          <a:prstGeom prst="roundRect">
            <a:avLst>
              <a:gd name="adj" fmla="val 20115"/>
            </a:avLst>
          </a:prstGeom>
          <a:solidFill>
            <a:schemeClr val="accent1"/>
          </a:solidFill>
          <a:ln/>
        </p:spPr>
      </p:sp>
      <p:sp>
        <p:nvSpPr>
          <p:cNvPr id="25" name="Text 23"/>
          <p:cNvSpPr txBox="1"/>
          <p:nvPr/>
        </p:nvSpPr>
        <p:spPr>
          <a:xfrm>
            <a:off x="640080" y="3530178"/>
            <a:ext cx="2834640" cy="475250"/>
          </a:xfrm>
          <a:prstGeom prst="rect">
            <a:avLst/>
          </a:prstGeom>
          <a:noFill/>
          <a:ln/>
        </p:spPr>
        <p:txBody>
          <a:bodyPr wrap="square" lIns="0" tIns="0" rIns="0" bIns="0" rtlCol="0" anchor="ctr"/>
          <a:lstStyle/>
          <a:p>
            <a:pPr indent="0" marL="0">
              <a:buNone/>
            </a:pPr>
            <a:r>
              <a:rPr lang="en-US" sz="1200" dirty="0">
                <a:solidFill>
                  <a:schemeClr val="tx1"/>
                </a:solidFill>
              </a:rPr>
              <a:t>本移行・Dropbox 切替</a:t>
            </a:r>
            <a:endParaRPr lang="en-US" sz="1200" dirty="0"/>
          </a:p>
        </p:txBody>
      </p:sp>
      <p:sp>
        <p:nvSpPr>
          <p:cNvPr id="26" name="Shape 24"/>
          <p:cNvSpPr/>
          <p:nvPr/>
        </p:nvSpPr>
        <p:spPr>
          <a:xfrm>
            <a:off x="6573408" y="3654156"/>
            <a:ext cx="2331629" cy="227294"/>
          </a:xfrm>
          <a:prstGeom prst="roundRect">
            <a:avLst>
              <a:gd name="adj" fmla="val 20115"/>
            </a:avLst>
          </a:prstGeom>
          <a:solidFill>
            <a:schemeClr val="accent1"/>
          </a:solidFill>
          <a:ln/>
        </p:spPr>
      </p:sp>
      <p:sp>
        <p:nvSpPr>
          <p:cNvPr id="27" name="Shape 25"/>
          <p:cNvSpPr/>
          <p:nvPr/>
        </p:nvSpPr>
        <p:spPr>
          <a:xfrm>
            <a:off x="548640" y="4005428"/>
            <a:ext cx="11094415" cy="475250"/>
          </a:xfrm>
          <a:prstGeom prst="rect">
            <a:avLst/>
          </a:prstGeom>
          <a:solidFill>
            <a:srgbClr val="F7F6FC"/>
          </a:solidFill>
          <a:ln/>
        </p:spPr>
      </p:sp>
      <p:sp>
        <p:nvSpPr>
          <p:cNvPr id="28" name="Text 26"/>
          <p:cNvSpPr txBox="1"/>
          <p:nvPr/>
        </p:nvSpPr>
        <p:spPr>
          <a:xfrm>
            <a:off x="640080" y="4005428"/>
            <a:ext cx="2834640" cy="475250"/>
          </a:xfrm>
          <a:prstGeom prst="rect">
            <a:avLst/>
          </a:prstGeom>
          <a:noFill/>
          <a:ln/>
        </p:spPr>
        <p:txBody>
          <a:bodyPr wrap="square" lIns="0" tIns="0" rIns="0" bIns="0" rtlCol="0" anchor="ctr"/>
          <a:lstStyle/>
          <a:p>
            <a:pPr indent="0" marL="0">
              <a:buNone/>
            </a:pPr>
            <a:r>
              <a:rPr lang="en-US" sz="1200" dirty="0">
                <a:solidFill>
                  <a:schemeClr val="tx1"/>
                </a:solidFill>
              </a:rPr>
              <a:t>業務棚卸し・テンプレート整備</a:t>
            </a:r>
            <a:endParaRPr lang="en-US" sz="1200" dirty="0"/>
          </a:p>
        </p:txBody>
      </p:sp>
      <p:sp>
        <p:nvSpPr>
          <p:cNvPr id="29" name="Shape 27"/>
          <p:cNvSpPr/>
          <p:nvPr/>
        </p:nvSpPr>
        <p:spPr>
          <a:xfrm>
            <a:off x="4015725" y="4129407"/>
            <a:ext cx="2870088" cy="227294"/>
          </a:xfrm>
          <a:prstGeom prst="roundRect">
            <a:avLst>
              <a:gd name="adj" fmla="val 20115"/>
            </a:avLst>
          </a:prstGeom>
          <a:solidFill>
            <a:schemeClr val="accent2"/>
          </a:solidFill>
          <a:ln/>
        </p:spPr>
      </p:sp>
      <p:sp>
        <p:nvSpPr>
          <p:cNvPr id="30" name="Text 28"/>
          <p:cNvSpPr txBox="1"/>
          <p:nvPr/>
        </p:nvSpPr>
        <p:spPr>
          <a:xfrm>
            <a:off x="640080" y="4480679"/>
            <a:ext cx="2834640" cy="475250"/>
          </a:xfrm>
          <a:prstGeom prst="rect">
            <a:avLst/>
          </a:prstGeom>
          <a:noFill/>
          <a:ln/>
        </p:spPr>
        <p:txBody>
          <a:bodyPr wrap="square" lIns="0" tIns="0" rIns="0" bIns="0" rtlCol="0" anchor="ctr"/>
          <a:lstStyle/>
          <a:p>
            <a:pPr indent="0" marL="0">
              <a:buNone/>
            </a:pPr>
            <a:r>
              <a:rPr lang="en-US" sz="1200" dirty="0">
                <a:solidFill>
                  <a:schemeClr val="tx1"/>
                </a:solidFill>
              </a:rPr>
              <a:t>業務の自動化（提出物管理等）</a:t>
            </a:r>
            <a:endParaRPr lang="en-US" sz="1200" dirty="0"/>
          </a:p>
        </p:txBody>
      </p:sp>
      <p:sp>
        <p:nvSpPr>
          <p:cNvPr id="31" name="Shape 29"/>
          <p:cNvSpPr/>
          <p:nvPr/>
        </p:nvSpPr>
        <p:spPr>
          <a:xfrm>
            <a:off x="6304178" y="4604657"/>
            <a:ext cx="2600858" cy="227294"/>
          </a:xfrm>
          <a:prstGeom prst="roundRect">
            <a:avLst>
              <a:gd name="adj" fmla="val 20115"/>
            </a:avLst>
          </a:prstGeom>
          <a:solidFill>
            <a:schemeClr val="accent2"/>
          </a:solidFill>
          <a:ln/>
        </p:spPr>
      </p:sp>
      <p:sp>
        <p:nvSpPr>
          <p:cNvPr id="32" name="Shape 30"/>
          <p:cNvSpPr/>
          <p:nvPr/>
        </p:nvSpPr>
        <p:spPr>
          <a:xfrm>
            <a:off x="548640" y="4955929"/>
            <a:ext cx="11094415" cy="475250"/>
          </a:xfrm>
          <a:prstGeom prst="rect">
            <a:avLst/>
          </a:prstGeom>
          <a:solidFill>
            <a:srgbClr val="F7F6FC"/>
          </a:solidFill>
          <a:ln/>
        </p:spPr>
      </p:sp>
      <p:sp>
        <p:nvSpPr>
          <p:cNvPr id="33" name="Text 31"/>
          <p:cNvSpPr txBox="1"/>
          <p:nvPr/>
        </p:nvSpPr>
        <p:spPr>
          <a:xfrm>
            <a:off x="640080" y="4955929"/>
            <a:ext cx="2834640" cy="475250"/>
          </a:xfrm>
          <a:prstGeom prst="rect">
            <a:avLst/>
          </a:prstGeom>
          <a:noFill/>
          <a:ln/>
        </p:spPr>
        <p:txBody>
          <a:bodyPr wrap="square" lIns="0" tIns="0" rIns="0" bIns="0" rtlCol="0" anchor="ctr"/>
          <a:lstStyle/>
          <a:p>
            <a:pPr indent="0" marL="0">
              <a:buNone/>
            </a:pPr>
            <a:r>
              <a:rPr lang="en-US" sz="1200" dirty="0">
                <a:solidFill>
                  <a:schemeClr val="tx1"/>
                </a:solidFill>
              </a:rPr>
              <a:t>本部管理部門への展開</a:t>
            </a:r>
            <a:endParaRPr lang="en-US" sz="1200" dirty="0"/>
          </a:p>
        </p:txBody>
      </p:sp>
      <p:sp>
        <p:nvSpPr>
          <p:cNvPr id="34" name="Shape 32"/>
          <p:cNvSpPr/>
          <p:nvPr/>
        </p:nvSpPr>
        <p:spPr>
          <a:xfrm>
            <a:off x="6304178" y="5079908"/>
            <a:ext cx="2600858" cy="227294"/>
          </a:xfrm>
          <a:prstGeom prst="roundRect">
            <a:avLst>
              <a:gd name="adj" fmla="val 20115"/>
            </a:avLst>
          </a:prstGeom>
          <a:solidFill>
            <a:schemeClr val="accent3"/>
          </a:solidFill>
          <a:ln/>
        </p:spPr>
      </p:sp>
      <p:sp>
        <p:nvSpPr>
          <p:cNvPr id="35" name="Text 33"/>
          <p:cNvSpPr txBox="1"/>
          <p:nvPr/>
        </p:nvSpPr>
        <p:spPr>
          <a:xfrm>
            <a:off x="640080" y="5431180"/>
            <a:ext cx="2834640" cy="475250"/>
          </a:xfrm>
          <a:prstGeom prst="rect">
            <a:avLst/>
          </a:prstGeom>
          <a:noFill/>
          <a:ln/>
        </p:spPr>
        <p:txBody>
          <a:bodyPr wrap="square" lIns="0" tIns="0" rIns="0" bIns="0" rtlCol="0" anchor="ctr"/>
          <a:lstStyle/>
          <a:p>
            <a:pPr indent="0" marL="0">
              <a:buNone/>
            </a:pPr>
            <a:r>
              <a:rPr lang="en-US" sz="1200" dirty="0">
                <a:solidFill>
                  <a:schemeClr val="tx1"/>
                </a:solidFill>
              </a:rPr>
              <a:t>営業・現場管理職への展開</a:t>
            </a:r>
            <a:endParaRPr lang="en-US" sz="1200" dirty="0"/>
          </a:p>
        </p:txBody>
      </p:sp>
      <p:sp>
        <p:nvSpPr>
          <p:cNvPr id="36" name="Shape 34"/>
          <p:cNvSpPr/>
          <p:nvPr/>
        </p:nvSpPr>
        <p:spPr>
          <a:xfrm>
            <a:off x="8996477" y="5555158"/>
            <a:ext cx="2600858" cy="227294"/>
          </a:xfrm>
          <a:prstGeom prst="roundRect">
            <a:avLst>
              <a:gd name="adj" fmla="val 20115"/>
            </a:avLst>
          </a:prstGeom>
          <a:solidFill>
            <a:schemeClr val="accent3"/>
          </a:solidFill>
          <a:ln/>
        </p:spPr>
      </p:sp>
      <p:sp>
        <p:nvSpPr>
          <p:cNvPr id="37" name="Shape 35"/>
          <p:cNvSpPr/>
          <p:nvPr/>
        </p:nvSpPr>
        <p:spPr>
          <a:xfrm>
            <a:off x="548640" y="5906430"/>
            <a:ext cx="11094415" cy="475250"/>
          </a:xfrm>
          <a:prstGeom prst="rect">
            <a:avLst/>
          </a:prstGeom>
          <a:solidFill>
            <a:srgbClr val="F7F6FC"/>
          </a:solidFill>
          <a:ln/>
        </p:spPr>
      </p:sp>
      <p:sp>
        <p:nvSpPr>
          <p:cNvPr id="38" name="Text 36"/>
          <p:cNvSpPr txBox="1"/>
          <p:nvPr/>
        </p:nvSpPr>
        <p:spPr>
          <a:xfrm>
            <a:off x="640080" y="5906430"/>
            <a:ext cx="2834640" cy="475250"/>
          </a:xfrm>
          <a:prstGeom prst="rect">
            <a:avLst/>
          </a:prstGeom>
          <a:noFill/>
          <a:ln/>
        </p:spPr>
        <p:txBody>
          <a:bodyPr wrap="square" lIns="0" tIns="0" rIns="0" bIns="0" rtlCol="0" anchor="ctr"/>
          <a:lstStyle/>
          <a:p>
            <a:pPr indent="0" marL="0">
              <a:buNone/>
            </a:pPr>
            <a:r>
              <a:rPr lang="en-US" sz="1200" dirty="0">
                <a:solidFill>
                  <a:schemeClr val="tx1"/>
                </a:solidFill>
              </a:rPr>
              <a:t>効果測定・月次報告</a:t>
            </a:r>
            <a:endParaRPr lang="en-US" sz="1200" dirty="0"/>
          </a:p>
        </p:txBody>
      </p:sp>
      <p:sp>
        <p:nvSpPr>
          <p:cNvPr id="39" name="Shape 37"/>
          <p:cNvSpPr/>
          <p:nvPr/>
        </p:nvSpPr>
        <p:spPr>
          <a:xfrm>
            <a:off x="4419570" y="6030409"/>
            <a:ext cx="7177766" cy="227294"/>
          </a:xfrm>
          <a:prstGeom prst="roundRect">
            <a:avLst>
              <a:gd name="adj" fmla="val 20115"/>
            </a:avLst>
          </a:prstGeom>
          <a:solidFill>
            <a:schemeClr val="accent4"/>
          </a:solidFill>
          <a:ln/>
        </p:spPr>
      </p:sp>
      <p:sp>
        <p:nvSpPr>
          <p:cNvPr id="40" name="Shape 38"/>
          <p:cNvSpPr/>
          <p:nvPr/>
        </p:nvSpPr>
        <p:spPr>
          <a:xfrm>
            <a:off x="8831885" y="3633493"/>
            <a:ext cx="237744" cy="268620"/>
          </a:xfrm>
          <a:prstGeom prst="diamond">
            <a:avLst/>
          </a:prstGeom>
          <a:solidFill>
            <a:schemeClr val="accent5"/>
          </a:solidFill>
          <a:ln w="12700">
            <a:solidFill>
              <a:srgbClr val="FFFFFF"/>
            </a:solidFill>
            <a:prstDash val="solid"/>
          </a:ln>
        </p:spPr>
      </p:sp>
      <p:sp>
        <p:nvSpPr>
          <p:cNvPr id="41" name="Text 39"/>
          <p:cNvSpPr txBox="1"/>
          <p:nvPr/>
        </p:nvSpPr>
        <p:spPr>
          <a:xfrm>
            <a:off x="9115349" y="3612830"/>
            <a:ext cx="1645920" cy="309946"/>
          </a:xfrm>
          <a:prstGeom prst="rect">
            <a:avLst/>
          </a:prstGeom>
          <a:noFill/>
          <a:ln/>
        </p:spPr>
        <p:txBody>
          <a:bodyPr wrap="square" lIns="0" tIns="0" rIns="0" bIns="0" rtlCol="0" anchor="ctr"/>
          <a:lstStyle/>
          <a:p>
            <a:pPr algn="l" indent="0" marL="0">
              <a:buNone/>
            </a:pPr>
            <a:r>
              <a:rPr lang="en-US" sz="1100" b="1" dirty="0">
                <a:solidFill>
                  <a:schemeClr val="accent5"/>
                </a:solidFill>
              </a:rPr>
              <a:t>Dropbox 解約 ※</a:t>
            </a:r>
            <a:endParaRPr lang="en-US" sz="1100" dirty="0"/>
          </a:p>
        </p:txBody>
      </p:sp>
      <p:sp>
        <p:nvSpPr>
          <p:cNvPr id="42" name="Text 40"/>
          <p:cNvSpPr txBox="1"/>
          <p:nvPr/>
        </p:nvSpPr>
        <p:spPr>
          <a:xfrm>
            <a:off x="640080" y="1639507"/>
            <a:ext cx="548640" cy="289283"/>
          </a:xfrm>
          <a:prstGeom prst="rect">
            <a:avLst/>
          </a:prstGeom>
          <a:noFill/>
          <a:ln/>
        </p:spPr>
        <p:txBody>
          <a:bodyPr wrap="square" lIns="0" tIns="0" rIns="0" bIns="0" rtlCol="0" anchor="ctr"/>
          <a:lstStyle/>
          <a:p>
            <a:pPr indent="0" marL="0">
              <a:buNone/>
            </a:pPr>
            <a:r>
              <a:rPr lang="en-US" sz="1100" b="1" dirty="0">
                <a:solidFill>
                  <a:schemeClr val="accent6"/>
                </a:solidFill>
              </a:rPr>
              <a:t>凡例</a:t>
            </a:r>
            <a:endParaRPr lang="en-US" sz="1100" dirty="0"/>
          </a:p>
        </p:txBody>
      </p:sp>
      <p:sp>
        <p:nvSpPr>
          <p:cNvPr id="43" name="source"/>
          <p:cNvSpPr txBox="1"/>
          <p:nvPr/>
        </p:nvSpPr>
        <p:spPr>
          <a:xfrm>
            <a:off x="548640" y="6336792"/>
            <a:ext cx="11094415" cy="201168"/>
          </a:xfrm>
          <a:prstGeom prst="rect">
            <a:avLst/>
          </a:prstGeom>
          <a:noFill/>
          <a:ln/>
        </p:spPr>
        <p:txBody>
          <a:bodyPr wrap="square" lIns="0" tIns="0" rIns="0" bIns="0" rtlCol="0" anchor="ctr"/>
          <a:lstStyle/>
          <a:p>
            <a:pPr indent="0" marL="0">
              <a:buNone/>
            </a:pPr>
            <a:r>
              <a:rPr lang="en-US" sz="900" dirty="0">
                <a:solidFill>
                  <a:schemeClr val="accent6"/>
                </a:solidFill>
              </a:rPr>
              <a:t>※ 開始時期はご決裁後に確定します。Dropbox の解約時期は契約更新時期に合わせて調整します。生産性向上の委員会の経過措置（2027年3月末まで）も考慮します</a:t>
            </a:r>
            <a:endParaRPr lang="en-US" sz="900" dirty="0"/>
          </a:p>
        </p:txBody>
      </p:sp>
      <p:sp>
        <p:nvSpPr>
          <p:cNvPr id="44" name="Shape 42"/>
          <p:cNvSpPr/>
          <p:nvPr/>
        </p:nvSpPr>
        <p:spPr>
          <a:xfrm>
            <a:off x="1188720" y="1701497"/>
            <a:ext cx="164592" cy="185968"/>
          </a:xfrm>
          <a:prstGeom prst="roundRect">
            <a:avLst>
              <a:gd name="adj" fmla="val 16667"/>
            </a:avLst>
          </a:prstGeom>
          <a:solidFill>
            <a:schemeClr val="accent1"/>
          </a:solidFill>
          <a:ln/>
        </p:spPr>
      </p:sp>
      <p:sp>
        <p:nvSpPr>
          <p:cNvPr id="45" name="Text 43"/>
          <p:cNvSpPr txBox="1"/>
          <p:nvPr/>
        </p:nvSpPr>
        <p:spPr>
          <a:xfrm>
            <a:off x="1389888" y="1639507"/>
            <a:ext cx="411480" cy="289283"/>
          </a:xfrm>
          <a:prstGeom prst="rect">
            <a:avLst/>
          </a:prstGeom>
          <a:noFill/>
          <a:ln/>
        </p:spPr>
        <p:txBody>
          <a:bodyPr wrap="square" lIns="0" tIns="0" rIns="0" bIns="0" rtlCol="0" anchor="ctr"/>
          <a:lstStyle/>
          <a:p>
            <a:pPr indent="0" marL="0">
              <a:buNone/>
            </a:pPr>
            <a:r>
              <a:rPr lang="en-US" sz="1000" dirty="0">
                <a:solidFill>
                  <a:schemeClr val="tx1"/>
                </a:solidFill>
              </a:rPr>
              <a:t>柱①</a:t>
            </a:r>
            <a:endParaRPr lang="en-US" sz="1000" dirty="0"/>
          </a:p>
        </p:txBody>
      </p:sp>
      <p:sp>
        <p:nvSpPr>
          <p:cNvPr id="46" name="Shape 44"/>
          <p:cNvSpPr/>
          <p:nvPr/>
        </p:nvSpPr>
        <p:spPr>
          <a:xfrm>
            <a:off x="1783080" y="1701497"/>
            <a:ext cx="164592" cy="185968"/>
          </a:xfrm>
          <a:prstGeom prst="roundRect">
            <a:avLst>
              <a:gd name="adj" fmla="val 16667"/>
            </a:avLst>
          </a:prstGeom>
          <a:solidFill>
            <a:schemeClr val="accent2"/>
          </a:solidFill>
          <a:ln/>
        </p:spPr>
      </p:sp>
      <p:sp>
        <p:nvSpPr>
          <p:cNvPr id="47" name="Text 45"/>
          <p:cNvSpPr txBox="1"/>
          <p:nvPr/>
        </p:nvSpPr>
        <p:spPr>
          <a:xfrm>
            <a:off x="1984248" y="1639507"/>
            <a:ext cx="411480" cy="289283"/>
          </a:xfrm>
          <a:prstGeom prst="rect">
            <a:avLst/>
          </a:prstGeom>
          <a:noFill/>
          <a:ln/>
        </p:spPr>
        <p:txBody>
          <a:bodyPr wrap="square" lIns="0" tIns="0" rIns="0" bIns="0" rtlCol="0" anchor="ctr"/>
          <a:lstStyle/>
          <a:p>
            <a:pPr indent="0" marL="0">
              <a:buNone/>
            </a:pPr>
            <a:r>
              <a:rPr lang="en-US" sz="1000" dirty="0">
                <a:solidFill>
                  <a:schemeClr val="tx1"/>
                </a:solidFill>
              </a:rPr>
              <a:t>柱②</a:t>
            </a:r>
            <a:endParaRPr lang="en-US" sz="1000" dirty="0"/>
          </a:p>
        </p:txBody>
      </p:sp>
      <p:sp>
        <p:nvSpPr>
          <p:cNvPr id="48" name="Shape 46"/>
          <p:cNvSpPr/>
          <p:nvPr/>
        </p:nvSpPr>
        <p:spPr>
          <a:xfrm>
            <a:off x="2377440" y="1701497"/>
            <a:ext cx="164592" cy="185968"/>
          </a:xfrm>
          <a:prstGeom prst="roundRect">
            <a:avLst>
              <a:gd name="adj" fmla="val 16667"/>
            </a:avLst>
          </a:prstGeom>
          <a:solidFill>
            <a:schemeClr val="accent3"/>
          </a:solidFill>
          <a:ln/>
        </p:spPr>
      </p:sp>
      <p:sp>
        <p:nvSpPr>
          <p:cNvPr id="49" name="Text 47"/>
          <p:cNvSpPr txBox="1"/>
          <p:nvPr/>
        </p:nvSpPr>
        <p:spPr>
          <a:xfrm>
            <a:off x="2578608" y="1639507"/>
            <a:ext cx="411480" cy="289283"/>
          </a:xfrm>
          <a:prstGeom prst="rect">
            <a:avLst/>
          </a:prstGeom>
          <a:noFill/>
          <a:ln/>
        </p:spPr>
        <p:txBody>
          <a:bodyPr wrap="square" lIns="0" tIns="0" rIns="0" bIns="0" rtlCol="0" anchor="ctr"/>
          <a:lstStyle/>
          <a:p>
            <a:pPr indent="0" marL="0">
              <a:buNone/>
            </a:pPr>
            <a:r>
              <a:rPr lang="en-US" sz="1000" dirty="0">
                <a:solidFill>
                  <a:schemeClr val="tx1"/>
                </a:solidFill>
              </a:rPr>
              <a:t>柱③</a:t>
            </a:r>
            <a:endParaRPr lang="en-US" sz="1000" dirty="0"/>
          </a:p>
        </p:txBody>
      </p:sp>
      <p:sp>
        <p:nvSpPr>
          <p:cNvPr id="50" name="Shape 48"/>
          <p:cNvSpPr/>
          <p:nvPr/>
        </p:nvSpPr>
        <p:spPr>
          <a:xfrm>
            <a:off x="2971800" y="1701497"/>
            <a:ext cx="164592" cy="185968"/>
          </a:xfrm>
          <a:prstGeom prst="roundRect">
            <a:avLst>
              <a:gd name="adj" fmla="val 16667"/>
            </a:avLst>
          </a:prstGeom>
          <a:solidFill>
            <a:schemeClr val="accent4"/>
          </a:solidFill>
          <a:ln/>
        </p:spPr>
      </p:sp>
      <p:sp>
        <p:nvSpPr>
          <p:cNvPr id="51" name="Text 49"/>
          <p:cNvSpPr txBox="1"/>
          <p:nvPr/>
        </p:nvSpPr>
        <p:spPr>
          <a:xfrm>
            <a:off x="3172968" y="1639507"/>
            <a:ext cx="411480" cy="289283"/>
          </a:xfrm>
          <a:prstGeom prst="rect">
            <a:avLst/>
          </a:prstGeom>
          <a:noFill/>
          <a:ln/>
        </p:spPr>
        <p:txBody>
          <a:bodyPr wrap="square" lIns="0" tIns="0" rIns="0" bIns="0" rtlCol="0" anchor="ctr"/>
          <a:lstStyle/>
          <a:p>
            <a:pPr indent="0" marL="0">
              <a:buNone/>
            </a:pPr>
            <a:r>
              <a:rPr lang="en-US" sz="1000" dirty="0">
                <a:solidFill>
                  <a:schemeClr val="tx1"/>
                </a:solidFill>
              </a:rPr>
              <a:t>共通</a:t>
            </a:r>
            <a:endParaRPr lang="en-US" sz="10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ご支援プラン：ご予算に応じた3つの進め方</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関与の深さが異なる3パターンから、ご予算と体制に合わせてお選びいただけます（途中変更も可）</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04｜進め方・体制・費用</a:t>
            </a:r>
            <a:endParaRPr lang="en-US" sz="900" dirty="0"/>
          </a:p>
        </p:txBody>
      </p:sp>
      <p:sp>
        <p:nvSpPr>
          <p:cNvPr id="5" name="Shape 3"/>
          <p:cNvSpPr/>
          <p:nvPr/>
        </p:nvSpPr>
        <p:spPr>
          <a:xfrm>
            <a:off x="548640" y="1691165"/>
            <a:ext cx="3515258" cy="4597532"/>
          </a:xfrm>
          <a:prstGeom prst="roundRect">
            <a:avLst>
              <a:gd name="adj" fmla="val 2601"/>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6" name="Text 4"/>
          <p:cNvSpPr txBox="1"/>
          <p:nvPr/>
        </p:nvSpPr>
        <p:spPr>
          <a:xfrm>
            <a:off x="822960" y="1897796"/>
            <a:ext cx="1371600" cy="309946"/>
          </a:xfrm>
          <a:prstGeom prst="rect">
            <a:avLst/>
          </a:prstGeom>
          <a:noFill/>
          <a:ln/>
        </p:spPr>
        <p:txBody>
          <a:bodyPr wrap="square" lIns="0" tIns="0" rIns="0" bIns="0" rtlCol="0" anchor="t"/>
          <a:lstStyle/>
          <a:p>
            <a:pPr indent="0" marL="0">
              <a:buNone/>
            </a:pPr>
            <a:r>
              <a:rPr lang="en-US" sz="1200" b="1" dirty="0">
                <a:solidFill>
                  <a:schemeClr val="accent1"/>
                </a:solidFill>
              </a:rPr>
              <a:t>PLAN A</a:t>
            </a:r>
            <a:endParaRPr lang="en-US" sz="1200" dirty="0"/>
          </a:p>
        </p:txBody>
      </p:sp>
      <p:sp>
        <p:nvSpPr>
          <p:cNvPr id="7" name="Text 5"/>
          <p:cNvSpPr txBox="1"/>
          <p:nvPr/>
        </p:nvSpPr>
        <p:spPr>
          <a:xfrm>
            <a:off x="822960" y="2207742"/>
            <a:ext cx="2966618" cy="433924"/>
          </a:xfrm>
          <a:prstGeom prst="rect">
            <a:avLst/>
          </a:prstGeom>
          <a:noFill/>
          <a:ln/>
        </p:spPr>
        <p:txBody>
          <a:bodyPr wrap="square" lIns="0" tIns="0" rIns="0" bIns="0" rtlCol="0" anchor="t"/>
          <a:lstStyle/>
          <a:p>
            <a:pPr indent="0" marL="0">
              <a:buNone/>
            </a:pPr>
            <a:r>
              <a:rPr lang="en-US" sz="1900" b="1" dirty="0">
                <a:solidFill>
                  <a:schemeClr val="tx2"/>
                </a:solidFill>
              </a:rPr>
              <a:t>アドバイザリー</a:t>
            </a:r>
            <a:endParaRPr lang="en-US" sz="1900" dirty="0"/>
          </a:p>
        </p:txBody>
      </p:sp>
      <p:sp>
        <p:nvSpPr>
          <p:cNvPr id="8" name="Text 6"/>
          <p:cNvSpPr txBox="1"/>
          <p:nvPr/>
        </p:nvSpPr>
        <p:spPr>
          <a:xfrm>
            <a:off x="822960" y="2672661"/>
            <a:ext cx="2966618" cy="568234"/>
          </a:xfrm>
          <a:prstGeom prst="rect">
            <a:avLst/>
          </a:prstGeom>
          <a:noFill/>
          <a:ln/>
        </p:spPr>
        <p:txBody>
          <a:bodyPr wrap="square" lIns="0" tIns="0" rIns="0" bIns="0" rtlCol="0" anchor="t"/>
          <a:lstStyle/>
          <a:p>
            <a:pPr indent="0" marL="0">
              <a:buNone/>
            </a:pPr>
            <a:r>
              <a:rPr lang="en-US" sz="1200" dirty="0">
                <a:solidFill>
                  <a:schemeClr val="tx2"/>
                </a:solidFill>
              </a:rPr>
              <a:t>貴社主導で進め、当社は専門的な助言とレビューで支える</a:t>
            </a:r>
            <a:endParaRPr lang="en-US" sz="1200" dirty="0"/>
          </a:p>
        </p:txBody>
      </p:sp>
      <p:sp>
        <p:nvSpPr>
          <p:cNvPr id="9" name="Text 7"/>
          <p:cNvSpPr txBox="1"/>
          <p:nvPr/>
        </p:nvSpPr>
        <p:spPr>
          <a:xfrm>
            <a:off x="822960" y="3292553"/>
            <a:ext cx="3058058" cy="185967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月2回の定例（オンライン）</a:t>
            </a:r>
            <a:endParaRPr lang="en-US" sz="1200" dirty="0"/>
          </a:p>
          <a:p>
            <a:pPr marL="177800" indent="-177800">
              <a:spcAft>
                <a:spcPts val="500"/>
              </a:spcAft>
              <a:buSzPct val="100000"/>
              <a:buChar char="•"/>
            </a:pPr>
            <a:r>
              <a:rPr lang="en-US" sz="1200" dirty="0">
                <a:solidFill>
                  <a:schemeClr val="tx2"/>
                </a:solidFill>
              </a:rPr>
              <a:t>チャットでの随時相談</a:t>
            </a:r>
            <a:endParaRPr lang="en-US" sz="1200" dirty="0"/>
          </a:p>
          <a:p>
            <a:pPr marL="177800" indent="-177800">
              <a:spcAft>
                <a:spcPts val="500"/>
              </a:spcAft>
              <a:buSzPct val="100000"/>
              <a:buChar char="•"/>
            </a:pPr>
            <a:r>
              <a:rPr lang="en-US" sz="1200" dirty="0">
                <a:solidFill>
                  <a:schemeClr val="tx2"/>
                </a:solidFill>
              </a:rPr>
              <a:t>移行計画・共有設定のレビュー</a:t>
            </a:r>
            <a:endParaRPr lang="en-US" sz="1200" dirty="0"/>
          </a:p>
          <a:p>
            <a:pPr marL="177800" indent="-177800">
              <a:spcAft>
                <a:spcPts val="500"/>
              </a:spcAft>
              <a:buSzPct val="100000"/>
              <a:buChar char="•"/>
            </a:pPr>
            <a:r>
              <a:rPr lang="en-US" sz="1200" dirty="0">
                <a:solidFill>
                  <a:schemeClr val="tx2"/>
                </a:solidFill>
              </a:rPr>
              <a:t>活用アイデア・事例の提供</a:t>
            </a:r>
            <a:endParaRPr lang="en-US" sz="1200" dirty="0"/>
          </a:p>
          <a:p>
            <a:pPr marL="177800" indent="-177800">
              <a:spcAft>
                <a:spcPts val="500"/>
              </a:spcAft>
              <a:buSzPct val="100000"/>
              <a:buChar char="•"/>
            </a:pPr>
            <a:r>
              <a:rPr lang="en-US" sz="1200" dirty="0">
                <a:solidFill>
                  <a:schemeClr val="tx2"/>
                </a:solidFill>
              </a:rPr>
              <a:t>KPI テンプレートの提供（測定は貴社）</a:t>
            </a:r>
            <a:endParaRPr lang="en-US" sz="1200" dirty="0"/>
          </a:p>
        </p:txBody>
      </p:sp>
      <p:sp>
        <p:nvSpPr>
          <p:cNvPr id="10" name="Shape 8"/>
          <p:cNvSpPr/>
          <p:nvPr/>
        </p:nvSpPr>
        <p:spPr>
          <a:xfrm>
            <a:off x="822960" y="5203886"/>
            <a:ext cx="2966618" cy="0"/>
          </a:xfrm>
          <a:prstGeom prst="line">
            <a:avLst/>
          </a:prstGeom>
          <a:noFill/>
          <a:ln w="9525">
            <a:solidFill>
              <a:srgbClr val="E2E1EE"/>
            </a:solidFill>
            <a:prstDash val="solid"/>
          </a:ln>
        </p:spPr>
      </p:sp>
      <p:sp>
        <p:nvSpPr>
          <p:cNvPr id="11" name="Text 9"/>
          <p:cNvSpPr txBox="1"/>
          <p:nvPr/>
        </p:nvSpPr>
        <p:spPr>
          <a:xfrm>
            <a:off x="822960" y="5307201"/>
            <a:ext cx="2966618" cy="289283"/>
          </a:xfrm>
          <a:prstGeom prst="rect">
            <a:avLst/>
          </a:prstGeom>
          <a:noFill/>
          <a:ln/>
        </p:spPr>
        <p:txBody>
          <a:bodyPr wrap="square" lIns="0" tIns="0" rIns="0" bIns="0" rtlCol="0" anchor="t"/>
          <a:lstStyle/>
          <a:p>
            <a:pPr indent="0" marL="0">
              <a:buNone/>
            </a:pPr>
            <a:r>
              <a:rPr lang="en-US" sz="1100" dirty="0">
                <a:solidFill>
                  <a:schemeClr val="accent6"/>
                </a:solidFill>
              </a:rPr>
              <a:t>期間：3ヶ月〜</a:t>
            </a:r>
            <a:endParaRPr lang="en-US" sz="1100" dirty="0"/>
          </a:p>
        </p:txBody>
      </p:sp>
      <p:sp>
        <p:nvSpPr>
          <p:cNvPr id="12" name="Text 10"/>
          <p:cNvSpPr txBox="1"/>
          <p:nvPr/>
        </p:nvSpPr>
        <p:spPr>
          <a:xfrm>
            <a:off x="822960" y="5617147"/>
            <a:ext cx="2966618" cy="516577"/>
          </a:xfrm>
          <a:prstGeom prst="rect">
            <a:avLst/>
          </a:prstGeom>
          <a:noFill/>
          <a:ln/>
        </p:spPr>
        <p:txBody>
          <a:bodyPr wrap="square" lIns="0" tIns="0" rIns="0" bIns="0" rtlCol="0" anchor="ctr"/>
          <a:lstStyle/>
          <a:p>
            <a:pPr indent="0" marL="0">
              <a:buNone/>
            </a:pPr>
            <a:r>
              <a:rPr lang="en-US" sz="2200" b="1" dirty="0">
                <a:solidFill>
                  <a:schemeClr val="accent1"/>
                </a:solidFill>
              </a:rPr>
              <a:t>月額 20万円</a:t>
            </a:r>
            <a:pPr indent="0" marL="0">
              <a:buNone/>
            </a:pPr>
            <a:r>
              <a:rPr lang="en-US" sz="1100" dirty="0">
                <a:solidFill>
                  <a:schemeClr val="accent6"/>
                </a:solidFill>
              </a:rPr>
              <a:t>〜（税別）</a:t>
            </a:r>
            <a:endParaRPr lang="en-US" sz="1400" dirty="0"/>
          </a:p>
        </p:txBody>
      </p:sp>
      <p:sp>
        <p:nvSpPr>
          <p:cNvPr id="13" name="Shape 11"/>
          <p:cNvSpPr/>
          <p:nvPr/>
        </p:nvSpPr>
        <p:spPr>
          <a:xfrm>
            <a:off x="4338218" y="1691165"/>
            <a:ext cx="3515258" cy="4597532"/>
          </a:xfrm>
          <a:prstGeom prst="roundRect">
            <a:avLst>
              <a:gd name="adj" fmla="val 2601"/>
            </a:avLst>
          </a:prstGeom>
          <a:solidFill>
            <a:schemeClr val="bg2"/>
          </a:solidFill>
          <a:ln w="19050">
            <a:solidFill>
              <a:srgbClr val="5B4FC4"/>
            </a:solidFill>
            <a:prstDash val="solid"/>
          </a:ln>
          <a:effectLst>
            <a:outerShdw sx="100000" sy="100000" kx="0" ky="0" algn="bl" rotWithShape="0" blurRad="63500" dist="15240" dir="5400000">
              <a:srgbClr val="1F2233">
                <a:alpha val="10000"/>
              </a:srgbClr>
            </a:outerShdw>
          </a:effectLst>
        </p:spPr>
      </p:sp>
      <p:sp>
        <p:nvSpPr>
          <p:cNvPr id="14" name="Text 12"/>
          <p:cNvSpPr txBox="1"/>
          <p:nvPr/>
        </p:nvSpPr>
        <p:spPr>
          <a:xfrm>
            <a:off x="6664757" y="1918459"/>
            <a:ext cx="960120" cy="289283"/>
          </a:xfrm>
          <a:prstGeom prst="roundRect">
            <a:avLst>
              <a:gd name="adj" fmla="val 18966"/>
            </a:avLst>
          </a:prstGeom>
          <a:solidFill>
            <a:schemeClr val="accent5"/>
          </a:solidFill>
          <a:ln/>
        </p:spPr>
        <p:txBody>
          <a:bodyPr wrap="square" lIns="0" tIns="0" rIns="0" bIns="0" rtlCol="0" anchor="ctr"/>
          <a:lstStyle/>
          <a:p>
            <a:pPr algn="ctr" indent="0" marL="0">
              <a:buNone/>
            </a:pPr>
            <a:r>
              <a:rPr lang="en-US" sz="1000" b="1" dirty="0">
                <a:solidFill>
                  <a:schemeClr val="bg1"/>
                </a:solidFill>
              </a:rPr>
              <a:t>おすすめ</a:t>
            </a:r>
            <a:endParaRPr lang="en-US" sz="1000" dirty="0"/>
          </a:p>
        </p:txBody>
      </p:sp>
      <p:sp>
        <p:nvSpPr>
          <p:cNvPr id="15" name="Text 13"/>
          <p:cNvSpPr txBox="1"/>
          <p:nvPr/>
        </p:nvSpPr>
        <p:spPr>
          <a:xfrm>
            <a:off x="4612538" y="1897796"/>
            <a:ext cx="1371600" cy="309946"/>
          </a:xfrm>
          <a:prstGeom prst="rect">
            <a:avLst/>
          </a:prstGeom>
          <a:noFill/>
          <a:ln/>
        </p:spPr>
        <p:txBody>
          <a:bodyPr wrap="square" lIns="0" tIns="0" rIns="0" bIns="0" rtlCol="0" anchor="t"/>
          <a:lstStyle/>
          <a:p>
            <a:pPr indent="0" marL="0">
              <a:buNone/>
            </a:pPr>
            <a:r>
              <a:rPr lang="en-US" sz="1200" b="1" dirty="0">
                <a:solidFill>
                  <a:schemeClr val="accent1"/>
                </a:solidFill>
              </a:rPr>
              <a:t>PLAN B</a:t>
            </a:r>
            <a:endParaRPr lang="en-US" sz="1200" dirty="0"/>
          </a:p>
        </p:txBody>
      </p:sp>
      <p:sp>
        <p:nvSpPr>
          <p:cNvPr id="16" name="Text 14"/>
          <p:cNvSpPr txBox="1"/>
          <p:nvPr/>
        </p:nvSpPr>
        <p:spPr>
          <a:xfrm>
            <a:off x="4612538" y="2207742"/>
            <a:ext cx="2966618" cy="433924"/>
          </a:xfrm>
          <a:prstGeom prst="rect">
            <a:avLst/>
          </a:prstGeom>
          <a:noFill/>
          <a:ln/>
        </p:spPr>
        <p:txBody>
          <a:bodyPr wrap="square" lIns="0" tIns="0" rIns="0" bIns="0" rtlCol="0" anchor="t"/>
          <a:lstStyle/>
          <a:p>
            <a:pPr indent="0" marL="0">
              <a:buNone/>
            </a:pPr>
            <a:r>
              <a:rPr lang="en-US" sz="1900" b="1" dirty="0">
                <a:solidFill>
                  <a:schemeClr val="tx2"/>
                </a:solidFill>
              </a:rPr>
              <a:t>伴走支援</a:t>
            </a:r>
            <a:endParaRPr lang="en-US" sz="1900" dirty="0"/>
          </a:p>
        </p:txBody>
      </p:sp>
      <p:sp>
        <p:nvSpPr>
          <p:cNvPr id="17" name="Text 15"/>
          <p:cNvSpPr txBox="1"/>
          <p:nvPr/>
        </p:nvSpPr>
        <p:spPr>
          <a:xfrm>
            <a:off x="4612538" y="2672661"/>
            <a:ext cx="2966618" cy="568234"/>
          </a:xfrm>
          <a:prstGeom prst="rect">
            <a:avLst/>
          </a:prstGeom>
          <a:noFill/>
          <a:ln/>
        </p:spPr>
        <p:txBody>
          <a:bodyPr wrap="square" lIns="0" tIns="0" rIns="0" bIns="0" rtlCol="0" anchor="t"/>
          <a:lstStyle/>
          <a:p>
            <a:pPr indent="0" marL="0">
              <a:buNone/>
            </a:pPr>
            <a:r>
              <a:rPr lang="en-US" sz="1200" dirty="0">
                <a:solidFill>
                  <a:schemeClr val="tx2"/>
                </a:solidFill>
              </a:rPr>
              <a:t>設計・設定から「型」づくり、社内展開まで一緒に進める</a:t>
            </a:r>
            <a:endParaRPr lang="en-US" sz="1200" dirty="0"/>
          </a:p>
        </p:txBody>
      </p:sp>
      <p:sp>
        <p:nvSpPr>
          <p:cNvPr id="18" name="Text 16"/>
          <p:cNvSpPr txBox="1"/>
          <p:nvPr/>
        </p:nvSpPr>
        <p:spPr>
          <a:xfrm>
            <a:off x="4612538" y="3292553"/>
            <a:ext cx="3058058" cy="185967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プラン A の内容（定例は隔週＋随時）</a:t>
            </a:r>
            <a:endParaRPr lang="en-US" sz="1200" dirty="0"/>
          </a:p>
          <a:p>
            <a:pPr marL="177800" indent="-177800">
              <a:spcAft>
                <a:spcPts val="500"/>
              </a:spcAft>
              <a:buSzPct val="100000"/>
              <a:buChar char="•"/>
            </a:pPr>
            <a:r>
              <a:rPr lang="en-US" sz="1200" dirty="0">
                <a:solidFill>
                  <a:schemeClr val="tx2"/>
                </a:solidFill>
              </a:rPr>
              <a:t>Drive 移行設計・管理者設定の支援</a:t>
            </a:r>
            <a:endParaRPr lang="en-US" sz="1200" dirty="0"/>
          </a:p>
          <a:p>
            <a:pPr marL="177800" indent="-177800">
              <a:spcAft>
                <a:spcPts val="500"/>
              </a:spcAft>
              <a:buSzPct val="100000"/>
              <a:buChar char="•"/>
            </a:pPr>
            <a:r>
              <a:rPr lang="en-US" sz="1200" dirty="0">
                <a:solidFill>
                  <a:schemeClr val="tx2"/>
                </a:solidFill>
              </a:rPr>
              <a:t>業務棚卸し・テンプレート／Gem 作成</a:t>
            </a:r>
            <a:endParaRPr lang="en-US" sz="1200" dirty="0"/>
          </a:p>
          <a:p>
            <a:pPr marL="177800" indent="-177800">
              <a:spcAft>
                <a:spcPts val="500"/>
              </a:spcAft>
              <a:buSzPct val="100000"/>
              <a:buChar char="•"/>
            </a:pPr>
            <a:r>
              <a:rPr lang="en-US" sz="1200" dirty="0">
                <a:solidFill>
                  <a:schemeClr val="tx2"/>
                </a:solidFill>
              </a:rPr>
              <a:t>月1回の勉強会・社内コーチ育成</a:t>
            </a:r>
            <a:endParaRPr lang="en-US" sz="1200" dirty="0"/>
          </a:p>
          <a:p>
            <a:pPr marL="177800" indent="-177800">
              <a:spcAft>
                <a:spcPts val="500"/>
              </a:spcAft>
              <a:buSzPct val="100000"/>
              <a:buChar char="•"/>
            </a:pPr>
            <a:r>
              <a:rPr lang="en-US" sz="1200" dirty="0">
                <a:solidFill>
                  <a:schemeClr val="tx2"/>
                </a:solidFill>
              </a:rPr>
              <a:t>効果測定レポート（月次）</a:t>
            </a:r>
            <a:endParaRPr lang="en-US" sz="1200" dirty="0"/>
          </a:p>
        </p:txBody>
      </p:sp>
      <p:sp>
        <p:nvSpPr>
          <p:cNvPr id="19" name="Shape 17"/>
          <p:cNvSpPr/>
          <p:nvPr/>
        </p:nvSpPr>
        <p:spPr>
          <a:xfrm>
            <a:off x="4612538" y="5203886"/>
            <a:ext cx="2966618" cy="0"/>
          </a:xfrm>
          <a:prstGeom prst="line">
            <a:avLst/>
          </a:prstGeom>
          <a:noFill/>
          <a:ln w="9525">
            <a:solidFill>
              <a:srgbClr val="C9C4EE"/>
            </a:solidFill>
            <a:prstDash val="solid"/>
          </a:ln>
        </p:spPr>
      </p:sp>
      <p:sp>
        <p:nvSpPr>
          <p:cNvPr id="20" name="Text 18"/>
          <p:cNvSpPr txBox="1"/>
          <p:nvPr/>
        </p:nvSpPr>
        <p:spPr>
          <a:xfrm>
            <a:off x="4612538" y="5307201"/>
            <a:ext cx="2966618" cy="289283"/>
          </a:xfrm>
          <a:prstGeom prst="rect">
            <a:avLst/>
          </a:prstGeom>
          <a:noFill/>
          <a:ln/>
        </p:spPr>
        <p:txBody>
          <a:bodyPr wrap="square" lIns="0" tIns="0" rIns="0" bIns="0" rtlCol="0" anchor="t"/>
          <a:lstStyle/>
          <a:p>
            <a:pPr indent="0" marL="0">
              <a:buNone/>
            </a:pPr>
            <a:r>
              <a:rPr lang="en-US" sz="1100" dirty="0">
                <a:solidFill>
                  <a:schemeClr val="accent6"/>
                </a:solidFill>
              </a:rPr>
              <a:t>期間：6ヶ月</a:t>
            </a:r>
            <a:endParaRPr lang="en-US" sz="1100" dirty="0"/>
          </a:p>
        </p:txBody>
      </p:sp>
      <p:sp>
        <p:nvSpPr>
          <p:cNvPr id="21" name="Text 19"/>
          <p:cNvSpPr txBox="1"/>
          <p:nvPr/>
        </p:nvSpPr>
        <p:spPr>
          <a:xfrm>
            <a:off x="4612538" y="5617147"/>
            <a:ext cx="2966618" cy="516577"/>
          </a:xfrm>
          <a:prstGeom prst="rect">
            <a:avLst/>
          </a:prstGeom>
          <a:noFill/>
          <a:ln/>
        </p:spPr>
        <p:txBody>
          <a:bodyPr wrap="square" lIns="0" tIns="0" rIns="0" bIns="0" rtlCol="0" anchor="ctr"/>
          <a:lstStyle/>
          <a:p>
            <a:pPr indent="0" marL="0">
              <a:buNone/>
            </a:pPr>
            <a:r>
              <a:rPr lang="en-US" sz="2200" b="1" dirty="0">
                <a:solidFill>
                  <a:schemeClr val="accent1"/>
                </a:solidFill>
              </a:rPr>
              <a:t>月額 40万円</a:t>
            </a:r>
            <a:pPr indent="0" marL="0">
              <a:buNone/>
            </a:pPr>
            <a:r>
              <a:rPr lang="en-US" sz="1100" dirty="0">
                <a:solidFill>
                  <a:schemeClr val="accent6"/>
                </a:solidFill>
              </a:rPr>
              <a:t>〜（税別）</a:t>
            </a:r>
            <a:endParaRPr lang="en-US" sz="1400" dirty="0"/>
          </a:p>
        </p:txBody>
      </p:sp>
      <p:sp>
        <p:nvSpPr>
          <p:cNvPr id="22" name="Shape 20"/>
          <p:cNvSpPr/>
          <p:nvPr/>
        </p:nvSpPr>
        <p:spPr>
          <a:xfrm>
            <a:off x="8127797" y="1691165"/>
            <a:ext cx="3515258" cy="4597532"/>
          </a:xfrm>
          <a:prstGeom prst="roundRect">
            <a:avLst>
              <a:gd name="adj" fmla="val 2601"/>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23" name="Text 21"/>
          <p:cNvSpPr txBox="1"/>
          <p:nvPr/>
        </p:nvSpPr>
        <p:spPr>
          <a:xfrm>
            <a:off x="8402117" y="1897796"/>
            <a:ext cx="1371600" cy="309946"/>
          </a:xfrm>
          <a:prstGeom prst="rect">
            <a:avLst/>
          </a:prstGeom>
          <a:noFill/>
          <a:ln/>
        </p:spPr>
        <p:txBody>
          <a:bodyPr wrap="square" lIns="0" tIns="0" rIns="0" bIns="0" rtlCol="0" anchor="t"/>
          <a:lstStyle/>
          <a:p>
            <a:pPr indent="0" marL="0">
              <a:buNone/>
            </a:pPr>
            <a:r>
              <a:rPr lang="en-US" sz="1200" b="1" dirty="0">
                <a:solidFill>
                  <a:schemeClr val="accent1"/>
                </a:solidFill>
              </a:rPr>
              <a:t>PLAN C</a:t>
            </a:r>
            <a:endParaRPr lang="en-US" sz="1200" dirty="0"/>
          </a:p>
        </p:txBody>
      </p:sp>
      <p:sp>
        <p:nvSpPr>
          <p:cNvPr id="24" name="Text 22"/>
          <p:cNvSpPr txBox="1"/>
          <p:nvPr/>
        </p:nvSpPr>
        <p:spPr>
          <a:xfrm>
            <a:off x="8402117" y="2207742"/>
            <a:ext cx="2966618" cy="433924"/>
          </a:xfrm>
          <a:prstGeom prst="rect">
            <a:avLst/>
          </a:prstGeom>
          <a:noFill/>
          <a:ln/>
        </p:spPr>
        <p:txBody>
          <a:bodyPr wrap="square" lIns="0" tIns="0" rIns="0" bIns="0" rtlCol="0" anchor="t"/>
          <a:lstStyle/>
          <a:p>
            <a:pPr indent="0" marL="0">
              <a:buNone/>
            </a:pPr>
            <a:r>
              <a:rPr lang="en-US" sz="1900" b="1" dirty="0">
                <a:solidFill>
                  <a:schemeClr val="tx2"/>
                </a:solidFill>
              </a:rPr>
              <a:t>実行支援</a:t>
            </a:r>
            <a:endParaRPr lang="en-US" sz="1900" dirty="0"/>
          </a:p>
        </p:txBody>
      </p:sp>
      <p:sp>
        <p:nvSpPr>
          <p:cNvPr id="25" name="Text 23"/>
          <p:cNvSpPr txBox="1"/>
          <p:nvPr/>
        </p:nvSpPr>
        <p:spPr>
          <a:xfrm>
            <a:off x="8402117" y="2672661"/>
            <a:ext cx="2966618" cy="568234"/>
          </a:xfrm>
          <a:prstGeom prst="rect">
            <a:avLst/>
          </a:prstGeom>
          <a:noFill/>
          <a:ln/>
        </p:spPr>
        <p:txBody>
          <a:bodyPr wrap="square" lIns="0" tIns="0" rIns="0" bIns="0" rtlCol="0" anchor="t"/>
          <a:lstStyle/>
          <a:p>
            <a:pPr indent="0" marL="0">
              <a:buNone/>
            </a:pPr>
            <a:r>
              <a:rPr lang="en-US" sz="1200" dirty="0">
                <a:solidFill>
                  <a:schemeClr val="tx2"/>
                </a:solidFill>
              </a:rPr>
              <a:t>移行作業や自動化の構築まで当社が実行する</a:t>
            </a:r>
            <a:endParaRPr lang="en-US" sz="1200" dirty="0"/>
          </a:p>
        </p:txBody>
      </p:sp>
      <p:sp>
        <p:nvSpPr>
          <p:cNvPr id="26" name="Text 24"/>
          <p:cNvSpPr txBox="1"/>
          <p:nvPr/>
        </p:nvSpPr>
        <p:spPr>
          <a:xfrm>
            <a:off x="8402117" y="3292553"/>
            <a:ext cx="3058058" cy="185967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プラン B の内容（定例は毎週＋随時）</a:t>
            </a:r>
            <a:endParaRPr lang="en-US" sz="1200" dirty="0"/>
          </a:p>
          <a:p>
            <a:pPr marL="177800" indent="-177800">
              <a:spcAft>
                <a:spcPts val="500"/>
              </a:spcAft>
              <a:buSzPct val="100000"/>
              <a:buChar char="•"/>
            </a:pPr>
            <a:r>
              <a:rPr lang="en-US" sz="1200" dirty="0">
                <a:solidFill>
                  <a:schemeClr val="tx2"/>
                </a:solidFill>
              </a:rPr>
              <a:t>移行作業の実施（代行）</a:t>
            </a:r>
            <a:endParaRPr lang="en-US" sz="1200" dirty="0"/>
          </a:p>
          <a:p>
            <a:pPr marL="177800" indent="-177800">
              <a:spcAft>
                <a:spcPts val="500"/>
              </a:spcAft>
              <a:buSzPct val="100000"/>
              <a:buChar char="•"/>
            </a:pPr>
            <a:r>
              <a:rPr lang="en-US" sz="1200" dirty="0">
                <a:solidFill>
                  <a:schemeClr val="tx2"/>
                </a:solidFill>
              </a:rPr>
              <a:t>業務自動化の構築（3件程度）</a:t>
            </a:r>
            <a:endParaRPr lang="en-US" sz="1200" dirty="0"/>
          </a:p>
          <a:p>
            <a:pPr marL="177800" indent="-177800">
              <a:spcAft>
                <a:spcPts val="500"/>
              </a:spcAft>
              <a:buSzPct val="100000"/>
              <a:buChar char="•"/>
            </a:pPr>
            <a:r>
              <a:rPr lang="en-US" sz="1200" dirty="0">
                <a:solidFill>
                  <a:schemeClr val="tx2"/>
                </a:solidFill>
              </a:rPr>
              <a:t>対象部門向け研修・動画教材の制作</a:t>
            </a:r>
            <a:endParaRPr lang="en-US" sz="1200" dirty="0"/>
          </a:p>
          <a:p>
            <a:pPr marL="177800" indent="-177800">
              <a:spcAft>
                <a:spcPts val="500"/>
              </a:spcAft>
              <a:buSzPct val="100000"/>
              <a:buChar char="•"/>
            </a:pPr>
            <a:r>
              <a:rPr lang="en-US" sz="1200" dirty="0">
                <a:solidFill>
                  <a:schemeClr val="tx2"/>
                </a:solidFill>
              </a:rPr>
              <a:t>各拠点での勉強会（現地・オンライン）</a:t>
            </a:r>
            <a:endParaRPr lang="en-US" sz="1200" dirty="0"/>
          </a:p>
        </p:txBody>
      </p:sp>
      <p:sp>
        <p:nvSpPr>
          <p:cNvPr id="27" name="Shape 25"/>
          <p:cNvSpPr/>
          <p:nvPr/>
        </p:nvSpPr>
        <p:spPr>
          <a:xfrm>
            <a:off x="8402117" y="5203886"/>
            <a:ext cx="2966618" cy="0"/>
          </a:xfrm>
          <a:prstGeom prst="line">
            <a:avLst/>
          </a:prstGeom>
          <a:noFill/>
          <a:ln w="9525">
            <a:solidFill>
              <a:srgbClr val="E2E1EE"/>
            </a:solidFill>
            <a:prstDash val="solid"/>
          </a:ln>
        </p:spPr>
      </p:sp>
      <p:sp>
        <p:nvSpPr>
          <p:cNvPr id="28" name="Text 26"/>
          <p:cNvSpPr txBox="1"/>
          <p:nvPr/>
        </p:nvSpPr>
        <p:spPr>
          <a:xfrm>
            <a:off x="8402117" y="5307201"/>
            <a:ext cx="2966618" cy="289283"/>
          </a:xfrm>
          <a:prstGeom prst="rect">
            <a:avLst/>
          </a:prstGeom>
          <a:noFill/>
          <a:ln/>
        </p:spPr>
        <p:txBody>
          <a:bodyPr wrap="square" lIns="0" tIns="0" rIns="0" bIns="0" rtlCol="0" anchor="t"/>
          <a:lstStyle/>
          <a:p>
            <a:pPr indent="0" marL="0">
              <a:buNone/>
            </a:pPr>
            <a:r>
              <a:rPr lang="en-US" sz="1100" dirty="0">
                <a:solidFill>
                  <a:schemeClr val="accent6"/>
                </a:solidFill>
              </a:rPr>
              <a:t>期間：6ヶ月</a:t>
            </a:r>
            <a:endParaRPr lang="en-US" sz="1100" dirty="0"/>
          </a:p>
        </p:txBody>
      </p:sp>
      <p:sp>
        <p:nvSpPr>
          <p:cNvPr id="29" name="Text 27"/>
          <p:cNvSpPr txBox="1"/>
          <p:nvPr/>
        </p:nvSpPr>
        <p:spPr>
          <a:xfrm>
            <a:off x="8402117" y="5617147"/>
            <a:ext cx="2966618" cy="516577"/>
          </a:xfrm>
          <a:prstGeom prst="rect">
            <a:avLst/>
          </a:prstGeom>
          <a:noFill/>
          <a:ln/>
        </p:spPr>
        <p:txBody>
          <a:bodyPr wrap="square" lIns="0" tIns="0" rIns="0" bIns="0" rtlCol="0" anchor="ctr"/>
          <a:lstStyle/>
          <a:p>
            <a:pPr indent="0" marL="0">
              <a:buNone/>
            </a:pPr>
            <a:r>
              <a:rPr lang="en-US" sz="2200" b="1" dirty="0">
                <a:solidFill>
                  <a:schemeClr val="accent1"/>
                </a:solidFill>
              </a:rPr>
              <a:t>月額 70万円</a:t>
            </a:r>
            <a:pPr indent="0" marL="0">
              <a:buNone/>
            </a:pPr>
            <a:r>
              <a:rPr lang="en-US" sz="1100" dirty="0">
                <a:solidFill>
                  <a:schemeClr val="accent6"/>
                </a:solidFill>
              </a:rPr>
              <a:t>〜（税別）</a:t>
            </a:r>
            <a:endParaRPr lang="en-US" sz="1400" dirty="0"/>
          </a:p>
        </p:txBody>
      </p:sp>
      <p:sp>
        <p:nvSpPr>
          <p:cNvPr id="30" name="source"/>
          <p:cNvSpPr txBox="1"/>
          <p:nvPr/>
        </p:nvSpPr>
        <p:spPr>
          <a:xfrm>
            <a:off x="548640" y="6336792"/>
            <a:ext cx="11094415" cy="201168"/>
          </a:xfrm>
          <a:prstGeom prst="rect">
            <a:avLst/>
          </a:prstGeom>
          <a:noFill/>
          <a:ln/>
        </p:spPr>
        <p:txBody>
          <a:bodyPr wrap="square" lIns="0" tIns="0" rIns="0" bIns="0" rtlCol="0" anchor="ctr"/>
          <a:lstStyle/>
          <a:p>
            <a:pPr indent="0" marL="0">
              <a:buNone/>
            </a:pPr>
            <a:r>
              <a:rPr lang="en-US" sz="900" dirty="0">
                <a:solidFill>
                  <a:schemeClr val="accent6"/>
                </a:solidFill>
              </a:rPr>
              <a:t>※ 参考価格（税別）。データ量・対象人数・エディションを確認のうえ正式にお見積りします。B は依頼範囲（課題分析〜実行支援）をすべてカバーするためおすすめです</a:t>
            </a:r>
            <a:endParaRPr lang="en-US" sz="9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費用対効果の考え方と効果測定（KPI）</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削減時間を金額に換算し、支援費用と比較できる形で毎月ご報告します（試算はテスト導入の実測値で更新）</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04｜進め方・体制・費用</a:t>
            </a:r>
            <a:endParaRPr lang="en-US" sz="900" dirty="0"/>
          </a:p>
        </p:txBody>
      </p:sp>
      <p:sp>
        <p:nvSpPr>
          <p:cNvPr id="5" name="Shape 3"/>
          <p:cNvSpPr/>
          <p:nvPr/>
        </p:nvSpPr>
        <p:spPr>
          <a:xfrm>
            <a:off x="548640" y="1639507"/>
            <a:ext cx="6035040" cy="4649190"/>
          </a:xfrm>
          <a:prstGeom prst="roundRect">
            <a:avLst>
              <a:gd name="adj" fmla="val 1967"/>
            </a:avLst>
          </a:prstGeom>
          <a:solidFill>
            <a:schemeClr val="bg1"/>
          </a:solidFill>
          <a:ln w="9525">
            <a:solidFill>
              <a:srgbClr val="E2E1EE"/>
            </a:solidFill>
            <a:prstDash val="solid"/>
          </a:ln>
        </p:spPr>
      </p:sp>
      <p:sp>
        <p:nvSpPr>
          <p:cNvPr id="6" name="Text 4"/>
          <p:cNvSpPr txBox="1"/>
          <p:nvPr/>
        </p:nvSpPr>
        <p:spPr>
          <a:xfrm>
            <a:off x="822960" y="1794480"/>
            <a:ext cx="5486400" cy="361604"/>
          </a:xfrm>
          <a:prstGeom prst="rect">
            <a:avLst/>
          </a:prstGeom>
          <a:noFill/>
          <a:ln/>
        </p:spPr>
        <p:txBody>
          <a:bodyPr wrap="square" lIns="0" tIns="0" rIns="0" bIns="0" rtlCol="0" anchor="t"/>
          <a:lstStyle/>
          <a:p>
            <a:pPr indent="0" marL="0">
              <a:buNone/>
            </a:pPr>
            <a:r>
              <a:rPr lang="en-US" sz="1500" b="1" dirty="0">
                <a:solidFill>
                  <a:schemeClr val="tx2"/>
                </a:solidFill>
              </a:rPr>
              <a:t>年間の削減効果（試算）</a:t>
            </a:r>
            <a:endParaRPr lang="en-US" sz="1500" dirty="0"/>
          </a:p>
        </p:txBody>
      </p:sp>
      <p:graphicFrame>
        <p:nvGraphicFramePr>
          <p:cNvPr id="7" name="Chart 0" descr=""/>
          <p:cNvGraphicFramePr/>
          <p:nvPr/>
        </p:nvGraphicFramePr>
        <p:xfrm>
          <a:off x="731520" y="2207742"/>
          <a:ext cx="5669280" cy="2686198"/>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822960" y="4945598"/>
            <a:ext cx="5623560" cy="1239784"/>
          </a:xfrm>
          <a:prstGeom prst="rect">
            <a:avLst/>
          </a:prstGeom>
          <a:noFill/>
          <a:ln/>
        </p:spPr>
        <p:txBody>
          <a:bodyPr wrap="square" lIns="0" tIns="0" rIns="0" bIns="0" rtlCol="0" anchor="t"/>
          <a:lstStyle/>
          <a:p>
            <a:pPr indent="0" marL="0">
              <a:spcAft>
                <a:spcPts val="300"/>
              </a:spcAft>
              <a:buNone/>
            </a:pPr>
            <a:r>
              <a:rPr lang="en-US" sz="1050" dirty="0">
                <a:solidFill>
                  <a:schemeClr val="tx1"/>
                </a:solidFill>
              </a:rPr>
              <a:t>前提：展開完了後の年換算（上限70名）・年48週・時間単価2,500円（貴社実績値に置換）</a:t>
            </a:r>
            <a:endParaRPr lang="en-US" sz="1050" dirty="0"/>
          </a:p>
          <a:p>
            <a:pPr indent="0" marL="0">
              <a:spcAft>
                <a:spcPts val="300"/>
              </a:spcAft>
              <a:buNone/>
            </a:pPr>
            <a:r>
              <a:rPr lang="en-US" sz="1050" dirty="0">
                <a:solidFill>
                  <a:schemeClr val="tx1"/>
                </a:solidFill>
              </a:rPr>
              <a:t>標準：70名×週1時間×48週＝年3,360時間≒840万円（プランB 6ヶ月は240万円〜）</a:t>
            </a:r>
            <a:endParaRPr lang="en-US" sz="1050" dirty="0"/>
          </a:p>
          <a:p>
            <a:pPr indent="0" marL="0">
              <a:spcAft>
                <a:spcPts val="300"/>
              </a:spcAft>
              <a:buNone/>
            </a:pPr>
            <a:r>
              <a:rPr lang="en-US" sz="1050" dirty="0">
                <a:solidFill>
                  <a:schemeClr val="tx1"/>
                </a:solidFill>
              </a:rPr>
              <a:t>参考：Gemini 利用者の削減時間は平均週105分（Google 調査・2024年・自己申告）</a:t>
            </a:r>
            <a:endParaRPr lang="en-US" sz="1050" dirty="0"/>
          </a:p>
        </p:txBody>
      </p:sp>
      <p:sp>
        <p:nvSpPr>
          <p:cNvPr id="9" name="Text 6"/>
          <p:cNvSpPr txBox="1"/>
          <p:nvPr/>
        </p:nvSpPr>
        <p:spPr>
          <a:xfrm>
            <a:off x="6903720" y="1639507"/>
            <a:ext cx="4739335" cy="361604"/>
          </a:xfrm>
          <a:prstGeom prst="rect">
            <a:avLst/>
          </a:prstGeom>
          <a:noFill/>
          <a:ln/>
        </p:spPr>
        <p:txBody>
          <a:bodyPr wrap="square" lIns="0" tIns="0" rIns="0" bIns="0" rtlCol="0" anchor="t"/>
          <a:lstStyle/>
          <a:p>
            <a:pPr indent="0" marL="0">
              <a:buNone/>
            </a:pPr>
            <a:r>
              <a:rPr lang="en-US" sz="1500" b="1" dirty="0">
                <a:solidFill>
                  <a:schemeClr val="tx2"/>
                </a:solidFill>
              </a:rPr>
              <a:t>毎月追う指標（KPI案）</a:t>
            </a:r>
            <a:endParaRPr lang="en-US" sz="1500" dirty="0"/>
          </a:p>
        </p:txBody>
      </p:sp>
      <p:pic>
        <p:nvPicPr>
          <p:cNvPr id="10" name="Image 0" descr="stopwatch">    </p:cNvPr>
          <p:cNvPicPr>
            <a:picLocks noChangeAspect="1"/>
          </p:cNvPicPr>
          <p:nvPr/>
        </p:nvPicPr>
        <p:blipFill>
          <a:blip r:embed="rId2"/>
          <a:stretch>
            <a:fillRect/>
          </a:stretch>
        </p:blipFill>
        <p:spPr>
          <a:xfrm>
            <a:off x="6892290" y="2205337"/>
            <a:ext cx="480060" cy="480060"/>
          </a:xfrm>
          <a:prstGeom prst="rect">
            <a:avLst/>
          </a:prstGeom>
        </p:spPr>
      </p:pic>
      <p:sp>
        <p:nvSpPr>
          <p:cNvPr id="11" name="Text 7"/>
          <p:cNvSpPr txBox="1"/>
          <p:nvPr/>
        </p:nvSpPr>
        <p:spPr>
          <a:xfrm>
            <a:off x="7498080" y="2104426"/>
            <a:ext cx="4144975" cy="330609"/>
          </a:xfrm>
          <a:prstGeom prst="rect">
            <a:avLst/>
          </a:prstGeom>
          <a:noFill/>
          <a:ln/>
        </p:spPr>
        <p:txBody>
          <a:bodyPr wrap="square" lIns="0" tIns="0" rIns="0" bIns="0" rtlCol="0" anchor="t"/>
          <a:lstStyle/>
          <a:p>
            <a:pPr indent="0" marL="0">
              <a:buNone/>
            </a:pPr>
            <a:r>
              <a:rPr lang="en-US" sz="1300" b="1" dirty="0">
                <a:solidFill>
                  <a:schemeClr val="tx2"/>
                </a:solidFill>
              </a:rPr>
              <a:t>削減時間（時間／人・月）</a:t>
            </a:r>
            <a:endParaRPr lang="en-US" sz="1300" dirty="0"/>
          </a:p>
        </p:txBody>
      </p:sp>
      <p:sp>
        <p:nvSpPr>
          <p:cNvPr id="12" name="Text 8"/>
          <p:cNvSpPr txBox="1"/>
          <p:nvPr/>
        </p:nvSpPr>
        <p:spPr>
          <a:xfrm>
            <a:off x="7498080" y="2445367"/>
            <a:ext cx="4144975" cy="433924"/>
          </a:xfrm>
          <a:prstGeom prst="rect">
            <a:avLst/>
          </a:prstGeom>
          <a:noFill/>
          <a:ln/>
        </p:spPr>
        <p:txBody>
          <a:bodyPr wrap="square" lIns="0" tIns="0" rIns="0" bIns="0" rtlCol="0" anchor="t"/>
          <a:lstStyle/>
          <a:p>
            <a:pPr indent="0" marL="0">
              <a:buNone/>
            </a:pPr>
            <a:r>
              <a:rPr lang="en-US" sz="1100" dirty="0">
                <a:solidFill>
                  <a:schemeClr val="tx1"/>
                </a:solidFill>
              </a:rPr>
              <a:t>対象業務ごとに作業時間を事前・事後で計測</a:t>
            </a:r>
            <a:endParaRPr lang="en-US" sz="1100" dirty="0"/>
          </a:p>
        </p:txBody>
      </p:sp>
      <p:pic>
        <p:nvPicPr>
          <p:cNvPr id="13" name="Image 1" descr="busts-in-silhouette">    </p:cNvPr>
          <p:cNvPicPr>
            <a:picLocks noChangeAspect="1"/>
          </p:cNvPicPr>
          <p:nvPr/>
        </p:nvPicPr>
        <p:blipFill>
          <a:blip r:embed="rId3"/>
          <a:stretch>
            <a:fillRect/>
          </a:stretch>
        </p:blipFill>
        <p:spPr>
          <a:xfrm>
            <a:off x="6892290" y="3042191"/>
            <a:ext cx="480060" cy="480060"/>
          </a:xfrm>
          <a:prstGeom prst="rect">
            <a:avLst/>
          </a:prstGeom>
        </p:spPr>
      </p:pic>
      <p:sp>
        <p:nvSpPr>
          <p:cNvPr id="14" name="Text 9"/>
          <p:cNvSpPr txBox="1"/>
          <p:nvPr/>
        </p:nvSpPr>
        <p:spPr>
          <a:xfrm>
            <a:off x="7498080" y="2941280"/>
            <a:ext cx="4144975" cy="330609"/>
          </a:xfrm>
          <a:prstGeom prst="rect">
            <a:avLst/>
          </a:prstGeom>
          <a:noFill/>
          <a:ln/>
        </p:spPr>
        <p:txBody>
          <a:bodyPr wrap="square" lIns="0" tIns="0" rIns="0" bIns="0" rtlCol="0" anchor="t"/>
          <a:lstStyle/>
          <a:p>
            <a:pPr indent="0" marL="0">
              <a:buNone/>
            </a:pPr>
            <a:r>
              <a:rPr lang="en-US" sz="1300" b="1" dirty="0">
                <a:solidFill>
                  <a:schemeClr val="tx2"/>
                </a:solidFill>
              </a:rPr>
              <a:t>利用率（週1回以上の利用者割合）</a:t>
            </a:r>
            <a:endParaRPr lang="en-US" sz="1300" dirty="0"/>
          </a:p>
        </p:txBody>
      </p:sp>
      <p:sp>
        <p:nvSpPr>
          <p:cNvPr id="15" name="Text 10"/>
          <p:cNvSpPr txBox="1"/>
          <p:nvPr/>
        </p:nvSpPr>
        <p:spPr>
          <a:xfrm>
            <a:off x="7498080" y="3282221"/>
            <a:ext cx="4144975" cy="433924"/>
          </a:xfrm>
          <a:prstGeom prst="rect">
            <a:avLst/>
          </a:prstGeom>
          <a:noFill/>
          <a:ln/>
        </p:spPr>
        <p:txBody>
          <a:bodyPr wrap="square" lIns="0" tIns="0" rIns="0" bIns="0" rtlCol="0" anchor="t"/>
          <a:lstStyle/>
          <a:p>
            <a:pPr indent="0" marL="0">
              <a:buNone/>
            </a:pPr>
            <a:r>
              <a:rPr lang="en-US" sz="1100" dirty="0">
                <a:solidFill>
                  <a:schemeClr val="tx1"/>
                </a:solidFill>
              </a:rPr>
              <a:t>管理コンソールのレポートで部門別に確認</a:t>
            </a:r>
            <a:endParaRPr lang="en-US" sz="1100" dirty="0"/>
          </a:p>
        </p:txBody>
      </p:sp>
      <p:pic>
        <p:nvPicPr>
          <p:cNvPr id="16" name="Image 2" descr="trophy">    </p:cNvPr>
          <p:cNvPicPr>
            <a:picLocks noChangeAspect="1"/>
          </p:cNvPicPr>
          <p:nvPr/>
        </p:nvPicPr>
        <p:blipFill>
          <a:blip r:embed="rId4"/>
          <a:stretch>
            <a:fillRect/>
          </a:stretch>
        </p:blipFill>
        <p:spPr>
          <a:xfrm>
            <a:off x="6892290" y="3879045"/>
            <a:ext cx="480060" cy="480060"/>
          </a:xfrm>
          <a:prstGeom prst="rect">
            <a:avLst/>
          </a:prstGeom>
        </p:spPr>
      </p:pic>
      <p:sp>
        <p:nvSpPr>
          <p:cNvPr id="17" name="Text 11"/>
          <p:cNvSpPr txBox="1"/>
          <p:nvPr/>
        </p:nvSpPr>
        <p:spPr>
          <a:xfrm>
            <a:off x="7498080" y="3778135"/>
            <a:ext cx="4144975" cy="330609"/>
          </a:xfrm>
          <a:prstGeom prst="rect">
            <a:avLst/>
          </a:prstGeom>
          <a:noFill/>
          <a:ln/>
        </p:spPr>
        <p:txBody>
          <a:bodyPr wrap="square" lIns="0" tIns="0" rIns="0" bIns="0" rtlCol="0" anchor="t"/>
          <a:lstStyle/>
          <a:p>
            <a:pPr indent="0" marL="0">
              <a:buNone/>
            </a:pPr>
            <a:r>
              <a:rPr lang="en-US" sz="1300" b="1" dirty="0">
                <a:solidFill>
                  <a:schemeClr val="tx2"/>
                </a:solidFill>
              </a:rPr>
              <a:t>テンプレート・Gem の利用数</a:t>
            </a:r>
            <a:endParaRPr lang="en-US" sz="1300" dirty="0"/>
          </a:p>
        </p:txBody>
      </p:sp>
      <p:sp>
        <p:nvSpPr>
          <p:cNvPr id="18" name="Text 12"/>
          <p:cNvSpPr txBox="1"/>
          <p:nvPr/>
        </p:nvSpPr>
        <p:spPr>
          <a:xfrm>
            <a:off x="7498080" y="4119075"/>
            <a:ext cx="4144975" cy="433924"/>
          </a:xfrm>
          <a:prstGeom prst="rect">
            <a:avLst/>
          </a:prstGeom>
          <a:noFill/>
          <a:ln/>
        </p:spPr>
        <p:txBody>
          <a:bodyPr wrap="square" lIns="0" tIns="0" rIns="0" bIns="0" rtlCol="0" anchor="t"/>
          <a:lstStyle/>
          <a:p>
            <a:pPr indent="0" marL="0">
              <a:buNone/>
            </a:pPr>
            <a:r>
              <a:rPr lang="en-US" sz="1100" dirty="0">
                <a:solidFill>
                  <a:schemeClr val="tx1"/>
                </a:solidFill>
              </a:rPr>
              <a:t>よく使われる「型」を把握し、改善・横展開</a:t>
            </a:r>
            <a:endParaRPr lang="en-US" sz="1100" dirty="0"/>
          </a:p>
        </p:txBody>
      </p:sp>
      <p:pic>
        <p:nvPicPr>
          <p:cNvPr id="19" name="Image 3" descr="card-index-dividers">    </p:cNvPr>
          <p:cNvPicPr>
            <a:picLocks noChangeAspect="1"/>
          </p:cNvPicPr>
          <p:nvPr/>
        </p:nvPicPr>
        <p:blipFill>
          <a:blip r:embed="rId5"/>
          <a:stretch>
            <a:fillRect/>
          </a:stretch>
        </p:blipFill>
        <p:spPr>
          <a:xfrm>
            <a:off x="6892290" y="4715899"/>
            <a:ext cx="480060" cy="480060"/>
          </a:xfrm>
          <a:prstGeom prst="rect">
            <a:avLst/>
          </a:prstGeom>
        </p:spPr>
      </p:pic>
      <p:sp>
        <p:nvSpPr>
          <p:cNvPr id="20" name="Text 13"/>
          <p:cNvSpPr txBox="1"/>
          <p:nvPr/>
        </p:nvSpPr>
        <p:spPr>
          <a:xfrm>
            <a:off x="7498080" y="4614989"/>
            <a:ext cx="4144975" cy="330609"/>
          </a:xfrm>
          <a:prstGeom prst="rect">
            <a:avLst/>
          </a:prstGeom>
          <a:noFill/>
          <a:ln/>
        </p:spPr>
        <p:txBody>
          <a:bodyPr wrap="square" lIns="0" tIns="0" rIns="0" bIns="0" rtlCol="0" anchor="t"/>
          <a:lstStyle/>
          <a:p>
            <a:pPr indent="0" marL="0">
              <a:buNone/>
            </a:pPr>
            <a:r>
              <a:rPr lang="en-US" sz="1300" b="1" dirty="0">
                <a:solidFill>
                  <a:schemeClr val="tx2"/>
                </a:solidFill>
              </a:rPr>
              <a:t>Drive 移行率・外部共有リンク数</a:t>
            </a:r>
            <a:endParaRPr lang="en-US" sz="1300" dirty="0"/>
          </a:p>
        </p:txBody>
      </p:sp>
      <p:sp>
        <p:nvSpPr>
          <p:cNvPr id="21" name="Text 14"/>
          <p:cNvSpPr txBox="1"/>
          <p:nvPr/>
        </p:nvSpPr>
        <p:spPr>
          <a:xfrm>
            <a:off x="7498080" y="4955929"/>
            <a:ext cx="4144975" cy="433924"/>
          </a:xfrm>
          <a:prstGeom prst="rect">
            <a:avLst/>
          </a:prstGeom>
          <a:noFill/>
          <a:ln/>
        </p:spPr>
        <p:txBody>
          <a:bodyPr wrap="square" lIns="0" tIns="0" rIns="0" bIns="0" rtlCol="0" anchor="t"/>
          <a:lstStyle/>
          <a:p>
            <a:pPr indent="0" marL="0">
              <a:buNone/>
            </a:pPr>
            <a:r>
              <a:rPr lang="en-US" sz="1100" dirty="0">
                <a:solidFill>
                  <a:schemeClr val="tx1"/>
                </a:solidFill>
              </a:rPr>
              <a:t>移行の進捗とセキュリティ状態をあわせて確認</a:t>
            </a:r>
            <a:endParaRPr lang="en-US" sz="1100" dirty="0"/>
          </a:p>
        </p:txBody>
      </p:sp>
      <p:pic>
        <p:nvPicPr>
          <p:cNvPr id="22" name="Image 4" descr="yen-banknote">    </p:cNvPr>
          <p:cNvPicPr>
            <a:picLocks noChangeAspect="1"/>
          </p:cNvPicPr>
          <p:nvPr/>
        </p:nvPicPr>
        <p:blipFill>
          <a:blip r:embed="rId6"/>
          <a:stretch>
            <a:fillRect/>
          </a:stretch>
        </p:blipFill>
        <p:spPr>
          <a:xfrm>
            <a:off x="6892290" y="5552753"/>
            <a:ext cx="480060" cy="480060"/>
          </a:xfrm>
          <a:prstGeom prst="rect">
            <a:avLst/>
          </a:prstGeom>
        </p:spPr>
      </p:pic>
      <p:sp>
        <p:nvSpPr>
          <p:cNvPr id="23" name="Text 15"/>
          <p:cNvSpPr txBox="1"/>
          <p:nvPr/>
        </p:nvSpPr>
        <p:spPr>
          <a:xfrm>
            <a:off x="7498080" y="5451843"/>
            <a:ext cx="4144975" cy="330609"/>
          </a:xfrm>
          <a:prstGeom prst="rect">
            <a:avLst/>
          </a:prstGeom>
          <a:noFill/>
          <a:ln/>
        </p:spPr>
        <p:txBody>
          <a:bodyPr wrap="square" lIns="0" tIns="0" rIns="0" bIns="0" rtlCol="0" anchor="t"/>
          <a:lstStyle/>
          <a:p>
            <a:pPr indent="0" marL="0">
              <a:buNone/>
            </a:pPr>
            <a:r>
              <a:rPr lang="en-US" sz="1300" b="1" dirty="0">
                <a:solidFill>
                  <a:schemeClr val="tx2"/>
                </a:solidFill>
              </a:rPr>
              <a:t>Dropbox 解約によるコスト削減</a:t>
            </a:r>
            <a:endParaRPr lang="en-US" sz="1300" dirty="0"/>
          </a:p>
        </p:txBody>
      </p:sp>
      <p:sp>
        <p:nvSpPr>
          <p:cNvPr id="24" name="Text 16"/>
          <p:cNvSpPr txBox="1"/>
          <p:nvPr/>
        </p:nvSpPr>
        <p:spPr>
          <a:xfrm>
            <a:off x="7498080" y="5792783"/>
            <a:ext cx="4144975" cy="433924"/>
          </a:xfrm>
          <a:prstGeom prst="rect">
            <a:avLst/>
          </a:prstGeom>
          <a:noFill/>
          <a:ln/>
        </p:spPr>
        <p:txBody>
          <a:bodyPr wrap="square" lIns="0" tIns="0" rIns="0" bIns="0" rtlCol="0" anchor="t"/>
          <a:lstStyle/>
          <a:p>
            <a:pPr indent="0" marL="0">
              <a:buNone/>
            </a:pPr>
            <a:r>
              <a:rPr lang="en-US" sz="1100" dirty="0">
                <a:solidFill>
                  <a:schemeClr val="tx1"/>
                </a:solidFill>
              </a:rPr>
              <a:t>ツール費用の一本化効果を金額で把握</a:t>
            </a:r>
            <a:endParaRPr lang="en-US" sz="11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推進体制（案）</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ご担当者様をプロジェクトの中心に据え、当社は「伴走者」として知見と手を提供します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04｜進め方・体制・費用</a:t>
            </a:r>
            <a:endParaRPr lang="en-US" sz="900" dirty="0"/>
          </a:p>
        </p:txBody>
      </p:sp>
      <p:sp>
        <p:nvSpPr>
          <p:cNvPr id="5" name="Shape 3"/>
          <p:cNvSpPr/>
          <p:nvPr/>
        </p:nvSpPr>
        <p:spPr>
          <a:xfrm>
            <a:off x="548640" y="1639507"/>
            <a:ext cx="4952848" cy="3977640"/>
          </a:xfrm>
          <a:prstGeom prst="roundRect">
            <a:avLst>
              <a:gd name="adj" fmla="val 2299"/>
            </a:avLst>
          </a:prstGeom>
          <a:solidFill>
            <a:schemeClr val="accent1">
              <a:alpha val="7000"/>
            </a:schemeClr>
          </a:solidFill>
          <a:ln/>
        </p:spPr>
      </p:sp>
      <p:sp>
        <p:nvSpPr>
          <p:cNvPr id="6" name="Text 4"/>
          <p:cNvSpPr txBox="1"/>
          <p:nvPr/>
        </p:nvSpPr>
        <p:spPr>
          <a:xfrm>
            <a:off x="822960" y="1794480"/>
            <a:ext cx="4404208" cy="361604"/>
          </a:xfrm>
          <a:prstGeom prst="rect">
            <a:avLst/>
          </a:prstGeom>
          <a:noFill/>
          <a:ln/>
        </p:spPr>
        <p:txBody>
          <a:bodyPr wrap="square" lIns="0" tIns="0" rIns="0" bIns="0" rtlCol="0" anchor="t"/>
          <a:lstStyle/>
          <a:p>
            <a:pPr indent="0" marL="0">
              <a:buNone/>
            </a:pPr>
            <a:r>
              <a:rPr lang="en-US" sz="1500" b="1" dirty="0">
                <a:solidFill>
                  <a:schemeClr val="tx2"/>
                </a:solidFill>
              </a:rPr>
              <a:t>株式会社サカイ様</a:t>
            </a:r>
            <a:endParaRPr lang="en-US" sz="1500" dirty="0"/>
          </a:p>
        </p:txBody>
      </p:sp>
      <p:sp>
        <p:nvSpPr>
          <p:cNvPr id="7" name="Shape 5"/>
          <p:cNvSpPr/>
          <p:nvPr/>
        </p:nvSpPr>
        <p:spPr>
          <a:xfrm>
            <a:off x="822960" y="2207742"/>
            <a:ext cx="4404208" cy="1012490"/>
          </a:xfrm>
          <a:prstGeom prst="roundRect">
            <a:avLst>
              <a:gd name="adj" fmla="val 9031"/>
            </a:avLst>
          </a:prstGeom>
          <a:solidFill>
            <a:schemeClr val="bg1"/>
          </a:solidFill>
          <a:ln w="9525">
            <a:solidFill>
              <a:srgbClr val="E2E1EE"/>
            </a:solidFill>
            <a:prstDash val="solid"/>
          </a:ln>
        </p:spPr>
      </p:sp>
      <p:pic>
        <p:nvPicPr>
          <p:cNvPr id="8" name="Image 0" descr="man-office-worker">    </p:cNvPr>
          <p:cNvPicPr>
            <a:picLocks noChangeAspect="1"/>
          </p:cNvPicPr>
          <p:nvPr/>
        </p:nvPicPr>
        <p:blipFill>
          <a:blip r:embed="rId1"/>
          <a:stretch>
            <a:fillRect/>
          </a:stretch>
        </p:blipFill>
        <p:spPr>
          <a:xfrm>
            <a:off x="947547" y="2444788"/>
            <a:ext cx="528066" cy="528066"/>
          </a:xfrm>
          <a:prstGeom prst="rect">
            <a:avLst/>
          </a:prstGeom>
        </p:spPr>
      </p:pic>
      <p:sp>
        <p:nvSpPr>
          <p:cNvPr id="9" name="Text 6"/>
          <p:cNvSpPr txBox="1"/>
          <p:nvPr/>
        </p:nvSpPr>
        <p:spPr>
          <a:xfrm>
            <a:off x="1600200" y="2311057"/>
            <a:ext cx="3489808" cy="361604"/>
          </a:xfrm>
          <a:prstGeom prst="rect">
            <a:avLst/>
          </a:prstGeom>
          <a:noFill/>
          <a:ln/>
        </p:spPr>
        <p:txBody>
          <a:bodyPr wrap="square" lIns="0" tIns="0" rIns="0" bIns="0" rtlCol="0" anchor="t"/>
          <a:lstStyle/>
          <a:p>
            <a:pPr indent="0" marL="0">
              <a:buNone/>
            </a:pPr>
            <a:r>
              <a:rPr lang="en-US" sz="1400" b="1" dirty="0">
                <a:solidFill>
                  <a:schemeClr val="tx2"/>
                </a:solidFill>
              </a:rPr>
              <a:t>代表取締役</a:t>
            </a:r>
            <a:endParaRPr lang="en-US" sz="1400" dirty="0"/>
          </a:p>
        </p:txBody>
      </p:sp>
      <p:sp>
        <p:nvSpPr>
          <p:cNvPr id="10" name="Text 7"/>
          <p:cNvSpPr txBox="1"/>
          <p:nvPr/>
        </p:nvSpPr>
        <p:spPr>
          <a:xfrm>
            <a:off x="1600200" y="2672661"/>
            <a:ext cx="3489808" cy="568234"/>
          </a:xfrm>
          <a:prstGeom prst="rect">
            <a:avLst/>
          </a:prstGeom>
          <a:noFill/>
          <a:ln/>
        </p:spPr>
        <p:txBody>
          <a:bodyPr wrap="square" lIns="0" tIns="0" rIns="0" bIns="0" rtlCol="0" anchor="t"/>
          <a:lstStyle/>
          <a:p>
            <a:pPr indent="0" marL="0">
              <a:buNone/>
            </a:pPr>
            <a:r>
              <a:rPr lang="en-US" sz="1200" dirty="0">
                <a:solidFill>
                  <a:schemeClr val="tx1"/>
                </a:solidFill>
              </a:rPr>
              <a:t>方針決定・最終承認（月次会議での報告先）</a:t>
            </a:r>
            <a:endParaRPr lang="en-US" sz="1200" dirty="0"/>
          </a:p>
        </p:txBody>
      </p:sp>
      <p:sp>
        <p:nvSpPr>
          <p:cNvPr id="11" name="Shape 8"/>
          <p:cNvSpPr/>
          <p:nvPr/>
        </p:nvSpPr>
        <p:spPr>
          <a:xfrm>
            <a:off x="822960" y="3323547"/>
            <a:ext cx="4404208" cy="1012490"/>
          </a:xfrm>
          <a:prstGeom prst="roundRect">
            <a:avLst>
              <a:gd name="adj" fmla="val 9031"/>
            </a:avLst>
          </a:prstGeom>
          <a:solidFill>
            <a:schemeClr val="bg1"/>
          </a:solidFill>
          <a:ln w="9525">
            <a:solidFill>
              <a:srgbClr val="E2E1EE"/>
            </a:solidFill>
            <a:prstDash val="solid"/>
          </a:ln>
        </p:spPr>
      </p:sp>
      <p:pic>
        <p:nvPicPr>
          <p:cNvPr id="12" name="Image 1" descr="woman-office-worker">    </p:cNvPr>
          <p:cNvPicPr>
            <a:picLocks noChangeAspect="1"/>
          </p:cNvPicPr>
          <p:nvPr/>
        </p:nvPicPr>
        <p:blipFill>
          <a:blip r:embed="rId2"/>
          <a:stretch>
            <a:fillRect/>
          </a:stretch>
        </p:blipFill>
        <p:spPr>
          <a:xfrm>
            <a:off x="947547" y="3560593"/>
            <a:ext cx="528066" cy="528066"/>
          </a:xfrm>
          <a:prstGeom prst="rect">
            <a:avLst/>
          </a:prstGeom>
        </p:spPr>
      </p:pic>
      <p:sp>
        <p:nvSpPr>
          <p:cNvPr id="13" name="Text 9"/>
          <p:cNvSpPr txBox="1"/>
          <p:nvPr/>
        </p:nvSpPr>
        <p:spPr>
          <a:xfrm>
            <a:off x="1600200" y="3426862"/>
            <a:ext cx="3489808" cy="361604"/>
          </a:xfrm>
          <a:prstGeom prst="rect">
            <a:avLst/>
          </a:prstGeom>
          <a:noFill/>
          <a:ln/>
        </p:spPr>
        <p:txBody>
          <a:bodyPr wrap="square" lIns="0" tIns="0" rIns="0" bIns="0" rtlCol="0" anchor="t"/>
          <a:lstStyle/>
          <a:p>
            <a:pPr indent="0" marL="0">
              <a:buNone/>
            </a:pPr>
            <a:r>
              <a:rPr lang="en-US" sz="1400" b="1" dirty="0">
                <a:solidFill>
                  <a:schemeClr val="tx2"/>
                </a:solidFill>
              </a:rPr>
              <a:t>DX推進ご担当者様</a:t>
            </a:r>
            <a:endParaRPr lang="en-US" sz="1400" dirty="0"/>
          </a:p>
        </p:txBody>
      </p:sp>
      <p:sp>
        <p:nvSpPr>
          <p:cNvPr id="14" name="Text 10"/>
          <p:cNvSpPr txBox="1"/>
          <p:nvPr/>
        </p:nvSpPr>
        <p:spPr>
          <a:xfrm>
            <a:off x="1600200" y="3788466"/>
            <a:ext cx="3489808" cy="568234"/>
          </a:xfrm>
          <a:prstGeom prst="rect">
            <a:avLst/>
          </a:prstGeom>
          <a:noFill/>
          <a:ln/>
        </p:spPr>
        <p:txBody>
          <a:bodyPr wrap="square" lIns="0" tIns="0" rIns="0" bIns="0" rtlCol="0" anchor="t"/>
          <a:lstStyle/>
          <a:p>
            <a:pPr indent="0" marL="0">
              <a:buNone/>
            </a:pPr>
            <a:r>
              <a:rPr lang="en-US" sz="1200" dirty="0">
                <a:solidFill>
                  <a:schemeClr val="tx1"/>
                </a:solidFill>
              </a:rPr>
              <a:t>プロジェクトオーナー。社内調整・優先度判断を担い、社内コーチとして展開をリード</a:t>
            </a:r>
            <a:endParaRPr lang="en-US" sz="1200" dirty="0"/>
          </a:p>
        </p:txBody>
      </p:sp>
      <p:sp>
        <p:nvSpPr>
          <p:cNvPr id="15" name="Shape 11"/>
          <p:cNvSpPr/>
          <p:nvPr/>
        </p:nvSpPr>
        <p:spPr>
          <a:xfrm>
            <a:off x="822960" y="4439353"/>
            <a:ext cx="4404208" cy="1012490"/>
          </a:xfrm>
          <a:prstGeom prst="roundRect">
            <a:avLst>
              <a:gd name="adj" fmla="val 9031"/>
            </a:avLst>
          </a:prstGeom>
          <a:solidFill>
            <a:schemeClr val="bg1"/>
          </a:solidFill>
          <a:ln w="9525">
            <a:solidFill>
              <a:srgbClr val="E2E1EE"/>
            </a:solidFill>
            <a:prstDash val="solid"/>
          </a:ln>
        </p:spPr>
      </p:sp>
      <p:pic>
        <p:nvPicPr>
          <p:cNvPr id="16" name="Image 2" descr="busts-in-silhouette">    </p:cNvPr>
          <p:cNvPicPr>
            <a:picLocks noChangeAspect="1"/>
          </p:cNvPicPr>
          <p:nvPr/>
        </p:nvPicPr>
        <p:blipFill>
          <a:blip r:embed="rId3"/>
          <a:stretch>
            <a:fillRect/>
          </a:stretch>
        </p:blipFill>
        <p:spPr>
          <a:xfrm>
            <a:off x="947547" y="4676399"/>
            <a:ext cx="528066" cy="528066"/>
          </a:xfrm>
          <a:prstGeom prst="rect">
            <a:avLst/>
          </a:prstGeom>
        </p:spPr>
      </p:pic>
      <p:sp>
        <p:nvSpPr>
          <p:cNvPr id="17" name="Text 12"/>
          <p:cNvSpPr txBox="1"/>
          <p:nvPr/>
        </p:nvSpPr>
        <p:spPr>
          <a:xfrm>
            <a:off x="1600200" y="4542668"/>
            <a:ext cx="3489808" cy="361604"/>
          </a:xfrm>
          <a:prstGeom prst="rect">
            <a:avLst/>
          </a:prstGeom>
          <a:noFill/>
          <a:ln/>
        </p:spPr>
        <p:txBody>
          <a:bodyPr wrap="square" lIns="0" tIns="0" rIns="0" bIns="0" rtlCol="0" anchor="t"/>
          <a:lstStyle/>
          <a:p>
            <a:pPr indent="0" marL="0">
              <a:buNone/>
            </a:pPr>
            <a:r>
              <a:rPr lang="en-US" sz="1400" b="1" dirty="0">
                <a:solidFill>
                  <a:schemeClr val="tx2"/>
                </a:solidFill>
              </a:rPr>
              <a:t>各部門のキーパーソン</a:t>
            </a:r>
            <a:endParaRPr lang="en-US" sz="1400" dirty="0"/>
          </a:p>
        </p:txBody>
      </p:sp>
      <p:sp>
        <p:nvSpPr>
          <p:cNvPr id="18" name="Text 13"/>
          <p:cNvSpPr txBox="1"/>
          <p:nvPr/>
        </p:nvSpPr>
        <p:spPr>
          <a:xfrm>
            <a:off x="1600200" y="4904272"/>
            <a:ext cx="3489808" cy="568234"/>
          </a:xfrm>
          <a:prstGeom prst="rect">
            <a:avLst/>
          </a:prstGeom>
          <a:noFill/>
          <a:ln/>
        </p:spPr>
        <p:txBody>
          <a:bodyPr wrap="square" lIns="0" tIns="0" rIns="0" bIns="0" rtlCol="0" anchor="t"/>
          <a:lstStyle/>
          <a:p>
            <a:pPr indent="0" marL="0">
              <a:buNone/>
            </a:pPr>
            <a:r>
              <a:rPr lang="en-US" sz="1200" dirty="0">
                <a:solidFill>
                  <a:schemeClr val="tx1"/>
                </a:solidFill>
              </a:rPr>
              <a:t>業務ヒアリングへのご協力、部門内での活用推進</a:t>
            </a:r>
            <a:endParaRPr lang="en-US" sz="1200" dirty="0"/>
          </a:p>
        </p:txBody>
      </p:sp>
      <p:sp>
        <p:nvSpPr>
          <p:cNvPr id="19" name="Shape 14"/>
          <p:cNvSpPr/>
          <p:nvPr/>
        </p:nvSpPr>
        <p:spPr>
          <a:xfrm>
            <a:off x="5684368" y="3240895"/>
            <a:ext cx="822960" cy="568234"/>
          </a:xfrm>
          <a:prstGeom prst="leftRightArrow">
            <a:avLst/>
          </a:prstGeom>
          <a:solidFill>
            <a:schemeClr val="accent4"/>
          </a:solidFill>
          <a:ln/>
        </p:spPr>
      </p:sp>
      <p:sp>
        <p:nvSpPr>
          <p:cNvPr id="20" name="Text 15"/>
          <p:cNvSpPr txBox="1"/>
          <p:nvPr/>
        </p:nvSpPr>
        <p:spPr>
          <a:xfrm>
            <a:off x="5501488" y="3860787"/>
            <a:ext cx="1188720" cy="619892"/>
          </a:xfrm>
          <a:prstGeom prst="rect">
            <a:avLst/>
          </a:prstGeom>
          <a:noFill/>
          <a:ln/>
        </p:spPr>
        <p:txBody>
          <a:bodyPr wrap="square" lIns="0" tIns="0" rIns="0" bIns="0" rtlCol="0" anchor="t"/>
          <a:lstStyle/>
          <a:p>
            <a:pPr algn="ctr" indent="0" marL="0">
              <a:buNone/>
            </a:pPr>
            <a:r>
              <a:rPr lang="en-US" sz="1100" dirty="0">
                <a:solidFill>
                  <a:schemeClr val="tx2"/>
                </a:solidFill>
              </a:rPr>
              <a:t>定例・チャットで</a:t>
            </a:r>
            <a:endParaRPr lang="en-US" sz="1100" dirty="0"/>
          </a:p>
          <a:p>
            <a:pPr algn="ctr" indent="0" marL="0">
              <a:buNone/>
            </a:pPr>
            <a:r>
              <a:rPr lang="en-US" sz="1100" dirty="0">
                <a:solidFill>
                  <a:schemeClr val="tx2"/>
                </a:solidFill>
              </a:rPr>
              <a:t>常時連携</a:t>
            </a:r>
            <a:endParaRPr lang="en-US" sz="1100" dirty="0"/>
          </a:p>
        </p:txBody>
      </p:sp>
      <p:sp>
        <p:nvSpPr>
          <p:cNvPr id="21" name="Shape 16"/>
          <p:cNvSpPr/>
          <p:nvPr/>
        </p:nvSpPr>
        <p:spPr>
          <a:xfrm>
            <a:off x="548640" y="5772120"/>
            <a:ext cx="11094415" cy="537240"/>
          </a:xfrm>
          <a:prstGeom prst="roundRect">
            <a:avLst>
              <a:gd name="adj" fmla="val 13616"/>
            </a:avLst>
          </a:prstGeom>
          <a:solidFill>
            <a:schemeClr val="bg2"/>
          </a:solidFill>
          <a:ln/>
        </p:spPr>
      </p:sp>
      <p:sp>
        <p:nvSpPr>
          <p:cNvPr id="22" name="Text 17"/>
          <p:cNvSpPr txBox="1"/>
          <p:nvPr/>
        </p:nvSpPr>
        <p:spPr>
          <a:xfrm>
            <a:off x="777240" y="5772120"/>
            <a:ext cx="1188720" cy="537240"/>
          </a:xfrm>
          <a:prstGeom prst="rect">
            <a:avLst/>
          </a:prstGeom>
          <a:noFill/>
          <a:ln/>
        </p:spPr>
        <p:txBody>
          <a:bodyPr wrap="square" lIns="0" tIns="0" rIns="0" bIns="0" rtlCol="0" anchor="ctr"/>
          <a:lstStyle/>
          <a:p>
            <a:pPr indent="0" marL="0">
              <a:buNone/>
            </a:pPr>
            <a:r>
              <a:rPr lang="en-US" sz="1300" b="1" dirty="0">
                <a:solidFill>
                  <a:schemeClr val="accent1"/>
                </a:solidFill>
              </a:rPr>
              <a:t>決裁フロー</a:t>
            </a:r>
            <a:endParaRPr lang="en-US" sz="1300" dirty="0"/>
          </a:p>
        </p:txBody>
      </p:sp>
      <p:sp>
        <p:nvSpPr>
          <p:cNvPr id="23" name="Text 18"/>
          <p:cNvSpPr txBox="1"/>
          <p:nvPr/>
        </p:nvSpPr>
        <p:spPr>
          <a:xfrm>
            <a:off x="2011680" y="5772120"/>
            <a:ext cx="9402775" cy="537240"/>
          </a:xfrm>
          <a:prstGeom prst="rect">
            <a:avLst/>
          </a:prstGeom>
          <a:noFill/>
          <a:ln/>
        </p:spPr>
        <p:txBody>
          <a:bodyPr wrap="square" lIns="0" tIns="0" rIns="0" bIns="0" rtlCol="0" anchor="ctr"/>
          <a:lstStyle/>
          <a:p>
            <a:pPr indent="0" marL="0">
              <a:buNone/>
            </a:pPr>
            <a:r>
              <a:rPr lang="en-US" sz="1300" b="1" dirty="0">
                <a:solidFill>
                  <a:schemeClr val="tx2"/>
                </a:solidFill>
              </a:rPr>
              <a:t>ご担当者様（DX推進）→ 代表取締役がご判断 → 月次会議でご報告。説明資料・効果レポートは当社で準備</a:t>
            </a:r>
            <a:endParaRPr lang="en-US" sz="1300" dirty="0"/>
          </a:p>
        </p:txBody>
      </p:sp>
      <p:sp>
        <p:nvSpPr>
          <p:cNvPr id="24" name="Shape 19"/>
          <p:cNvSpPr/>
          <p:nvPr/>
        </p:nvSpPr>
        <p:spPr>
          <a:xfrm>
            <a:off x="6690208" y="1639507"/>
            <a:ext cx="4952848" cy="3977640"/>
          </a:xfrm>
          <a:prstGeom prst="roundRect">
            <a:avLst>
              <a:gd name="adj" fmla="val 2299"/>
            </a:avLst>
          </a:prstGeom>
          <a:solidFill>
            <a:schemeClr val="accent3">
              <a:alpha val="8000"/>
            </a:schemeClr>
          </a:solidFill>
          <a:ln/>
        </p:spPr>
      </p:sp>
      <p:sp>
        <p:nvSpPr>
          <p:cNvPr id="25" name="Text 20"/>
          <p:cNvSpPr txBox="1"/>
          <p:nvPr/>
        </p:nvSpPr>
        <p:spPr>
          <a:xfrm>
            <a:off x="6964528" y="1794480"/>
            <a:ext cx="4404208" cy="361604"/>
          </a:xfrm>
          <a:prstGeom prst="rect">
            <a:avLst/>
          </a:prstGeom>
          <a:noFill/>
          <a:ln/>
        </p:spPr>
        <p:txBody>
          <a:bodyPr wrap="square" lIns="0" tIns="0" rIns="0" bIns="0" rtlCol="0" anchor="t"/>
          <a:lstStyle/>
          <a:p>
            <a:pPr indent="0" marL="0">
              <a:buNone/>
            </a:pPr>
            <a:r>
              <a:rPr lang="en-US" sz="1500" b="1" dirty="0">
                <a:solidFill>
                  <a:schemeClr val="tx2"/>
                </a:solidFill>
              </a:rPr>
              <a:t>グリーエックス株式会社</a:t>
            </a:r>
            <a:endParaRPr lang="en-US" sz="1500" dirty="0"/>
          </a:p>
        </p:txBody>
      </p:sp>
      <p:sp>
        <p:nvSpPr>
          <p:cNvPr id="26" name="Shape 21"/>
          <p:cNvSpPr/>
          <p:nvPr/>
        </p:nvSpPr>
        <p:spPr>
          <a:xfrm>
            <a:off x="6964528" y="2207742"/>
            <a:ext cx="4404208" cy="1012490"/>
          </a:xfrm>
          <a:prstGeom prst="roundRect">
            <a:avLst>
              <a:gd name="adj" fmla="val 9031"/>
            </a:avLst>
          </a:prstGeom>
          <a:solidFill>
            <a:schemeClr val="bg1"/>
          </a:solidFill>
          <a:ln w="9525">
            <a:solidFill>
              <a:srgbClr val="E2E1EE"/>
            </a:solidFill>
            <a:prstDash val="solid"/>
          </a:ln>
        </p:spPr>
      </p:sp>
      <p:pic>
        <p:nvPicPr>
          <p:cNvPr id="27" name="Image 3" descr="man-technologist">    </p:cNvPr>
          <p:cNvPicPr>
            <a:picLocks noChangeAspect="1"/>
          </p:cNvPicPr>
          <p:nvPr/>
        </p:nvPicPr>
        <p:blipFill>
          <a:blip r:embed="rId4"/>
          <a:stretch>
            <a:fillRect/>
          </a:stretch>
        </p:blipFill>
        <p:spPr>
          <a:xfrm>
            <a:off x="7089115" y="2444788"/>
            <a:ext cx="528066" cy="528066"/>
          </a:xfrm>
          <a:prstGeom prst="rect">
            <a:avLst/>
          </a:prstGeom>
        </p:spPr>
      </p:pic>
      <p:sp>
        <p:nvSpPr>
          <p:cNvPr id="28" name="Text 22"/>
          <p:cNvSpPr txBox="1"/>
          <p:nvPr/>
        </p:nvSpPr>
        <p:spPr>
          <a:xfrm>
            <a:off x="7741768" y="2311057"/>
            <a:ext cx="3489808" cy="361604"/>
          </a:xfrm>
          <a:prstGeom prst="rect">
            <a:avLst/>
          </a:prstGeom>
          <a:noFill/>
          <a:ln/>
        </p:spPr>
        <p:txBody>
          <a:bodyPr wrap="square" lIns="0" tIns="0" rIns="0" bIns="0" rtlCol="0" anchor="t"/>
          <a:lstStyle/>
          <a:p>
            <a:pPr indent="0" marL="0">
              <a:buNone/>
            </a:pPr>
            <a:r>
              <a:rPr lang="en-US" sz="1400" b="1" dirty="0">
                <a:solidFill>
                  <a:schemeClr val="tx2"/>
                </a:solidFill>
              </a:rPr>
              <a:t>メイン担当：山口 宙輝</a:t>
            </a:r>
            <a:endParaRPr lang="en-US" sz="1400" dirty="0"/>
          </a:p>
        </p:txBody>
      </p:sp>
      <p:sp>
        <p:nvSpPr>
          <p:cNvPr id="29" name="Text 23"/>
          <p:cNvSpPr txBox="1"/>
          <p:nvPr/>
        </p:nvSpPr>
        <p:spPr>
          <a:xfrm>
            <a:off x="7741768" y="2672661"/>
            <a:ext cx="3626968" cy="568234"/>
          </a:xfrm>
          <a:prstGeom prst="rect">
            <a:avLst/>
          </a:prstGeom>
          <a:noFill/>
          <a:ln/>
        </p:spPr>
        <p:txBody>
          <a:bodyPr wrap="square" lIns="0" tIns="0" rIns="0" bIns="0" rtlCol="0" anchor="t"/>
          <a:lstStyle/>
          <a:p>
            <a:pPr indent="0" marL="0">
              <a:buNone/>
            </a:pPr>
            <a:r>
              <a:rPr lang="en-US" sz="1200" dirty="0">
                <a:solidFill>
                  <a:schemeClr val="tx1"/>
                </a:solidFill>
              </a:rPr>
              <a:t>全体推進・定例運営、業務改善と活用設計の提案</a:t>
            </a:r>
            <a:endParaRPr lang="en-US" sz="1200" dirty="0"/>
          </a:p>
        </p:txBody>
      </p:sp>
      <p:sp>
        <p:nvSpPr>
          <p:cNvPr id="30" name="Shape 24"/>
          <p:cNvSpPr/>
          <p:nvPr/>
        </p:nvSpPr>
        <p:spPr>
          <a:xfrm>
            <a:off x="6964528" y="3323547"/>
            <a:ext cx="4404208" cy="1012490"/>
          </a:xfrm>
          <a:prstGeom prst="roundRect">
            <a:avLst>
              <a:gd name="adj" fmla="val 9031"/>
            </a:avLst>
          </a:prstGeom>
          <a:solidFill>
            <a:schemeClr val="bg1"/>
          </a:solidFill>
          <a:ln w="9525">
            <a:solidFill>
              <a:srgbClr val="E2E1EE"/>
            </a:solidFill>
            <a:prstDash val="solid"/>
          </a:ln>
        </p:spPr>
      </p:sp>
      <p:pic>
        <p:nvPicPr>
          <p:cNvPr id="31" name="Image 4" descr="shield">    </p:cNvPr>
          <p:cNvPicPr>
            <a:picLocks noChangeAspect="1"/>
          </p:cNvPicPr>
          <p:nvPr/>
        </p:nvPicPr>
        <p:blipFill>
          <a:blip r:embed="rId5"/>
          <a:stretch>
            <a:fillRect/>
          </a:stretch>
        </p:blipFill>
        <p:spPr>
          <a:xfrm>
            <a:off x="7089115" y="3560593"/>
            <a:ext cx="528066" cy="528066"/>
          </a:xfrm>
          <a:prstGeom prst="rect">
            <a:avLst/>
          </a:prstGeom>
        </p:spPr>
      </p:pic>
      <p:sp>
        <p:nvSpPr>
          <p:cNvPr id="32" name="Text 25"/>
          <p:cNvSpPr txBox="1"/>
          <p:nvPr/>
        </p:nvSpPr>
        <p:spPr>
          <a:xfrm>
            <a:off x="7741768" y="3426862"/>
            <a:ext cx="3489808" cy="361604"/>
          </a:xfrm>
          <a:prstGeom prst="rect">
            <a:avLst/>
          </a:prstGeom>
          <a:noFill/>
          <a:ln/>
        </p:spPr>
        <p:txBody>
          <a:bodyPr wrap="square" lIns="0" tIns="0" rIns="0" bIns="0" rtlCol="0" anchor="t"/>
          <a:lstStyle/>
          <a:p>
            <a:pPr indent="0" marL="0">
              <a:buNone/>
            </a:pPr>
            <a:r>
              <a:rPr lang="en-US" sz="1400" b="1" dirty="0">
                <a:solidFill>
                  <a:schemeClr val="tx2"/>
                </a:solidFill>
              </a:rPr>
              <a:t>Workspace 設定・セキュリティ担当</a:t>
            </a:r>
            <a:endParaRPr lang="en-US" sz="1400" dirty="0"/>
          </a:p>
        </p:txBody>
      </p:sp>
      <p:sp>
        <p:nvSpPr>
          <p:cNvPr id="33" name="Text 26"/>
          <p:cNvSpPr txBox="1"/>
          <p:nvPr/>
        </p:nvSpPr>
        <p:spPr>
          <a:xfrm>
            <a:off x="7741768" y="3788466"/>
            <a:ext cx="3626968" cy="568234"/>
          </a:xfrm>
          <a:prstGeom prst="rect">
            <a:avLst/>
          </a:prstGeom>
          <a:noFill/>
          <a:ln/>
        </p:spPr>
        <p:txBody>
          <a:bodyPr wrap="square" lIns="0" tIns="0" rIns="0" bIns="0" rtlCol="0" anchor="t"/>
          <a:lstStyle/>
          <a:p>
            <a:pPr indent="0" marL="0">
              <a:buNone/>
            </a:pPr>
            <a:r>
              <a:rPr lang="en-US" sz="1200" dirty="0">
                <a:solidFill>
                  <a:schemeClr val="tx1"/>
                </a:solidFill>
              </a:rPr>
              <a:t>管理コンソール設定・共有ドライブ設計・移行支援</a:t>
            </a:r>
            <a:endParaRPr lang="en-US" sz="1200" dirty="0"/>
          </a:p>
        </p:txBody>
      </p:sp>
      <p:sp>
        <p:nvSpPr>
          <p:cNvPr id="34" name="Shape 27"/>
          <p:cNvSpPr/>
          <p:nvPr/>
        </p:nvSpPr>
        <p:spPr>
          <a:xfrm>
            <a:off x="6964528" y="4439353"/>
            <a:ext cx="4404208" cy="1012490"/>
          </a:xfrm>
          <a:prstGeom prst="roundRect">
            <a:avLst>
              <a:gd name="adj" fmla="val 9031"/>
            </a:avLst>
          </a:prstGeom>
          <a:solidFill>
            <a:schemeClr val="bg1"/>
          </a:solidFill>
          <a:ln w="9525">
            <a:solidFill>
              <a:srgbClr val="E2E1EE"/>
            </a:solidFill>
            <a:prstDash val="solid"/>
          </a:ln>
        </p:spPr>
      </p:sp>
      <p:pic>
        <p:nvPicPr>
          <p:cNvPr id="35" name="Image 5" descr="sparkles">    </p:cNvPr>
          <p:cNvPicPr>
            <a:picLocks noChangeAspect="1"/>
          </p:cNvPicPr>
          <p:nvPr/>
        </p:nvPicPr>
        <p:blipFill>
          <a:blip r:embed="rId6"/>
          <a:stretch>
            <a:fillRect/>
          </a:stretch>
        </p:blipFill>
        <p:spPr>
          <a:xfrm>
            <a:off x="7089115" y="4676399"/>
            <a:ext cx="528066" cy="528066"/>
          </a:xfrm>
          <a:prstGeom prst="rect">
            <a:avLst/>
          </a:prstGeom>
        </p:spPr>
      </p:pic>
      <p:sp>
        <p:nvSpPr>
          <p:cNvPr id="36" name="Text 28"/>
          <p:cNvSpPr txBox="1"/>
          <p:nvPr/>
        </p:nvSpPr>
        <p:spPr>
          <a:xfrm>
            <a:off x="7741768" y="4542668"/>
            <a:ext cx="3489808" cy="361604"/>
          </a:xfrm>
          <a:prstGeom prst="rect">
            <a:avLst/>
          </a:prstGeom>
          <a:noFill/>
          <a:ln/>
        </p:spPr>
        <p:txBody>
          <a:bodyPr wrap="square" lIns="0" tIns="0" rIns="0" bIns="0" rtlCol="0" anchor="t"/>
          <a:lstStyle/>
          <a:p>
            <a:pPr indent="0" marL="0">
              <a:buNone/>
            </a:pPr>
            <a:r>
              <a:rPr lang="en-US" sz="1400" b="1" dirty="0">
                <a:solidFill>
                  <a:schemeClr val="tx2"/>
                </a:solidFill>
              </a:rPr>
              <a:t>AI 活用・教育担当</a:t>
            </a:r>
            <a:endParaRPr lang="en-US" sz="1400" dirty="0"/>
          </a:p>
        </p:txBody>
      </p:sp>
      <p:sp>
        <p:nvSpPr>
          <p:cNvPr id="37" name="Text 29"/>
          <p:cNvSpPr txBox="1"/>
          <p:nvPr/>
        </p:nvSpPr>
        <p:spPr>
          <a:xfrm>
            <a:off x="7741768" y="4904272"/>
            <a:ext cx="3626968" cy="568234"/>
          </a:xfrm>
          <a:prstGeom prst="rect">
            <a:avLst/>
          </a:prstGeom>
          <a:noFill/>
          <a:ln/>
        </p:spPr>
        <p:txBody>
          <a:bodyPr wrap="square" lIns="0" tIns="0" rIns="0" bIns="0" rtlCol="0" anchor="t"/>
          <a:lstStyle/>
          <a:p>
            <a:pPr indent="0" marL="0">
              <a:buNone/>
            </a:pPr>
            <a:r>
              <a:rPr lang="en-US" sz="1200" dirty="0">
                <a:solidFill>
                  <a:schemeClr val="tx1"/>
                </a:solidFill>
              </a:rPr>
              <a:t>テンプレート・Gem 作成、勉強会・教材制作</a:t>
            </a:r>
            <a:endParaRPr lang="en-US" sz="12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本日確認させていただきたいことと、今後の進め方</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以下を伺えれば、1週間以内に正式なお見積りとスケジュールをご提示できます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05｜本日ご相談したいこと</a:t>
            </a:r>
            <a:endParaRPr lang="en-US" sz="900" dirty="0"/>
          </a:p>
        </p:txBody>
      </p:sp>
      <p:sp>
        <p:nvSpPr>
          <p:cNvPr id="5" name="Text 3"/>
          <p:cNvSpPr txBox="1"/>
          <p:nvPr/>
        </p:nvSpPr>
        <p:spPr>
          <a:xfrm>
            <a:off x="548640" y="1561130"/>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097280" y="1484534"/>
            <a:ext cx="5943600" cy="309946"/>
          </a:xfrm>
          <a:prstGeom prst="rect">
            <a:avLst/>
          </a:prstGeom>
          <a:noFill/>
          <a:ln/>
        </p:spPr>
        <p:txBody>
          <a:bodyPr wrap="square" lIns="0" tIns="0" rIns="0" bIns="0" rtlCol="0" anchor="t"/>
          <a:lstStyle/>
          <a:p>
            <a:pPr indent="0" marL="0">
              <a:buNone/>
            </a:pPr>
            <a:r>
              <a:rPr lang="en-US" sz="1400" b="1" dirty="0">
                <a:solidFill>
                  <a:schemeClr val="tx2"/>
                </a:solidFill>
              </a:rPr>
              <a:t>ご契約エディション・ライセンス数・管理者</a:t>
            </a:r>
            <a:endParaRPr lang="en-US" sz="1400" dirty="0"/>
          </a:p>
        </p:txBody>
      </p:sp>
      <p:sp>
        <p:nvSpPr>
          <p:cNvPr id="7" name="Text 5"/>
          <p:cNvSpPr txBox="1"/>
          <p:nvPr/>
        </p:nvSpPr>
        <p:spPr>
          <a:xfrm>
            <a:off x="1097280" y="1804812"/>
            <a:ext cx="5943600" cy="330609"/>
          </a:xfrm>
          <a:prstGeom prst="rect">
            <a:avLst/>
          </a:prstGeom>
          <a:noFill/>
          <a:ln/>
        </p:spPr>
        <p:txBody>
          <a:bodyPr wrap="square" lIns="0" tIns="0" rIns="0" bIns="0" rtlCol="0" anchor="t"/>
          <a:lstStyle/>
          <a:p>
            <a:pPr indent="0" marL="0">
              <a:buNone/>
            </a:pPr>
            <a:r>
              <a:rPr lang="en-US" sz="1200" dirty="0">
                <a:solidFill>
                  <a:schemeClr val="tx1"/>
                </a:solidFill>
              </a:rPr>
              <a:t>Starter ではドキュメント等の Gemini や Meet の自動メモが使えません</a:t>
            </a:r>
            <a:endParaRPr lang="en-US" sz="1200" dirty="0"/>
          </a:p>
        </p:txBody>
      </p:sp>
      <p:sp>
        <p:nvSpPr>
          <p:cNvPr id="8" name="Text 6"/>
          <p:cNvSpPr txBox="1"/>
          <p:nvPr/>
        </p:nvSpPr>
        <p:spPr>
          <a:xfrm>
            <a:off x="548640" y="2253343"/>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7"/>
          <p:cNvSpPr txBox="1"/>
          <p:nvPr/>
        </p:nvSpPr>
        <p:spPr>
          <a:xfrm>
            <a:off x="1097280" y="2176747"/>
            <a:ext cx="5943600" cy="309946"/>
          </a:xfrm>
          <a:prstGeom prst="rect">
            <a:avLst/>
          </a:prstGeom>
          <a:noFill/>
          <a:ln/>
        </p:spPr>
        <p:txBody>
          <a:bodyPr wrap="square" lIns="0" tIns="0" rIns="0" bIns="0" rtlCol="0" anchor="t"/>
          <a:lstStyle/>
          <a:p>
            <a:pPr indent="0" marL="0">
              <a:buNone/>
            </a:pPr>
            <a:r>
              <a:rPr lang="en-US" sz="1400" b="1" dirty="0">
                <a:solidFill>
                  <a:schemeClr val="tx2"/>
                </a:solidFill>
              </a:rPr>
              <a:t>Dropbox のプラン種別・データ量・契約更新時期</a:t>
            </a:r>
            <a:endParaRPr lang="en-US" sz="1400" dirty="0"/>
          </a:p>
        </p:txBody>
      </p:sp>
      <p:sp>
        <p:nvSpPr>
          <p:cNvPr id="10" name="Text 8"/>
          <p:cNvSpPr txBox="1"/>
          <p:nvPr/>
        </p:nvSpPr>
        <p:spPr>
          <a:xfrm>
            <a:off x="1097280" y="2497025"/>
            <a:ext cx="5943600" cy="330609"/>
          </a:xfrm>
          <a:prstGeom prst="rect">
            <a:avLst/>
          </a:prstGeom>
          <a:noFill/>
          <a:ln/>
        </p:spPr>
        <p:txBody>
          <a:bodyPr wrap="square" lIns="0" tIns="0" rIns="0" bIns="0" rtlCol="0" anchor="t"/>
          <a:lstStyle/>
          <a:p>
            <a:pPr indent="0" marL="0">
              <a:buNone/>
            </a:pPr>
            <a:r>
              <a:rPr lang="en-US" sz="1200" dirty="0">
                <a:solidFill>
                  <a:schemeClr val="tx1"/>
                </a:solidFill>
              </a:rPr>
              <a:t>公式の移行機能はチーム（ビジネス）プランが前提です</a:t>
            </a:r>
            <a:endParaRPr lang="en-US" sz="1200" dirty="0"/>
          </a:p>
        </p:txBody>
      </p:sp>
      <p:sp>
        <p:nvSpPr>
          <p:cNvPr id="11" name="Text 9"/>
          <p:cNvSpPr txBox="1"/>
          <p:nvPr/>
        </p:nvSpPr>
        <p:spPr>
          <a:xfrm>
            <a:off x="548640" y="2945556"/>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Text 10"/>
          <p:cNvSpPr txBox="1"/>
          <p:nvPr/>
        </p:nvSpPr>
        <p:spPr>
          <a:xfrm>
            <a:off x="1097280" y="2868960"/>
            <a:ext cx="5943600" cy="309946"/>
          </a:xfrm>
          <a:prstGeom prst="rect">
            <a:avLst/>
          </a:prstGeom>
          <a:noFill/>
          <a:ln/>
        </p:spPr>
        <p:txBody>
          <a:bodyPr wrap="square" lIns="0" tIns="0" rIns="0" bIns="0" rtlCol="0" anchor="t"/>
          <a:lstStyle/>
          <a:p>
            <a:pPr indent="0" marL="0">
              <a:buNone/>
            </a:pPr>
            <a:r>
              <a:rPr lang="en-US" sz="1400" b="1" dirty="0">
                <a:solidFill>
                  <a:schemeClr val="tx2"/>
                </a:solidFill>
              </a:rPr>
              <a:t>個人情報を含むデータの範囲と「ロック」の操作</a:t>
            </a:r>
            <a:endParaRPr lang="en-US" sz="1400" dirty="0"/>
          </a:p>
        </p:txBody>
      </p:sp>
      <p:sp>
        <p:nvSpPr>
          <p:cNvPr id="13" name="Text 11"/>
          <p:cNvSpPr txBox="1"/>
          <p:nvPr/>
        </p:nvSpPr>
        <p:spPr>
          <a:xfrm>
            <a:off x="1097280" y="3189237"/>
            <a:ext cx="5943600" cy="330609"/>
          </a:xfrm>
          <a:prstGeom prst="rect">
            <a:avLst/>
          </a:prstGeom>
          <a:noFill/>
          <a:ln/>
        </p:spPr>
        <p:txBody>
          <a:bodyPr wrap="square" lIns="0" tIns="0" rIns="0" bIns="0" rtlCol="0" anchor="t"/>
          <a:lstStyle/>
          <a:p>
            <a:pPr indent="0" marL="0">
              <a:buNone/>
            </a:pPr>
            <a:r>
              <a:rPr lang="en-US" sz="1200" dirty="0">
                <a:solidFill>
                  <a:schemeClr val="tx1"/>
                </a:solidFill>
              </a:rPr>
              <a:t>どのデータに個人情報があり、どの操作で制限をかけているか</a:t>
            </a:r>
            <a:endParaRPr lang="en-US" sz="1200" dirty="0"/>
          </a:p>
        </p:txBody>
      </p:sp>
      <p:sp>
        <p:nvSpPr>
          <p:cNvPr id="14" name="Text 12"/>
          <p:cNvSpPr txBox="1"/>
          <p:nvPr/>
        </p:nvSpPr>
        <p:spPr>
          <a:xfrm>
            <a:off x="548640" y="3637768"/>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5" name="Text 13"/>
          <p:cNvSpPr txBox="1"/>
          <p:nvPr/>
        </p:nvSpPr>
        <p:spPr>
          <a:xfrm>
            <a:off x="1097280" y="3561172"/>
            <a:ext cx="5943600" cy="309946"/>
          </a:xfrm>
          <a:prstGeom prst="rect">
            <a:avLst/>
          </a:prstGeom>
          <a:noFill/>
          <a:ln/>
        </p:spPr>
        <p:txBody>
          <a:bodyPr wrap="square" lIns="0" tIns="0" rIns="0" bIns="0" rtlCol="0" anchor="t"/>
          <a:lstStyle/>
          <a:p>
            <a:pPr indent="0" marL="0">
              <a:buNone/>
            </a:pPr>
            <a:r>
              <a:rPr lang="en-US" sz="1400" b="1" dirty="0">
                <a:solidFill>
                  <a:schemeClr val="tx2"/>
                </a:solidFill>
              </a:rPr>
              <a:t>テスト導入8名の業務と現在の使い方</a:t>
            </a:r>
            <a:endParaRPr lang="en-US" sz="1400" dirty="0"/>
          </a:p>
        </p:txBody>
      </p:sp>
      <p:sp>
        <p:nvSpPr>
          <p:cNvPr id="16" name="Text 14"/>
          <p:cNvSpPr txBox="1"/>
          <p:nvPr/>
        </p:nvSpPr>
        <p:spPr>
          <a:xfrm>
            <a:off x="1097280" y="3881450"/>
            <a:ext cx="5943600" cy="330609"/>
          </a:xfrm>
          <a:prstGeom prst="rect">
            <a:avLst/>
          </a:prstGeom>
          <a:noFill/>
          <a:ln/>
        </p:spPr>
        <p:txBody>
          <a:bodyPr wrap="square" lIns="0" tIns="0" rIns="0" bIns="0" rtlCol="0" anchor="t"/>
          <a:lstStyle/>
          <a:p>
            <a:pPr indent="0" marL="0">
              <a:buNone/>
            </a:pPr>
            <a:r>
              <a:rPr lang="en-US" sz="1200" dirty="0">
                <a:solidFill>
                  <a:schemeClr val="tx1"/>
                </a:solidFill>
              </a:rPr>
              <a:t>効果の出やすい業務を一緒に特定させてください</a:t>
            </a:r>
            <a:endParaRPr lang="en-US" sz="1200" dirty="0"/>
          </a:p>
        </p:txBody>
      </p:sp>
      <p:sp>
        <p:nvSpPr>
          <p:cNvPr id="17" name="Text 15"/>
          <p:cNvSpPr txBox="1"/>
          <p:nvPr/>
        </p:nvSpPr>
        <p:spPr>
          <a:xfrm>
            <a:off x="548640" y="4329981"/>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8" name="Text 16"/>
          <p:cNvSpPr txBox="1"/>
          <p:nvPr/>
        </p:nvSpPr>
        <p:spPr>
          <a:xfrm>
            <a:off x="1097280" y="4253385"/>
            <a:ext cx="5943600" cy="309946"/>
          </a:xfrm>
          <a:prstGeom prst="rect">
            <a:avLst/>
          </a:prstGeom>
          <a:noFill/>
          <a:ln/>
        </p:spPr>
        <p:txBody>
          <a:bodyPr wrap="square" lIns="0" tIns="0" rIns="0" bIns="0" rtlCol="0" anchor="t"/>
          <a:lstStyle/>
          <a:p>
            <a:pPr indent="0" marL="0">
              <a:buNone/>
            </a:pPr>
            <a:r>
              <a:rPr lang="en-US" sz="1400" b="1" dirty="0">
                <a:solidFill>
                  <a:schemeClr val="tx2"/>
                </a:solidFill>
              </a:rPr>
              <a:t>既存のシステム・お取引先との役割分担</a:t>
            </a:r>
            <a:endParaRPr lang="en-US" sz="1400" dirty="0"/>
          </a:p>
        </p:txBody>
      </p:sp>
      <p:sp>
        <p:nvSpPr>
          <p:cNvPr id="19" name="Text 17"/>
          <p:cNvSpPr txBox="1"/>
          <p:nvPr/>
        </p:nvSpPr>
        <p:spPr>
          <a:xfrm>
            <a:off x="1097280" y="4573663"/>
            <a:ext cx="5943600" cy="330609"/>
          </a:xfrm>
          <a:prstGeom prst="rect">
            <a:avLst/>
          </a:prstGeom>
          <a:noFill/>
          <a:ln/>
        </p:spPr>
        <p:txBody>
          <a:bodyPr wrap="square" lIns="0" tIns="0" rIns="0" bIns="0" rtlCol="0" anchor="t"/>
          <a:lstStyle/>
          <a:p>
            <a:pPr indent="0" marL="0">
              <a:buNone/>
            </a:pPr>
            <a:r>
              <a:rPr lang="en-US" sz="1200" dirty="0">
                <a:solidFill>
                  <a:schemeClr val="tx1"/>
                </a:solidFill>
              </a:rPr>
              <a:t>介護記録システムや、既存のお取引先・販売代理店との分担</a:t>
            </a:r>
            <a:endParaRPr lang="en-US" sz="1200" dirty="0"/>
          </a:p>
        </p:txBody>
      </p:sp>
      <p:sp>
        <p:nvSpPr>
          <p:cNvPr id="20" name="Text 18"/>
          <p:cNvSpPr txBox="1"/>
          <p:nvPr/>
        </p:nvSpPr>
        <p:spPr>
          <a:xfrm>
            <a:off x="548640" y="5022194"/>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21" name="Text 19"/>
          <p:cNvSpPr txBox="1"/>
          <p:nvPr/>
        </p:nvSpPr>
        <p:spPr>
          <a:xfrm>
            <a:off x="1097280" y="4945598"/>
            <a:ext cx="5943600" cy="309946"/>
          </a:xfrm>
          <a:prstGeom prst="rect">
            <a:avLst/>
          </a:prstGeom>
          <a:noFill/>
          <a:ln/>
        </p:spPr>
        <p:txBody>
          <a:bodyPr wrap="square" lIns="0" tIns="0" rIns="0" bIns="0" rtlCol="0" anchor="t"/>
          <a:lstStyle/>
          <a:p>
            <a:pPr indent="0" marL="0">
              <a:buNone/>
            </a:pPr>
            <a:r>
              <a:rPr lang="en-US" sz="1400" b="1" dirty="0">
                <a:solidFill>
                  <a:schemeClr val="tx2"/>
                </a:solidFill>
              </a:rPr>
              <a:t>生産性向上推進体制加算・処遇改善加算の算定状況</a:t>
            </a:r>
            <a:endParaRPr lang="en-US" sz="1400" dirty="0"/>
          </a:p>
        </p:txBody>
      </p:sp>
      <p:sp>
        <p:nvSpPr>
          <p:cNvPr id="22" name="Text 20"/>
          <p:cNvSpPr txBox="1"/>
          <p:nvPr/>
        </p:nvSpPr>
        <p:spPr>
          <a:xfrm>
            <a:off x="1097280" y="5265875"/>
            <a:ext cx="5943600" cy="330609"/>
          </a:xfrm>
          <a:prstGeom prst="rect">
            <a:avLst/>
          </a:prstGeom>
          <a:noFill/>
          <a:ln/>
        </p:spPr>
        <p:txBody>
          <a:bodyPr wrap="square" lIns="0" tIns="0" rIns="0" bIns="0" rtlCol="0" anchor="t"/>
          <a:lstStyle/>
          <a:p>
            <a:pPr indent="0" marL="0">
              <a:buNone/>
            </a:pPr>
            <a:r>
              <a:rPr lang="en-US" sz="1200" dirty="0">
                <a:solidFill>
                  <a:schemeClr val="tx1"/>
                </a:solidFill>
              </a:rPr>
              <a:t>Workspace の活用を加算の要件づくりにも活かせるか検討します</a:t>
            </a:r>
            <a:endParaRPr lang="en-US" sz="1200" dirty="0"/>
          </a:p>
        </p:txBody>
      </p:sp>
      <p:sp>
        <p:nvSpPr>
          <p:cNvPr id="23" name="Text 21"/>
          <p:cNvSpPr txBox="1"/>
          <p:nvPr/>
        </p:nvSpPr>
        <p:spPr>
          <a:xfrm>
            <a:off x="548640" y="5714406"/>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24" name="Text 22"/>
          <p:cNvSpPr txBox="1"/>
          <p:nvPr/>
        </p:nvSpPr>
        <p:spPr>
          <a:xfrm>
            <a:off x="1097280" y="5637810"/>
            <a:ext cx="5943600" cy="309946"/>
          </a:xfrm>
          <a:prstGeom prst="rect">
            <a:avLst/>
          </a:prstGeom>
          <a:noFill/>
          <a:ln/>
        </p:spPr>
        <p:txBody>
          <a:bodyPr wrap="square" lIns="0" tIns="0" rIns="0" bIns="0" rtlCol="0" anchor="t"/>
          <a:lstStyle/>
          <a:p>
            <a:pPr indent="0" marL="0">
              <a:buNone/>
            </a:pPr>
            <a:r>
              <a:rPr lang="en-US" sz="1400" b="1" dirty="0">
                <a:solidFill>
                  <a:schemeClr val="tx2"/>
                </a:solidFill>
              </a:rPr>
              <a:t>ご予算感・ご決裁の時期・定例の頻度</a:t>
            </a:r>
            <a:endParaRPr lang="en-US" sz="1400" dirty="0"/>
          </a:p>
        </p:txBody>
      </p:sp>
      <p:sp>
        <p:nvSpPr>
          <p:cNvPr id="25" name="Text 23"/>
          <p:cNvSpPr txBox="1"/>
          <p:nvPr/>
        </p:nvSpPr>
        <p:spPr>
          <a:xfrm>
            <a:off x="1097280" y="5958088"/>
            <a:ext cx="5943600" cy="330609"/>
          </a:xfrm>
          <a:prstGeom prst="rect">
            <a:avLst/>
          </a:prstGeom>
          <a:noFill/>
          <a:ln/>
        </p:spPr>
        <p:txBody>
          <a:bodyPr wrap="square" lIns="0" tIns="0" rIns="0" bIns="0" rtlCol="0" anchor="t"/>
          <a:lstStyle/>
          <a:p>
            <a:pPr indent="0" marL="0">
              <a:buNone/>
            </a:pPr>
            <a:r>
              <a:rPr lang="en-US" sz="1200" dirty="0">
                <a:solidFill>
                  <a:schemeClr val="tx1"/>
                </a:solidFill>
              </a:rPr>
              <a:t>月次会議の時期に合わせて資料を準備します</a:t>
            </a:r>
            <a:endParaRPr lang="en-US" sz="1200" dirty="0"/>
          </a:p>
        </p:txBody>
      </p:sp>
      <p:sp>
        <p:nvSpPr>
          <p:cNvPr id="26" name="Shape 24"/>
          <p:cNvSpPr/>
          <p:nvPr/>
        </p:nvSpPr>
        <p:spPr>
          <a:xfrm>
            <a:off x="7406640" y="1587850"/>
            <a:ext cx="4236415" cy="4649190"/>
          </a:xfrm>
          <a:prstGeom prst="roundRect">
            <a:avLst>
              <a:gd name="adj" fmla="val 2590"/>
            </a:avLst>
          </a:prstGeom>
          <a:solidFill>
            <a:schemeClr val="bg2"/>
          </a:solidFill>
          <a:ln/>
        </p:spPr>
      </p:sp>
      <p:sp>
        <p:nvSpPr>
          <p:cNvPr id="27" name="Text 25"/>
          <p:cNvSpPr txBox="1"/>
          <p:nvPr/>
        </p:nvSpPr>
        <p:spPr>
          <a:xfrm>
            <a:off x="7680960" y="1794480"/>
            <a:ext cx="3687775" cy="361604"/>
          </a:xfrm>
          <a:prstGeom prst="rect">
            <a:avLst/>
          </a:prstGeom>
          <a:noFill/>
          <a:ln/>
        </p:spPr>
        <p:txBody>
          <a:bodyPr wrap="square" lIns="0" tIns="0" rIns="0" bIns="0" rtlCol="0" anchor="t"/>
          <a:lstStyle/>
          <a:p>
            <a:pPr indent="0" marL="0">
              <a:buNone/>
            </a:pPr>
            <a:r>
              <a:rPr lang="en-US" sz="1500" b="1" dirty="0">
                <a:solidFill>
                  <a:schemeClr val="accent1"/>
                </a:solidFill>
              </a:rPr>
              <a:t>今後の進め方</a:t>
            </a:r>
            <a:endParaRPr lang="en-US" sz="1500" dirty="0"/>
          </a:p>
        </p:txBody>
      </p:sp>
      <p:sp>
        <p:nvSpPr>
          <p:cNvPr id="28" name="Shape 26"/>
          <p:cNvSpPr/>
          <p:nvPr/>
        </p:nvSpPr>
        <p:spPr>
          <a:xfrm>
            <a:off x="7726680" y="2427435"/>
            <a:ext cx="201168" cy="201168"/>
          </a:xfrm>
          <a:prstGeom prst="ellipse">
            <a:avLst/>
          </a:prstGeom>
          <a:solidFill>
            <a:schemeClr val="accent1"/>
          </a:solidFill>
          <a:ln/>
        </p:spPr>
      </p:sp>
      <p:sp>
        <p:nvSpPr>
          <p:cNvPr id="29" name="Shape 27"/>
          <p:cNvSpPr/>
          <p:nvPr/>
        </p:nvSpPr>
        <p:spPr>
          <a:xfrm>
            <a:off x="7827264" y="2672661"/>
            <a:ext cx="0" cy="981496"/>
          </a:xfrm>
          <a:prstGeom prst="line">
            <a:avLst/>
          </a:prstGeom>
          <a:noFill/>
          <a:ln w="19050">
            <a:solidFill>
              <a:srgbClr val="EFA23A"/>
            </a:solidFill>
            <a:prstDash val="solid"/>
          </a:ln>
        </p:spPr>
      </p:sp>
      <p:sp>
        <p:nvSpPr>
          <p:cNvPr id="30" name="Text 28"/>
          <p:cNvSpPr txBox="1"/>
          <p:nvPr/>
        </p:nvSpPr>
        <p:spPr>
          <a:xfrm>
            <a:off x="8092440" y="2362715"/>
            <a:ext cx="3322015" cy="309946"/>
          </a:xfrm>
          <a:prstGeom prst="rect">
            <a:avLst/>
          </a:prstGeom>
          <a:noFill/>
          <a:ln/>
        </p:spPr>
        <p:txBody>
          <a:bodyPr wrap="square" lIns="0" tIns="0" rIns="0" bIns="0" rtlCol="0" anchor="t"/>
          <a:lstStyle/>
          <a:p>
            <a:pPr indent="0" marL="0">
              <a:buNone/>
            </a:pPr>
            <a:r>
              <a:rPr lang="en-US" sz="1300" b="1" dirty="0">
                <a:solidFill>
                  <a:schemeClr val="accent1"/>
                </a:solidFill>
              </a:rPr>
              <a:t>本日</a:t>
            </a:r>
            <a:endParaRPr lang="en-US" sz="1300" dirty="0"/>
          </a:p>
        </p:txBody>
      </p:sp>
      <p:sp>
        <p:nvSpPr>
          <p:cNvPr id="31" name="Text 29"/>
          <p:cNvSpPr txBox="1"/>
          <p:nvPr/>
        </p:nvSpPr>
        <p:spPr>
          <a:xfrm>
            <a:off x="8092440" y="2703655"/>
            <a:ext cx="3322015" cy="774865"/>
          </a:xfrm>
          <a:prstGeom prst="rect">
            <a:avLst/>
          </a:prstGeom>
          <a:noFill/>
          <a:ln/>
        </p:spPr>
        <p:txBody>
          <a:bodyPr wrap="square" lIns="0" tIns="0" rIns="0" bIns="0" rtlCol="0" anchor="t"/>
          <a:lstStyle/>
          <a:p>
            <a:pPr indent="0" marL="0">
              <a:buNone/>
            </a:pPr>
            <a:r>
              <a:rPr lang="en-US" sz="1300" dirty="0">
                <a:solidFill>
                  <a:schemeClr val="tx1"/>
                </a:solidFill>
              </a:rPr>
              <a:t>課題・優先度と進め方のすり合わせ</a:t>
            </a:r>
            <a:endParaRPr lang="en-US" sz="1300" dirty="0"/>
          </a:p>
        </p:txBody>
      </p:sp>
      <p:sp>
        <p:nvSpPr>
          <p:cNvPr id="32" name="Shape 30"/>
          <p:cNvSpPr/>
          <p:nvPr/>
        </p:nvSpPr>
        <p:spPr>
          <a:xfrm>
            <a:off x="7726680" y="3667219"/>
            <a:ext cx="201168" cy="201168"/>
          </a:xfrm>
          <a:prstGeom prst="ellipse">
            <a:avLst/>
          </a:prstGeom>
          <a:solidFill>
            <a:schemeClr val="accent1"/>
          </a:solidFill>
          <a:ln/>
        </p:spPr>
      </p:sp>
      <p:sp>
        <p:nvSpPr>
          <p:cNvPr id="33" name="Shape 31"/>
          <p:cNvSpPr/>
          <p:nvPr/>
        </p:nvSpPr>
        <p:spPr>
          <a:xfrm>
            <a:off x="7827264" y="3912444"/>
            <a:ext cx="0" cy="981496"/>
          </a:xfrm>
          <a:prstGeom prst="line">
            <a:avLst/>
          </a:prstGeom>
          <a:noFill/>
          <a:ln w="19050">
            <a:solidFill>
              <a:srgbClr val="EFA23A"/>
            </a:solidFill>
            <a:prstDash val="solid"/>
          </a:ln>
        </p:spPr>
      </p:sp>
      <p:sp>
        <p:nvSpPr>
          <p:cNvPr id="34" name="Text 32"/>
          <p:cNvSpPr txBox="1"/>
          <p:nvPr/>
        </p:nvSpPr>
        <p:spPr>
          <a:xfrm>
            <a:off x="8092440" y="3602498"/>
            <a:ext cx="3322015" cy="309946"/>
          </a:xfrm>
          <a:prstGeom prst="rect">
            <a:avLst/>
          </a:prstGeom>
          <a:noFill/>
          <a:ln/>
        </p:spPr>
        <p:txBody>
          <a:bodyPr wrap="square" lIns="0" tIns="0" rIns="0" bIns="0" rtlCol="0" anchor="t"/>
          <a:lstStyle/>
          <a:p>
            <a:pPr indent="0" marL="0">
              <a:buNone/>
            </a:pPr>
            <a:r>
              <a:rPr lang="en-US" sz="1300" b="1" dirty="0">
                <a:solidFill>
                  <a:schemeClr val="accent1"/>
                </a:solidFill>
              </a:rPr>
              <a:t>1週間以内</a:t>
            </a:r>
            <a:endParaRPr lang="en-US" sz="1300" dirty="0"/>
          </a:p>
        </p:txBody>
      </p:sp>
      <p:sp>
        <p:nvSpPr>
          <p:cNvPr id="35" name="Text 33"/>
          <p:cNvSpPr txBox="1"/>
          <p:nvPr/>
        </p:nvSpPr>
        <p:spPr>
          <a:xfrm>
            <a:off x="8092440" y="3943439"/>
            <a:ext cx="3322015" cy="774865"/>
          </a:xfrm>
          <a:prstGeom prst="rect">
            <a:avLst/>
          </a:prstGeom>
          <a:noFill/>
          <a:ln/>
        </p:spPr>
        <p:txBody>
          <a:bodyPr wrap="square" lIns="0" tIns="0" rIns="0" bIns="0" rtlCol="0" anchor="t"/>
          <a:lstStyle/>
          <a:p>
            <a:pPr indent="0" marL="0">
              <a:buNone/>
            </a:pPr>
            <a:r>
              <a:rPr lang="en-US" sz="1300" dirty="0">
                <a:solidFill>
                  <a:schemeClr val="tx1"/>
                </a:solidFill>
              </a:rPr>
              <a:t>お見積り・スケジュール・体制のご提示</a:t>
            </a:r>
            <a:endParaRPr lang="en-US" sz="1300" dirty="0"/>
          </a:p>
        </p:txBody>
      </p:sp>
      <p:sp>
        <p:nvSpPr>
          <p:cNvPr id="36" name="Shape 34"/>
          <p:cNvSpPr/>
          <p:nvPr/>
        </p:nvSpPr>
        <p:spPr>
          <a:xfrm>
            <a:off x="7726680" y="4907003"/>
            <a:ext cx="201168" cy="201168"/>
          </a:xfrm>
          <a:prstGeom prst="ellipse">
            <a:avLst/>
          </a:prstGeom>
          <a:solidFill>
            <a:schemeClr val="accent1"/>
          </a:solidFill>
          <a:ln/>
        </p:spPr>
      </p:sp>
      <p:sp>
        <p:nvSpPr>
          <p:cNvPr id="37" name="Text 35"/>
          <p:cNvSpPr txBox="1"/>
          <p:nvPr/>
        </p:nvSpPr>
        <p:spPr>
          <a:xfrm>
            <a:off x="8092440" y="4842282"/>
            <a:ext cx="3322015" cy="309946"/>
          </a:xfrm>
          <a:prstGeom prst="rect">
            <a:avLst/>
          </a:prstGeom>
          <a:noFill/>
          <a:ln/>
        </p:spPr>
        <p:txBody>
          <a:bodyPr wrap="square" lIns="0" tIns="0" rIns="0" bIns="0" rtlCol="0" anchor="t"/>
          <a:lstStyle/>
          <a:p>
            <a:pPr indent="0" marL="0">
              <a:buNone/>
            </a:pPr>
            <a:r>
              <a:rPr lang="en-US" sz="1300" b="1" dirty="0">
                <a:solidFill>
                  <a:schemeClr val="accent1"/>
                </a:solidFill>
              </a:rPr>
              <a:t>ご決裁後</a:t>
            </a:r>
            <a:endParaRPr lang="en-US" sz="1300" dirty="0"/>
          </a:p>
        </p:txBody>
      </p:sp>
      <p:sp>
        <p:nvSpPr>
          <p:cNvPr id="38" name="Text 36"/>
          <p:cNvSpPr txBox="1"/>
          <p:nvPr/>
        </p:nvSpPr>
        <p:spPr>
          <a:xfrm>
            <a:off x="8092440" y="5183223"/>
            <a:ext cx="3322015" cy="774865"/>
          </a:xfrm>
          <a:prstGeom prst="rect">
            <a:avLst/>
          </a:prstGeom>
          <a:noFill/>
          <a:ln/>
        </p:spPr>
        <p:txBody>
          <a:bodyPr wrap="square" lIns="0" tIns="0" rIns="0" bIns="0" rtlCol="0" anchor="t"/>
          <a:lstStyle/>
          <a:p>
            <a:pPr indent="0" marL="0">
              <a:buNone/>
            </a:pPr>
            <a:r>
              <a:rPr lang="en-US" sz="1300" dirty="0">
                <a:solidFill>
                  <a:schemeClr val="tx1"/>
                </a:solidFill>
              </a:rPr>
              <a:t>キックオフ・現状調査・Drive 移行設計</a:t>
            </a:r>
            <a:endParaRPr lang="en-US" sz="13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参考：エディション別の主な機能</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使える機能はエディションで異なるため、対象者に応じた組み合わせもご提案できます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Appendix</a:t>
            </a:r>
            <a:endParaRPr lang="en-US" sz="9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87850"/>
          <a:ext cx="11094415" cy="914400"/>
        </p:xfrm>
        <a:graphic>
          <a:graphicData uri="http://schemas.openxmlformats.org/drawingml/2006/table">
            <a:tbl>
              <a:tblPr/>
              <a:tblGrid>
                <a:gridCol w="4144975"/>
                <a:gridCol w="1737360"/>
                <a:gridCol w="1737360"/>
                <a:gridCol w="1737360"/>
                <a:gridCol w="1737360"/>
              </a:tblGrid>
              <a:tr h="371935">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機能</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Business Starter</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Business Standard</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Business Plus</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Enterprise</a:t>
                      </a:r>
                      <a:endParaRPr lang="en-US" sz="1200" dirty="0">
                        <a:latin typeface="Meiryo UI" charset="0"/>
                        <a:ea typeface="Meiryo UI" charset="0"/>
                        <a:cs typeface="Meiryo UI" charset="0"/>
                      </a:endParaRPr>
                    </a:p>
                    <a:p>
                      <a:pPr algn="ctr" indent="0" marL="0">
                        <a:buNone/>
                      </a:pPr>
                      <a:r>
                        <a:rPr lang="en-US" sz="1200" b="1" dirty="0">
                          <a:solidFill>
                            <a:srgbClr val="FFFFFF"/>
                          </a:solidFill>
                          <a:latin typeface="Meiryo UI" pitchFamily="34" charset="0"/>
                          <a:ea typeface="Meiryo UI" pitchFamily="34" charset="-122"/>
                          <a:cs typeface="Meiryo UI" pitchFamily="34" charset="-120"/>
                        </a:rPr>
                        <a:t>（Standard／Plus）</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r>
              <a:tr h="371935">
                <a:tc>
                  <a:txBody>
                    <a:bodyPr/>
                    <a:lstStyle/>
                    <a:p>
                      <a:pPr algn="l" indent="0" marL="0">
                        <a:buNone/>
                      </a:pPr>
                      <a:r>
                        <a:rPr lang="en-US" sz="1200" b="1" dirty="0">
                          <a:solidFill>
                            <a:srgbClr val="1F2233"/>
                          </a:solidFill>
                          <a:latin typeface="Meiryo UI" pitchFamily="34" charset="0"/>
                          <a:ea typeface="Meiryo UI" pitchFamily="34" charset="-122"/>
                          <a:cs typeface="Meiryo UI" pitchFamily="34" charset="-120"/>
                        </a:rPr>
                        <a:t>月額料金（年間プラン・1ユーザー・税別）</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dirty="0">
                          <a:solidFill>
                            <a:srgbClr val="1F2233"/>
                          </a:solidFill>
                          <a:latin typeface="Meiryo UI" pitchFamily="34" charset="0"/>
                          <a:ea typeface="Meiryo UI" pitchFamily="34" charset="-122"/>
                          <a:cs typeface="Meiryo UI" pitchFamily="34" charset="-120"/>
                        </a:rPr>
                        <a:t>800円</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dirty="0">
                          <a:solidFill>
                            <a:srgbClr val="1F2233"/>
                          </a:solidFill>
                          <a:latin typeface="Meiryo UI" pitchFamily="34" charset="0"/>
                          <a:ea typeface="Meiryo UI" pitchFamily="34" charset="-122"/>
                          <a:cs typeface="Meiryo UI" pitchFamily="34" charset="-120"/>
                        </a:rPr>
                        <a:t>1,600円</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dirty="0">
                          <a:solidFill>
                            <a:srgbClr val="1F2233"/>
                          </a:solidFill>
                          <a:latin typeface="Meiryo UI" pitchFamily="34" charset="0"/>
                          <a:ea typeface="Meiryo UI" pitchFamily="34" charset="-122"/>
                          <a:cs typeface="Meiryo UI" pitchFamily="34" charset="-120"/>
                        </a:rPr>
                        <a:t>2,500円</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dirty="0">
                          <a:solidFill>
                            <a:srgbClr val="1F2233"/>
                          </a:solidFill>
                          <a:latin typeface="Meiryo UI" pitchFamily="34" charset="0"/>
                          <a:ea typeface="Meiryo UI" pitchFamily="34" charset="-122"/>
                          <a:cs typeface="Meiryo UI" pitchFamily="34" charset="-120"/>
                        </a:rPr>
                        <a:t>要問合せ</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371935">
                <a:tc>
                  <a:txBody>
                    <a:bodyPr/>
                    <a:lstStyle/>
                    <a:p>
                      <a:pPr algn="l" indent="0" marL="0">
                        <a:buNone/>
                      </a:pPr>
                      <a:r>
                        <a:rPr lang="en-US" sz="1200" b="1" dirty="0">
                          <a:solidFill>
                            <a:srgbClr val="1F2233"/>
                          </a:solidFill>
                          <a:latin typeface="Meiryo UI" pitchFamily="34" charset="0"/>
                          <a:ea typeface="Meiryo UI" pitchFamily="34" charset="-122"/>
                          <a:cs typeface="Meiryo UI" pitchFamily="34" charset="-120"/>
                        </a:rPr>
                        <a:t>Gmail の Gemini（文章作成・要約）</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371935">
                <a:tc>
                  <a:txBody>
                    <a:bodyPr/>
                    <a:lstStyle/>
                    <a:p>
                      <a:pPr algn="l" indent="0" marL="0">
                        <a:buNone/>
                      </a:pPr>
                      <a:r>
                        <a:rPr lang="en-US" sz="1200" b="1" dirty="0">
                          <a:solidFill>
                            <a:srgbClr val="1F2233"/>
                          </a:solidFill>
                          <a:latin typeface="Meiryo UI" pitchFamily="34" charset="0"/>
                          <a:ea typeface="Meiryo UI" pitchFamily="34" charset="-122"/>
                          <a:cs typeface="Meiryo UI" pitchFamily="34" charset="-120"/>
                        </a:rPr>
                        <a:t>Gemini アプリ・Gem・Gemini Notebook</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371935">
                <a:tc>
                  <a:txBody>
                    <a:bodyPr/>
                    <a:lstStyle/>
                    <a:p>
                      <a:pPr algn="l" indent="0" marL="0">
                        <a:buNone/>
                      </a:pPr>
                      <a:r>
                        <a:rPr lang="en-US" sz="1200" b="1" dirty="0">
                          <a:solidFill>
                            <a:srgbClr val="1F2233"/>
                          </a:solidFill>
                          <a:latin typeface="Meiryo UI" pitchFamily="34" charset="0"/>
                          <a:ea typeface="Meiryo UI" pitchFamily="34" charset="-122"/>
                          <a:cs typeface="Meiryo UI" pitchFamily="34" charset="-120"/>
                        </a:rPr>
                        <a:t>ドキュメント／スプレッドシート／スライドの Gemini</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7C8096"/>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371935">
                <a:tc>
                  <a:txBody>
                    <a:bodyPr/>
                    <a:lstStyle/>
                    <a:p>
                      <a:pPr algn="l" indent="0" marL="0">
                        <a:buNone/>
                      </a:pPr>
                      <a:r>
                        <a:rPr lang="en-US" sz="1200" b="1" dirty="0">
                          <a:solidFill>
                            <a:srgbClr val="1F2233"/>
                          </a:solidFill>
                          <a:latin typeface="Meiryo UI" pitchFamily="34" charset="0"/>
                          <a:ea typeface="Meiryo UI" pitchFamily="34" charset="-122"/>
                          <a:cs typeface="Meiryo UI" pitchFamily="34" charset="-120"/>
                        </a:rPr>
                        <a:t>Meet の自動メモ（議事録作成）</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dirty="0">
                          <a:solidFill>
                            <a:srgbClr val="7C8096"/>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371935">
                <a:tc>
                  <a:txBody>
                    <a:bodyPr/>
                    <a:lstStyle/>
                    <a:p>
                      <a:pPr algn="l" indent="0" marL="0">
                        <a:buNone/>
                      </a:pPr>
                      <a:r>
                        <a:rPr lang="en-US" sz="1200" b="1" dirty="0">
                          <a:solidFill>
                            <a:srgbClr val="1F2233"/>
                          </a:solidFill>
                          <a:latin typeface="Meiryo UI" pitchFamily="34" charset="0"/>
                          <a:ea typeface="Meiryo UI" pitchFamily="34" charset="-122"/>
                          <a:cs typeface="Meiryo UI" pitchFamily="34" charset="-120"/>
                        </a:rPr>
                        <a:t>Workspace Studio（業務の自動化）</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371935">
                <a:tc>
                  <a:txBody>
                    <a:bodyPr/>
                    <a:lstStyle/>
                    <a:p>
                      <a:pPr algn="l" indent="0" marL="0">
                        <a:buNone/>
                      </a:pPr>
                      <a:r>
                        <a:rPr lang="en-US" sz="1200" b="1" dirty="0">
                          <a:solidFill>
                            <a:srgbClr val="1F2233"/>
                          </a:solidFill>
                          <a:latin typeface="Meiryo UI" pitchFamily="34" charset="0"/>
                          <a:ea typeface="Meiryo UI" pitchFamily="34" charset="-122"/>
                          <a:cs typeface="Meiryo UI" pitchFamily="34" charset="-120"/>
                        </a:rPr>
                        <a:t>組織外共有の制限・リンク共有の禁止</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371935">
                <a:tc>
                  <a:txBody>
                    <a:bodyPr/>
                    <a:lstStyle/>
                    <a:p>
                      <a:pPr algn="l" indent="0" marL="0">
                        <a:buNone/>
                      </a:pPr>
                      <a:r>
                        <a:rPr lang="en-US" sz="1200" b="1" dirty="0">
                          <a:solidFill>
                            <a:srgbClr val="1F2233"/>
                          </a:solidFill>
                          <a:latin typeface="Meiryo UI" pitchFamily="34" charset="0"/>
                          <a:ea typeface="Meiryo UI" pitchFamily="34" charset="-122"/>
                          <a:cs typeface="Meiryo UI" pitchFamily="34" charset="-120"/>
                        </a:rPr>
                        <a:t>共有ドライブの詳細設定（外部共有・DL 禁止）</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7C8096"/>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371935">
                <a:tc>
                  <a:txBody>
                    <a:bodyPr/>
                    <a:lstStyle/>
                    <a:p>
                      <a:pPr algn="l" indent="0" marL="0">
                        <a:buNone/>
                      </a:pPr>
                      <a:r>
                        <a:rPr lang="en-US" sz="1200" b="1" dirty="0">
                          <a:solidFill>
                            <a:srgbClr val="1F2233"/>
                          </a:solidFill>
                          <a:latin typeface="Meiryo UI" pitchFamily="34" charset="0"/>
                          <a:ea typeface="Meiryo UI" pitchFamily="34" charset="-122"/>
                          <a:cs typeface="Meiryo UI" pitchFamily="34" charset="-120"/>
                        </a:rPr>
                        <a:t>新規ファイルの既定の公開範囲を管理者が設定</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dirty="0">
                          <a:solidFill>
                            <a:srgbClr val="7C8096"/>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371935">
                <a:tc>
                  <a:txBody>
                    <a:bodyPr/>
                    <a:lstStyle/>
                    <a:p>
                      <a:pPr algn="l" indent="0" marL="0">
                        <a:buNone/>
                      </a:pPr>
                      <a:r>
                        <a:rPr lang="en-US" sz="1200" b="1" dirty="0">
                          <a:solidFill>
                            <a:srgbClr val="1F2233"/>
                          </a:solidFill>
                          <a:latin typeface="Meiryo UI" pitchFamily="34" charset="0"/>
                          <a:ea typeface="Meiryo UI" pitchFamily="34" charset="-122"/>
                          <a:cs typeface="Meiryo UI" pitchFamily="34" charset="-120"/>
                        </a:rPr>
                        <a:t>Vault（データの保持・検索）</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7C8096"/>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7C8096"/>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371935">
                <a:tc>
                  <a:txBody>
                    <a:bodyPr/>
                    <a:lstStyle/>
                    <a:p>
                      <a:pPr algn="l" indent="0" marL="0">
                        <a:buNone/>
                      </a:pPr>
                      <a:r>
                        <a:rPr lang="en-US" sz="1200" b="1" dirty="0">
                          <a:solidFill>
                            <a:srgbClr val="1F2233"/>
                          </a:solidFill>
                          <a:latin typeface="Meiryo UI" pitchFamily="34" charset="0"/>
                          <a:ea typeface="Meiryo UI" pitchFamily="34" charset="-122"/>
                          <a:cs typeface="Meiryo UI" pitchFamily="34" charset="-120"/>
                        </a:rPr>
                        <a:t>DLP（情報漏えい防止）・信頼ルール</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dirty="0">
                          <a:solidFill>
                            <a:srgbClr val="7C8096"/>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dirty="0">
                          <a:solidFill>
                            <a:srgbClr val="7C8096"/>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dirty="0">
                          <a:solidFill>
                            <a:srgbClr val="7C8096"/>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bl>
          </a:graphicData>
        </a:graphic>
      </p:graphicFrame>
      <p:sp>
        <p:nvSpPr>
          <p:cNvPr id="6" name="source"/>
          <p:cNvSpPr txBox="1"/>
          <p:nvPr/>
        </p:nvSpPr>
        <p:spPr>
          <a:xfrm>
            <a:off x="548640" y="6336792"/>
            <a:ext cx="11094415" cy="201168"/>
          </a:xfrm>
          <a:prstGeom prst="rect">
            <a:avLst/>
          </a:prstGeom>
          <a:noFill/>
          <a:ln/>
        </p:spPr>
        <p:txBody>
          <a:bodyPr wrap="square" lIns="0" tIns="0" rIns="0" bIns="0" rtlCol="0" anchor="ctr"/>
          <a:lstStyle/>
          <a:p>
            <a:pPr indent="0" marL="0">
              <a:buNone/>
            </a:pPr>
            <a:r>
              <a:rPr lang="en-US" sz="900" dirty="0">
                <a:solidFill>
                  <a:schemeClr val="accent6"/>
                </a:solidFill>
              </a:rPr>
              <a:t>出典：Google Workspace 管理者ヘルプ「Business エディションの比較」、料金は Google 公式ヘルプ（2026年10月時点）。Business エディションは最大300ユーザー（全職員へ広げる場合は要検討）</a:t>
            </a:r>
            <a:endParaRPr lang="en-US" sz="9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会社概要</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本件では自社ツールの導入を前提とせず、導入済みの Google Workspace の活用支援に専念します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Appendix</a:t>
            </a:r>
            <a:endParaRPr lang="en-US" sz="9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639507"/>
          <a:ext cx="7680960" cy="914400"/>
        </p:xfrm>
        <a:graphic>
          <a:graphicData uri="http://schemas.openxmlformats.org/drawingml/2006/table">
            <a:tbl>
              <a:tblPr/>
              <a:tblGrid>
                <a:gridCol w="1645920"/>
                <a:gridCol w="6035040"/>
              </a:tblGrid>
              <a:tr h="661218">
                <a:tc>
                  <a:txBody>
                    <a:bodyPr/>
                    <a:lstStyle/>
                    <a:p>
                      <a:pPr indent="0" marL="0">
                        <a:buNone/>
                      </a:pPr>
                      <a:r>
                        <a:rPr lang="en-US" sz="1300" b="1" dirty="0">
                          <a:solidFill>
                            <a:srgbClr val="2B2A5E"/>
                          </a:solidFill>
                          <a:latin typeface="Meiryo UI" pitchFamily="34" charset="0"/>
                          <a:ea typeface="Meiryo UI" pitchFamily="34" charset="-122"/>
                          <a:cs typeface="Meiryo UI" pitchFamily="34" charset="-120"/>
                        </a:rPr>
                        <a:t>会社名</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300" dirty="0">
                          <a:solidFill>
                            <a:srgbClr val="1F2233"/>
                          </a:solidFill>
                          <a:latin typeface="Meiryo UI" pitchFamily="34" charset="0"/>
                          <a:ea typeface="Meiryo UI" pitchFamily="34" charset="-122"/>
                          <a:cs typeface="Meiryo UI" pitchFamily="34" charset="-120"/>
                        </a:rPr>
                        <a:t>グリーエックス株式会社</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661218">
                <a:tc>
                  <a:txBody>
                    <a:bodyPr/>
                    <a:lstStyle/>
                    <a:p>
                      <a:pPr indent="0" marL="0">
                        <a:buNone/>
                      </a:pPr>
                      <a:r>
                        <a:rPr lang="en-US" sz="1300" b="1" dirty="0">
                          <a:solidFill>
                            <a:srgbClr val="2B2A5E"/>
                          </a:solidFill>
                          <a:latin typeface="Meiryo UI" pitchFamily="34" charset="0"/>
                          <a:ea typeface="Meiryo UI" pitchFamily="34" charset="-122"/>
                          <a:cs typeface="Meiryo UI" pitchFamily="34" charset="-120"/>
                        </a:rPr>
                        <a:t>設立</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300" dirty="0">
                          <a:solidFill>
                            <a:srgbClr val="1F2233"/>
                          </a:solidFill>
                          <a:latin typeface="Meiryo UI" pitchFamily="34" charset="0"/>
                          <a:ea typeface="Meiryo UI" pitchFamily="34" charset="-122"/>
                          <a:cs typeface="Meiryo UI" pitchFamily="34" charset="-120"/>
                        </a:rPr>
                        <a:t>2007年3月15日（2025年2月1日に Glossom株式会社 から社名変更）</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661218">
                <a:tc>
                  <a:txBody>
                    <a:bodyPr/>
                    <a:lstStyle/>
                    <a:p>
                      <a:pPr indent="0" marL="0">
                        <a:buNone/>
                      </a:pPr>
                      <a:r>
                        <a:rPr lang="en-US" sz="1300" b="1" dirty="0">
                          <a:solidFill>
                            <a:srgbClr val="2B2A5E"/>
                          </a:solidFill>
                          <a:latin typeface="Meiryo UI" pitchFamily="34" charset="0"/>
                          <a:ea typeface="Meiryo UI" pitchFamily="34" charset="-122"/>
                          <a:cs typeface="Meiryo UI" pitchFamily="34" charset="-120"/>
                        </a:rPr>
                        <a:t>代表者</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300" dirty="0">
                          <a:solidFill>
                            <a:srgbClr val="1F2233"/>
                          </a:solidFill>
                          <a:latin typeface="Meiryo UI" pitchFamily="34" charset="0"/>
                          <a:ea typeface="Meiryo UI" pitchFamily="34" charset="-122"/>
                          <a:cs typeface="Meiryo UI" pitchFamily="34" charset="-120"/>
                        </a:rPr>
                        <a:t>足立 和久</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661218">
                <a:tc>
                  <a:txBody>
                    <a:bodyPr/>
                    <a:lstStyle/>
                    <a:p>
                      <a:pPr indent="0" marL="0">
                        <a:buNone/>
                      </a:pPr>
                      <a:r>
                        <a:rPr lang="en-US" sz="1300" b="1" dirty="0">
                          <a:solidFill>
                            <a:srgbClr val="2B2A5E"/>
                          </a:solidFill>
                          <a:latin typeface="Meiryo UI" pitchFamily="34" charset="0"/>
                          <a:ea typeface="Meiryo UI" pitchFamily="34" charset="-122"/>
                          <a:cs typeface="Meiryo UI" pitchFamily="34" charset="-120"/>
                        </a:rPr>
                        <a:t>所在地</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300" dirty="0">
                          <a:solidFill>
                            <a:srgbClr val="1F2233"/>
                          </a:solidFill>
                          <a:latin typeface="Meiryo UI" pitchFamily="34" charset="0"/>
                          <a:ea typeface="Meiryo UI" pitchFamily="34" charset="-122"/>
                          <a:cs typeface="Meiryo UI" pitchFamily="34" charset="-120"/>
                        </a:rPr>
                        <a:t>東京都港区六本木6-11-1 六本木ヒルズゲートタワー</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661218">
                <a:tc>
                  <a:txBody>
                    <a:bodyPr/>
                    <a:lstStyle/>
                    <a:p>
                      <a:pPr indent="0" marL="0">
                        <a:buNone/>
                      </a:pPr>
                      <a:r>
                        <a:rPr lang="en-US" sz="1300" b="1" dirty="0">
                          <a:solidFill>
                            <a:srgbClr val="2B2A5E"/>
                          </a:solidFill>
                          <a:latin typeface="Meiryo UI" pitchFamily="34" charset="0"/>
                          <a:ea typeface="Meiryo UI" pitchFamily="34" charset="-122"/>
                          <a:cs typeface="Meiryo UI" pitchFamily="34" charset="-120"/>
                        </a:rPr>
                        <a:t>資本金</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300" dirty="0">
                          <a:solidFill>
                            <a:srgbClr val="1F2233"/>
                          </a:solidFill>
                          <a:latin typeface="Meiryo UI" pitchFamily="34" charset="0"/>
                          <a:ea typeface="Meiryo UI" pitchFamily="34" charset="-122"/>
                          <a:cs typeface="Meiryo UI" pitchFamily="34" charset="-120"/>
                        </a:rPr>
                        <a:t>1億円</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661218">
                <a:tc>
                  <a:txBody>
                    <a:bodyPr/>
                    <a:lstStyle/>
                    <a:p>
                      <a:pPr indent="0" marL="0">
                        <a:buNone/>
                      </a:pPr>
                      <a:r>
                        <a:rPr lang="en-US" sz="1300" b="1" dirty="0">
                          <a:solidFill>
                            <a:srgbClr val="2B2A5E"/>
                          </a:solidFill>
                          <a:latin typeface="Meiryo UI" pitchFamily="34" charset="0"/>
                          <a:ea typeface="Meiryo UI" pitchFamily="34" charset="-122"/>
                          <a:cs typeface="Meiryo UI" pitchFamily="34" charset="-120"/>
                        </a:rPr>
                        <a:t>株主</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300" dirty="0">
                          <a:solidFill>
                            <a:srgbClr val="1F2233"/>
                          </a:solidFill>
                          <a:latin typeface="Meiryo UI" pitchFamily="34" charset="0"/>
                          <a:ea typeface="Meiryo UI" pitchFamily="34" charset="-122"/>
                          <a:cs typeface="Meiryo UI" pitchFamily="34" charset="-120"/>
                        </a:rPr>
                        <a:t>グリーホールディングス株式会社（100%）</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661218">
                <a:tc>
                  <a:txBody>
                    <a:bodyPr/>
                    <a:lstStyle/>
                    <a:p>
                      <a:pPr indent="0" marL="0">
                        <a:buNone/>
                      </a:pPr>
                      <a:r>
                        <a:rPr lang="en-US" sz="1300" b="1" dirty="0">
                          <a:solidFill>
                            <a:srgbClr val="2B2A5E"/>
                          </a:solidFill>
                          <a:latin typeface="Meiryo UI" pitchFamily="34" charset="0"/>
                          <a:ea typeface="Meiryo UI" pitchFamily="34" charset="-122"/>
                          <a:cs typeface="Meiryo UI" pitchFamily="34" charset="-120"/>
                        </a:rPr>
                        <a:t>事業内容</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300" dirty="0">
                          <a:solidFill>
                            <a:srgbClr val="1F2233"/>
                          </a:solidFill>
                          <a:latin typeface="Meiryo UI" pitchFamily="34" charset="0"/>
                          <a:ea typeface="Meiryo UI" pitchFamily="34" charset="-122"/>
                          <a:cs typeface="Meiryo UI" pitchFamily="34" charset="-120"/>
                        </a:rPr>
                        <a:t>DXコンサルティング事業、DXソリューション事業</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bl>
          </a:graphicData>
        </a:graphic>
      </p:graphicFrame>
      <p:pic>
        <p:nvPicPr>
          <p:cNvPr id="6" name="Image 0" descr="オフィスビルのイラスト">    </p:cNvPr>
          <p:cNvPicPr>
            <a:picLocks noChangeAspect="1"/>
          </p:cNvPicPr>
          <p:nvPr/>
        </p:nvPicPr>
        <p:blipFill>
          <a:blip r:embed="rId1"/>
          <a:stretch>
            <a:fillRect/>
          </a:stretch>
        </p:blipFill>
        <p:spPr>
          <a:xfrm>
            <a:off x="8915400" y="2723724"/>
            <a:ext cx="2377440" cy="2377440"/>
          </a:xfrm>
          <a:prstGeom prst="rect">
            <a:avLst/>
          </a:prstGeom>
        </p:spPr>
      </p:pic>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出典一覧</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本資料で引用した数値・事例・制度情報の出典です（2026年10月26日時点で確認）</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Appendix</a:t>
            </a:r>
            <a:endParaRPr lang="en-US" sz="900" dirty="0"/>
          </a:p>
        </p:txBody>
      </p:sp>
      <p:sp>
        <p:nvSpPr>
          <p:cNvPr id="5" name="Text 3"/>
          <p:cNvSpPr txBox="1"/>
          <p:nvPr/>
        </p:nvSpPr>
        <p:spPr>
          <a:xfrm>
            <a:off x="548640" y="1536192"/>
            <a:ext cx="11094415" cy="4752505"/>
          </a:xfrm>
          <a:prstGeom prst="rect">
            <a:avLst/>
          </a:prstGeom>
          <a:noFill/>
          <a:ln/>
        </p:spPr>
        <p:txBody>
          <a:bodyPr wrap="square" lIns="0" tIns="0" rIns="0" bIns="0" rtlCol="0" anchor="t"/>
          <a:lstStyle/>
          <a:p>
            <a:pPr indent="0" marL="0">
              <a:spcAft>
                <a:spcPts val="600"/>
              </a:spcAft>
              <a:buNone/>
            </a:pPr>
            <a:r>
              <a:rPr lang="en-US" sz="1100" b="1" dirty="0">
                <a:solidFill>
                  <a:srgbClr val="2B2A5E"/>
                </a:solidFill>
              </a:rPr>
              <a:t>【業界・制度】</a:t>
            </a:r>
            <a:endParaRPr lang="en-US" sz="1100" dirty="0"/>
          </a:p>
          <a:p>
            <a:pPr indent="0" marL="0">
              <a:spcAft>
                <a:spcPts val="600"/>
              </a:spcAft>
              <a:buNone/>
            </a:pPr>
            <a:r>
              <a:rPr lang="en-US" sz="1100" dirty="0">
                <a:solidFill>
                  <a:srgbClr val="1F2233"/>
                </a:solidFill>
              </a:rPr>
              <a:t>[1] 厚生労働省「第9期介護保険事業計画に基づく介護職員の必要数について」（2024年7月12日） https://www.mhlw.go.jp/stf/newpage_41379.html</a:t>
            </a:r>
            <a:endParaRPr lang="en-US" sz="1100" dirty="0"/>
          </a:p>
          <a:p>
            <a:pPr indent="0" marL="0">
              <a:spcAft>
                <a:spcPts val="600"/>
              </a:spcAft>
              <a:buNone/>
            </a:pPr>
            <a:r>
              <a:rPr lang="en-US" sz="1100" dirty="0">
                <a:solidFill>
                  <a:srgbClr val="1F2233"/>
                </a:solidFill>
              </a:rPr>
              <a:t>[2] 厚生労働省 第247回社会保障審議会介護給付費分科会 資料（2025年9月5日） https://www.mhlw.go.jp/content/12300000/001738934.pdf</a:t>
            </a:r>
            <a:endParaRPr lang="en-US" sz="1100" dirty="0"/>
          </a:p>
          <a:p>
            <a:pPr indent="0" marL="0">
              <a:spcAft>
                <a:spcPts val="600"/>
              </a:spcAft>
              <a:buNone/>
            </a:pPr>
            <a:r>
              <a:rPr lang="en-US" sz="1100" dirty="0">
                <a:solidFill>
                  <a:srgbClr val="1F2233"/>
                </a:solidFill>
              </a:rPr>
              <a:t>[3] 厚生労働省「ICT導入支援事業 令和3年度 導入効果報告取りまとめ」 https://www.mhlw.go.jp/content/12300000/001124036.pdf</a:t>
            </a:r>
            <a:endParaRPr lang="en-US" sz="1100" dirty="0"/>
          </a:p>
          <a:p>
            <a:pPr indent="0" marL="0">
              <a:spcAft>
                <a:spcPts val="600"/>
              </a:spcAft>
              <a:buNone/>
            </a:pPr>
            <a:r>
              <a:rPr lang="en-US" sz="1100" dirty="0">
                <a:solidFill>
                  <a:srgbClr val="1F2233"/>
                </a:solidFill>
              </a:rPr>
              <a:t>[4] 厚生労働省 老高発0315第4号 生産性向上推進体制加算（2024年3月15日） https://www.mhlw.go.jp/content/001227729.pdf</a:t>
            </a:r>
            <a:endParaRPr lang="en-US" sz="1100" dirty="0"/>
          </a:p>
          <a:p>
            <a:pPr indent="0" marL="0">
              <a:spcAft>
                <a:spcPts val="600"/>
              </a:spcAft>
              <a:buNone/>
            </a:pPr>
            <a:r>
              <a:rPr lang="en-US" sz="1100" dirty="0">
                <a:solidFill>
                  <a:srgbClr val="1F2233"/>
                </a:solidFill>
              </a:rPr>
              <a:t>[5] 厚生労働省 令和8年度介護報酬改定（処遇改善加算）資料 https://www.mhlw.go.jp/content/12404000/001675936.pdf ／ 老発0313第6号 https://www.mhlw.go.jp/content/001674610.pdf</a:t>
            </a:r>
            <a:endParaRPr lang="en-US" sz="1100" dirty="0"/>
          </a:p>
          <a:p>
            <a:pPr indent="0" marL="0">
              <a:spcAft>
                <a:spcPts val="600"/>
              </a:spcAft>
              <a:buNone/>
            </a:pPr>
            <a:r>
              <a:rPr lang="en-US" sz="1100" dirty="0">
                <a:solidFill>
                  <a:srgbClr val="1F2233"/>
                </a:solidFill>
              </a:rPr>
              <a:t>[6] 個人情報保護委員会・厚生労働省「医療・介護関係事業者における個人情報の適切な取扱いのためのガイダンス」 https://www.ppc.go.jp/files/pdf/260401_iryoukaigo_guidance.pdf</a:t>
            </a:r>
            <a:endParaRPr lang="en-US" sz="1100" dirty="0"/>
          </a:p>
          <a:p>
            <a:pPr indent="0" marL="0">
              <a:spcAft>
                <a:spcPts val="600"/>
              </a:spcAft>
              <a:buNone/>
            </a:pPr>
            <a:r>
              <a:rPr lang="en-US" sz="1100" dirty="0">
                <a:solidFill>
                  <a:srgbClr val="1F2233"/>
                </a:solidFill>
              </a:rPr>
              <a:t>[7] 厚生労働省「医療情報システムの安全管理に関するガイドライン」 https://www.mhlw.go.jp/stf/shingi/0000516275_00006.html</a:t>
            </a:r>
            <a:endParaRPr lang="en-US" sz="1100" dirty="0"/>
          </a:p>
          <a:p>
            <a:pPr indent="0" marL="0">
              <a:spcAft>
                <a:spcPts val="600"/>
              </a:spcAft>
              <a:buNone/>
            </a:pPr>
            <a:r>
              <a:rPr lang="en-US" sz="1100" dirty="0">
                <a:solidFill>
                  <a:srgbClr val="1F2233"/>
                </a:solidFill>
              </a:rPr>
              <a:t>[8] 個人情報保護委員会「生成AIサービスの利用に関する注意喚起等」（2023年6月2日） https://www.ppc.go.jp/files/pdf/230602_alert_generative_AI_service.pdf</a:t>
            </a:r>
            <a:endParaRPr lang="en-US" sz="1100" dirty="0"/>
          </a:p>
          <a:p>
            <a:pPr indent="0" marL="0">
              <a:spcAft>
                <a:spcPts val="600"/>
              </a:spcAft>
              <a:buNone/>
            </a:pPr>
            <a:r>
              <a:rPr lang="en-US" sz="1100" dirty="0">
                <a:solidFill>
                  <a:srgbClr val="1F2233"/>
                </a:solidFill>
              </a:rPr>
              <a:t>[9] 株式会社サカイ（あじさいグループ）ウェブサイト http://www.s-ajisai.com/</a:t>
            </a:r>
            <a:endParaRPr lang="en-US" sz="1100" dirty="0"/>
          </a:p>
          <a:p>
            <a:pPr indent="0" marL="0">
              <a:spcAft>
                <a:spcPts val="600"/>
              </a:spcAft>
              <a:buNone/>
            </a:pPr>
            <a:r>
              <a:rPr lang="en-US" sz="1100" b="1" dirty="0">
                <a:solidFill>
                  <a:srgbClr val="2B2A5E"/>
                </a:solidFill>
              </a:rPr>
              <a:t>【Google Workspace】</a:t>
            </a:r>
            <a:endParaRPr lang="en-US" sz="1100" dirty="0"/>
          </a:p>
          <a:p>
            <a:pPr indent="0" marL="0">
              <a:spcAft>
                <a:spcPts val="600"/>
              </a:spcAft>
              <a:buNone/>
            </a:pPr>
            <a:r>
              <a:rPr lang="en-US" sz="1100" dirty="0">
                <a:solidFill>
                  <a:srgbClr val="1F2233"/>
                </a:solidFill>
              </a:rPr>
              <a:t>[10] Google ドライブ ヘルプ「Google ドライブのファイルを共有する」 https://support.google.com/drive/answer/2494822</a:t>
            </a:r>
            <a:endParaRPr lang="en-US" sz="1100" dirty="0"/>
          </a:p>
          <a:p>
            <a:pPr indent="0" marL="0">
              <a:spcAft>
                <a:spcPts val="600"/>
              </a:spcAft>
              <a:buNone/>
            </a:pPr>
            <a:r>
              <a:rPr lang="en-US" sz="1100" dirty="0">
                <a:solidFill>
                  <a:srgbClr val="1F2233"/>
                </a:solidFill>
              </a:rPr>
              <a:t>[11] Google ドライブ ヘルプ「共有を停止、制限、変更する」 https://support.google.com/drive/answer/2494893</a:t>
            </a:r>
            <a:endParaRPr lang="en-US" sz="1100" dirty="0"/>
          </a:p>
          <a:p>
            <a:pPr indent="0" marL="0">
              <a:spcAft>
                <a:spcPts val="600"/>
              </a:spcAft>
              <a:buNone/>
            </a:pPr>
            <a:r>
              <a:rPr lang="en-US" sz="1100" dirty="0">
                <a:solidFill>
                  <a:srgbClr val="1F2233"/>
                </a:solidFill>
              </a:rPr>
              <a:t>[12] Google Workspace 管理者ヘルプ「組織の外部共有を管理する」 https://knowledge.workspace.google.com/admin/drive/manage-external-sharing-for-your-organization</a:t>
            </a:r>
            <a:endParaRPr lang="en-US" sz="1100" dirty="0"/>
          </a:p>
          <a:p>
            <a:pPr indent="0" marL="0">
              <a:spcAft>
                <a:spcPts val="600"/>
              </a:spcAft>
              <a:buNone/>
            </a:pPr>
            <a:r>
              <a:rPr lang="en-US" sz="1100" dirty="0">
                <a:solidFill>
                  <a:srgbClr val="1F2233"/>
                </a:solidFill>
              </a:rPr>
              <a:t>[13] Google Workspace 管理者ヘルプ「組織の共有ドライブを設定する」 https://knowledge.workspace.google.com/admin/drive/set-up-shared-drives-for-your-organization</a:t>
            </a:r>
            <a:endParaRPr lang="en-US" sz="1100" dirty="0"/>
          </a:p>
          <a:p>
            <a:pPr indent="0" marL="0">
              <a:spcAft>
                <a:spcPts val="600"/>
              </a:spcAft>
              <a:buNone/>
            </a:pPr>
            <a:r>
              <a:rPr lang="en-US" sz="1100" dirty="0">
                <a:solidFill>
                  <a:srgbClr val="1F2233"/>
                </a:solidFill>
              </a:rPr>
              <a:t>[14] Google Workspace 管理者ヘルプ「Business エディションの比較」 https://knowledge.workspace.google.com/admin/getting-started/editions/compare-business-editions</a:t>
            </a:r>
            <a:endParaRPr lang="en-US" sz="11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出典一覧（続き）</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本資料で引用した数値・事例・制度情報の出典です（2026年10月26日時点で確認）</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Appendix</a:t>
            </a:r>
            <a:endParaRPr lang="en-US" sz="900" dirty="0"/>
          </a:p>
        </p:txBody>
      </p:sp>
      <p:sp>
        <p:nvSpPr>
          <p:cNvPr id="5" name="Text 3"/>
          <p:cNvSpPr txBox="1"/>
          <p:nvPr/>
        </p:nvSpPr>
        <p:spPr>
          <a:xfrm>
            <a:off x="548640" y="1536192"/>
            <a:ext cx="11094415" cy="4752505"/>
          </a:xfrm>
          <a:prstGeom prst="rect">
            <a:avLst/>
          </a:prstGeom>
          <a:noFill/>
          <a:ln/>
        </p:spPr>
        <p:txBody>
          <a:bodyPr wrap="square" lIns="0" tIns="0" rIns="0" bIns="0" rtlCol="0" anchor="t"/>
          <a:lstStyle/>
          <a:p>
            <a:pPr indent="0" marL="0">
              <a:spcAft>
                <a:spcPts val="600"/>
              </a:spcAft>
              <a:buNone/>
            </a:pPr>
            <a:r>
              <a:rPr lang="en-US" sz="1100" dirty="0">
                <a:solidFill>
                  <a:srgbClr val="1F2233"/>
                </a:solidFill>
              </a:rPr>
              <a:t>[15] Google Workspace Updates「Dropbox から Google ドライブへの移行」（2026年1月） https://workspaceupdates.googleblog.com/2026/01/migrate-files-dropbox-to-google-drive.html</a:t>
            </a:r>
            <a:endParaRPr lang="en-US" sz="1100" dirty="0"/>
          </a:p>
          <a:p>
            <a:pPr indent="0" marL="0">
              <a:spcAft>
                <a:spcPts val="600"/>
              </a:spcAft>
              <a:buNone/>
            </a:pPr>
            <a:r>
              <a:rPr lang="en-US" sz="1100" dirty="0">
                <a:solidFill>
                  <a:srgbClr val="1F2233"/>
                </a:solidFill>
              </a:rPr>
              <a:t>[16] Google Workspace 管理者ヘルプ「Dropbox からインポートされるデータ」 https://knowledge.workspace.google.com/admin/migrate/whats-migrated-in-a-dropbox-file-migration</a:t>
            </a:r>
            <a:endParaRPr lang="en-US" sz="1100" dirty="0"/>
          </a:p>
          <a:p>
            <a:pPr indent="0" marL="0">
              <a:spcAft>
                <a:spcPts val="600"/>
              </a:spcAft>
              <a:buNone/>
            </a:pPr>
            <a:r>
              <a:rPr lang="en-US" sz="1100" dirty="0">
                <a:solidFill>
                  <a:srgbClr val="1F2233"/>
                </a:solidFill>
              </a:rPr>
              <a:t>[17] Google Workspace 生成 AI プライバシー ハブ https://knowledge.workspace.google.com/admin/generative-ai/generative-ai-in-google-workspace-privacy-hub</a:t>
            </a:r>
            <a:endParaRPr lang="en-US" sz="1100" dirty="0"/>
          </a:p>
          <a:p>
            <a:pPr indent="0" marL="0">
              <a:spcAft>
                <a:spcPts val="600"/>
              </a:spcAft>
              <a:buNone/>
            </a:pPr>
            <a:r>
              <a:rPr lang="en-US" sz="1100" dirty="0">
                <a:solidFill>
                  <a:srgbClr val="1F2233"/>
                </a:solidFill>
              </a:rPr>
              <a:t>[18] Google Workspace with Gemini の言語サポート https://knowledge.workspace.google.com/admin/generative-ai/google-workspace-with-gemini-language-support</a:t>
            </a:r>
            <a:endParaRPr lang="en-US" sz="1100" dirty="0"/>
          </a:p>
          <a:p>
            <a:pPr indent="0" marL="0">
              <a:spcAft>
                <a:spcPts val="600"/>
              </a:spcAft>
              <a:buNone/>
            </a:pPr>
            <a:r>
              <a:rPr lang="en-US" sz="1100" dirty="0">
                <a:solidFill>
                  <a:srgbClr val="1F2233"/>
                </a:solidFill>
              </a:rPr>
              <a:t>[19] Google Workspace Business エディションの AI 機能と料金 https://knowledge.workspace.google.com/admin/billing/ai-features-and-pricing-updates-for-google-workspace-business-editions?hl=ja</a:t>
            </a:r>
            <a:endParaRPr lang="en-US" sz="1100" dirty="0"/>
          </a:p>
          <a:p>
            <a:pPr indent="0" marL="0">
              <a:spcAft>
                <a:spcPts val="600"/>
              </a:spcAft>
              <a:buNone/>
            </a:pPr>
            <a:r>
              <a:rPr lang="en-US" sz="1100" dirty="0">
                <a:solidFill>
                  <a:srgbClr val="1F2233"/>
                </a:solidFill>
              </a:rPr>
              <a:t>[20] Google Workspace Blog（Gemini 利用者の削減時間 週105分） https://workspace.google.com/blog/product-announcements/google-workspace-extends-gemini-benefits-to-more-customers</a:t>
            </a:r>
            <a:endParaRPr lang="en-US" sz="1100" dirty="0"/>
          </a:p>
          <a:p>
            <a:pPr indent="0" marL="0">
              <a:spcAft>
                <a:spcPts val="600"/>
              </a:spcAft>
              <a:buNone/>
            </a:pPr>
            <a:r>
              <a:rPr lang="en-US" sz="1100" b="1" dirty="0">
                <a:solidFill>
                  <a:srgbClr val="2B2A5E"/>
                </a:solidFill>
              </a:rPr>
              <a:t>【事例】</a:t>
            </a:r>
            <a:endParaRPr lang="en-US" sz="1100" dirty="0"/>
          </a:p>
          <a:p>
            <a:pPr indent="0" marL="0">
              <a:spcAft>
                <a:spcPts val="600"/>
              </a:spcAft>
              <a:buNone/>
            </a:pPr>
            <a:r>
              <a:rPr lang="en-US" sz="1100" dirty="0">
                <a:solidFill>
                  <a:srgbClr val="1F2233"/>
                </a:solidFill>
              </a:rPr>
              <a:t>[21] 株式会社シーユーシー プレスリリース（2026年3月27日） https://digitalpr.jp/r/131285</a:t>
            </a:r>
            <a:endParaRPr lang="en-US" sz="1100" dirty="0"/>
          </a:p>
          <a:p>
            <a:pPr indent="0" marL="0">
              <a:spcAft>
                <a:spcPts val="600"/>
              </a:spcAft>
              <a:buNone/>
            </a:pPr>
            <a:r>
              <a:rPr lang="en-US" sz="1100" dirty="0">
                <a:solidFill>
                  <a:srgbClr val="1F2233"/>
                </a:solidFill>
              </a:rPr>
              <a:t>[22] Google Japan Blog（ケア記録アシスト） https://blog.google/intl/ja-jp/company-news/technology/caremanager/</a:t>
            </a:r>
            <a:endParaRPr lang="en-US" sz="1100" dirty="0"/>
          </a:p>
          <a:p>
            <a:pPr indent="0" marL="0">
              <a:spcAft>
                <a:spcPts val="600"/>
              </a:spcAft>
              <a:buNone/>
            </a:pPr>
            <a:r>
              <a:rPr lang="en-US" sz="1100" dirty="0">
                <a:solidFill>
                  <a:srgbClr val="1F2233"/>
                </a:solidFill>
              </a:rPr>
              <a:t>[23] 吉積情報 導入事例「社会福祉法人ことの海会」 https://www.yoshidumi.co.jp/work/kotonoumi</a:t>
            </a:r>
            <a:endParaRPr lang="en-US" sz="1100" dirty="0"/>
          </a:p>
          <a:p>
            <a:pPr indent="0" marL="0">
              <a:spcAft>
                <a:spcPts val="600"/>
              </a:spcAft>
              <a:buNone/>
            </a:pPr>
            <a:r>
              <a:rPr lang="en-US" sz="1100" dirty="0">
                <a:solidFill>
                  <a:srgbClr val="1F2233"/>
                </a:solidFill>
              </a:rPr>
              <a:t>[24] Google Workspace 導入事例「株式会社ソラスト」 https://workspace.google.co.jp/intl/ja/customers/solasto/</a:t>
            </a:r>
            <a:endParaRPr lang="en-US" sz="1100" dirty="0"/>
          </a:p>
          <a:p>
            <a:pPr indent="0" marL="0">
              <a:spcAft>
                <a:spcPts val="600"/>
              </a:spcAft>
              <a:buNone/>
            </a:pPr>
            <a:r>
              <a:rPr lang="en-US" sz="1100" dirty="0">
                <a:solidFill>
                  <a:srgbClr val="1F2233"/>
                </a:solidFill>
              </a:rPr>
              <a:t>[25] Google Gemini 公式 note（日本特殊陶業）（2024年11月14日） https://note.com/google_gemini/n/n1fdd25339ce8</a:t>
            </a:r>
            <a:endParaRPr lang="en-US" sz="1100" dirty="0"/>
          </a:p>
          <a:p>
            <a:pPr indent="0" marL="0">
              <a:spcAft>
                <a:spcPts val="600"/>
              </a:spcAft>
              <a:buNone/>
            </a:pPr>
            <a:r>
              <a:rPr lang="en-US" sz="1100" dirty="0">
                <a:solidFill>
                  <a:srgbClr val="1F2233"/>
                </a:solidFill>
              </a:rPr>
              <a:t>[26] Google Workspace 導入事例「株式会社船井総研ホールディングス」 https://workspace.google.com/intl/ja/customers/funaisoken/</a:t>
            </a:r>
            <a:endParaRPr lang="en-US" sz="1100" dirty="0"/>
          </a:p>
          <a:p>
            <a:pPr indent="0" marL="0">
              <a:spcAft>
                <a:spcPts val="600"/>
              </a:spcAft>
              <a:buNone/>
            </a:pPr>
            <a:r>
              <a:rPr lang="en-US" sz="1100" dirty="0">
                <a:solidFill>
                  <a:srgbClr val="1F2233"/>
                </a:solidFill>
              </a:rPr>
              <a:t>[27] Google Workspace Blog「星野リゾート」（2025年9月4日） https://workspace.google.com/blog/ja/customer-stories/hoshino-resorts-enhancing-competitiveness-through-google-workspace-and-gemini</a:t>
            </a:r>
            <a:endParaRPr lang="en-US" sz="1100" dirty="0"/>
          </a:p>
          <a:p>
            <a:pPr indent="0" marL="0">
              <a:spcAft>
                <a:spcPts val="600"/>
              </a:spcAft>
              <a:buNone/>
            </a:pPr>
            <a:r>
              <a:rPr lang="en-US" sz="1100" dirty="0">
                <a:solidFill>
                  <a:srgbClr val="1F2233"/>
                </a:solidFill>
              </a:rPr>
              <a:t>[28] 吉積情報 プレスリリース（ダイヤ工業）（2026年6月1日） https://prtimes.jp/main/html/rd/p/000000150.000069271.html</a:t>
            </a:r>
            <a:endParaRPr lang="en-US" sz="1100" dirty="0"/>
          </a:p>
          <a:p>
            <a:pPr indent="0" marL="0">
              <a:spcAft>
                <a:spcPts val="600"/>
              </a:spcAft>
              <a:buNone/>
            </a:pPr>
            <a:r>
              <a:rPr lang="en-US" sz="1100" dirty="0">
                <a:solidFill>
                  <a:srgbClr val="1F2233"/>
                </a:solidFill>
              </a:rPr>
              <a:t>[29] CloudFuze 導入事例「The Washington Post」 https://cloudfuze.com/washington-post-case-study/</a:t>
            </a:r>
            <a:endParaRPr lang="en-US" sz="11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握手のイラスト">    </p:cNvPr>
          <p:cNvPicPr>
            <a:picLocks noChangeAspect="1"/>
          </p:cNvPicPr>
          <p:nvPr/>
        </p:nvPicPr>
        <p:blipFill>
          <a:blip r:embed="rId1"/>
          <a:stretch>
            <a:fillRect/>
          </a:stretch>
        </p:blipFill>
        <p:spPr>
          <a:xfrm>
            <a:off x="8229600" y="1920240"/>
            <a:ext cx="2743200" cy="2743200"/>
          </a:xfrm>
          <a:prstGeom prst="rect">
            <a:avLst/>
          </a:prstGeom>
        </p:spPr>
      </p:pic>
      <p:sp>
        <p:nvSpPr>
          <p:cNvPr id="3" name="Text 0"/>
          <p:cNvSpPr/>
          <p:nvPr>
            <p:ph idx="101" type="title" hasCustomPrompt="1"/>
          </p:nvPr>
        </p:nvSpPr>
        <p:spPr>
          <a:xfrm>
            <a:off x="731520" y="1874520"/>
            <a:ext cx="6949440" cy="1737360"/>
          </a:xfrm>
          <a:prstGeom prst="rect">
            <a:avLst/>
          </a:prstGeom>
          <a:noFill/>
          <a:ln/>
        </p:spPr>
        <p:txBody>
          <a:bodyPr wrap="square" lIns="0" tIns="0" rIns="0" bIns="0" rtlCol="0" anchor="t"/>
          <a:lstStyle/>
          <a:p>
            <a:pPr algn="l" indent="0" marL="0">
              <a:lnSpc>
                <a:spcPct val="110000"/>
              </a:lnSpc>
              <a:buNone/>
            </a:pPr>
            <a:r>
              <a:rPr lang="en-US" sz="3800" b="1" dirty="0">
                <a:solidFill>
                  <a:schemeClr val="tx2"/>
                </a:solidFill>
              </a:rPr>
              <a:t>ご清聴ありがとうございました</a:t>
            </a:r>
            <a:endParaRPr lang="en-US" sz="3800" dirty="0"/>
          </a:p>
        </p:txBody>
      </p:sp>
      <p:sp>
        <p:nvSpPr>
          <p:cNvPr id="4" name="Text 0"/>
          <p:cNvSpPr/>
          <p:nvPr>
            <p:ph idx="103" type="body" hasCustomPrompt="1"/>
          </p:nvPr>
        </p:nvSpPr>
        <p:spPr>
          <a:xfrm>
            <a:off x="731520" y="5120640"/>
            <a:ext cx="6766560" cy="822960"/>
          </a:xfrm>
          <a:prstGeom prst="rect">
            <a:avLst/>
          </a:prstGeom>
          <a:noFill/>
          <a:ln/>
        </p:spPr>
        <p:txBody>
          <a:bodyPr wrap="square" lIns="0" tIns="0" rIns="0" bIns="0" rtlCol="0" anchor="t"/>
          <a:lstStyle/>
          <a:p>
            <a:pPr algn="l" indent="0" marL="0">
              <a:buNone/>
            </a:pPr>
            <a:r>
              <a:rPr lang="en-US" sz="1400" dirty="0">
                <a:solidFill>
                  <a:schemeClr val="tx1"/>
                </a:solidFill>
              </a:rPr>
              <a:t>グリーエックス株式会社　山口 宙輝</a:t>
            </a:r>
            <a:endParaRPr lang="en-US" sz="1400" dirty="0"/>
          </a:p>
        </p:txBody>
      </p:sp>
      <p:sp>
        <p:nvSpPr>
          <p:cNvPr id="5" name="Text 0"/>
          <p:cNvSpPr/>
          <p:nvPr>
            <p:ph idx="100" type="body" hasCustomPrompt="1"/>
          </p:nvPr>
        </p:nvSpPr>
        <p:spPr>
          <a:xfrm>
            <a:off x="731520" y="1188720"/>
            <a:ext cx="6766560" cy="457200"/>
          </a:xfrm>
          <a:prstGeom prst="rect">
            <a:avLst/>
          </a:prstGeom>
          <a:noFill/>
          <a:ln/>
        </p:spPr>
        <p:txBody>
          <a:bodyPr wrap="square" lIns="0" tIns="0" rIns="0" bIns="0" rtlCol="0" anchor="t"/>
          <a:lstStyle/>
          <a:p>
            <a:pPr algn="l" indent="0" marL="0">
              <a:buNone/>
            </a:pPr>
            <a:endParaRPr lang="en-US" sz="2000" dirty="0"/>
          </a:p>
        </p:txBody>
      </p:sp>
      <p:sp>
        <p:nvSpPr>
          <p:cNvPr id="6" name="Text 0"/>
          <p:cNvSpPr/>
          <p:nvPr>
            <p:ph idx="102" type="body" hasCustomPrompt="1"/>
          </p:nvPr>
        </p:nvSpPr>
        <p:spPr>
          <a:xfrm>
            <a:off x="731520" y="3749040"/>
            <a:ext cx="6766560" cy="822960"/>
          </a:xfrm>
          <a:prstGeom prst="rect">
            <a:avLst/>
          </a:prstGeom>
          <a:noFill/>
          <a:ln/>
        </p:spPr>
        <p:txBody>
          <a:bodyPr wrap="square" lIns="0" tIns="0" rIns="0" bIns="0" rtlCol="0" anchor="t"/>
          <a:lstStyle/>
          <a:p>
            <a:pPr algn="l" indent="0" marL="0">
              <a:buNone/>
            </a:pPr>
            <a:endParaRPr lang="en-US" sz="1700" dirty="0"/>
          </a:p>
        </p:txBody>
      </p:sp>
    </p:spTree>
  </p:cSld>
  <p:clrMapOvr>
    <a:masterClrMapping/>
  </p:clrMapOvr>
</p:sld>
</file>

<file path=ppt/theme/theme1.xml><?xml version="1.0" encoding="utf-8"?>
<a:theme xmlns:a="http://schemas.openxmlformats.org/drawingml/2006/main" name="GREEX Proposal">
  <a:themeElements>
    <a:clrScheme name="GREEX Proposal">
      <a:dk1>
        <a:srgbClr val="1F2233"/>
      </a:dk1>
      <a:lt1>
        <a:srgbClr val="FFFFFF"/>
      </a:lt1>
      <a:dk2>
        <a:srgbClr val="2B2A5E"/>
      </a:dk2>
      <a:lt2>
        <a:srgbClr val="F3F2FA"/>
      </a:lt2>
      <a:accent1>
        <a:srgbClr val="5B4FC4"/>
      </a:accent1>
      <a:accent2>
        <a:srgbClr val="3D7BC8"/>
      </a:accent2>
      <a:accent3>
        <a:srgbClr val="2A9785"/>
      </a:accent3>
      <a:accent4>
        <a:srgbClr val="EFA23A"/>
      </a:accent4>
      <a:accent5>
        <a:srgbClr val="D2557A"/>
      </a:accent5>
      <a:accent6>
        <a:srgbClr val="7C8096"/>
      </a:accent6>
      <a:hlink>
        <a:srgbClr val="3D7BC8"/>
      </a:hlink>
      <a:folHlink>
        <a:srgbClr val="5B4FC4"/>
      </a:folHlink>
    </a:clrScheme>
    <a:fontScheme name="GREEX Proposal">
      <a:majorFont>
        <a:latin typeface="Meiryo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グリーエックス株式会社</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株式会社サカイ様 Google Workspace × Gemini 活用支援のご提案</dc:title>
  <dc:subject>PptxGenJS Presentation</dc:subject>
  <dc:creator>グリーエックス株式会社</dc:creator>
  <cp:lastModifiedBy>グリーエックス株式会社</cp:lastModifiedBy>
  <cp:revision>1</cp:revision>
  <dcterms:created xsi:type="dcterms:W3CDTF">2026-10-26T04:54:12Z</dcterms:created>
  <dcterms:modified xsi:type="dcterms:W3CDTF">2026-10-26T04:54:12Z</dcterms:modified>
</cp:coreProperties>
</file>