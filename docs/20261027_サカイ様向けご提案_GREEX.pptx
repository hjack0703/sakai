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c224131d-f6ae-df7d-cb59-3494e89b2c68}">
          <p14:sldIdLst>
            <p14:sldId id="256"/>
          </p14:sldIdLst>
        </p14:section>
        <p14:section name="はじめに" id="{c7352a94-4201-9df4-98bd-8742028a6c40}">
          <p14:sldIdLst>
            <p14:sldId id="257"/>
            <p14:sldId id="258"/>
          </p14:sldIdLst>
        </p14:section>
        <p14:section name="01 現状のご理解" id="{0adf4384-54cf-78cc-0c11-e08abcbf610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02 ご提案内容" id="{78409654-7d2b-57bd-9ee7-78d8846f18a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03 他社事例" id="{0bbd2270-2858-5df3-d953-47b5a44ef882}">
          <p14:sldIdLst>
            <p14:sldId id="275"/>
            <p14:sldId id="276"/>
            <p14:sldId id="277"/>
            <p14:sldId id="278"/>
          </p14:sldIdLst>
        </p14:section>
        <p14:section name="04 スケジュール" id="{4ee36f67-1743-a04f-5e2e-15ebe587562b}">
          <p14:sldIdLst>
            <p14:sldId id="279"/>
          </p14:sldIdLst>
        </p14:section>
        <p14:section name="05 本日ご相談したいこと" id="{2b5b2259-7bf0-94b6-c892-6e4df9273d2f}">
          <p14:sldIdLst>
            <p14:sldId id="280"/>
          </p14:sldIdLst>
        </p14:section>
        <p14:section name="Appendix" id="{1fcc21d7-705c-a55e-db31-58725a1ca3c2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18872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12064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0"/>
          <p:cNvSpPr/>
          <p:nvPr/>
        </p:nvSpPr>
        <p:spPr>
          <a:xfrm>
            <a:off x="548640" y="6556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グリーエックス株式会社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介護職員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554480"/>
            <a:ext cx="3017520" cy="3017520"/>
          </a:xfrm>
          <a:prstGeom prst="rect">
            <a:avLst/>
          </a:prstGeom>
        </p:spPr>
      </p:pic>
      <p:pic>
        <p:nvPicPr>
          <p:cNvPr id="3" name="Image 1" descr="ノートパソコンのイラス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977640"/>
            <a:ext cx="1737360" cy="1737360"/>
          </a:xfrm>
          <a:prstGeom prst="rect">
            <a:avLst/>
          </a:prstGeom>
        </p:spPr>
      </p:pic>
      <p:pic>
        <p:nvPicPr>
          <p:cNvPr id="4" name="Image 2" descr="きらめきのイラスト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234440"/>
            <a:ext cx="1005840" cy="1005840"/>
          </a:xfrm>
          <a:prstGeom prst="rect">
            <a:avLst/>
          </a:prstGeom>
        </p:spPr>
      </p:pic>
      <p:pic>
        <p:nvPicPr>
          <p:cNvPr id="5" name="Image 3" descr="鍵のイラスト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4343400"/>
            <a:ext cx="1234440" cy="123444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body" hasCustomPrompt="1"/>
          </p:nvPr>
        </p:nvSpPr>
        <p:spPr>
          <a:xfrm>
            <a:off x="73152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株式会社サカイ 御中</a:t>
            </a:r>
            <a:endParaRPr lang="en-US" sz="20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731520" y="18745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chemeClr val="tx2"/>
                </a:solidFill>
              </a:rPr>
              <a:t>「事務の時間」を、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chemeClr val="tx2"/>
                </a:solidFill>
              </a:rPr>
              <a:t>ケアと未来の時間へ</a:t>
            </a:r>
            <a:endParaRPr lang="en-US" sz="3800" dirty="0"/>
          </a:p>
        </p:txBody>
      </p:sp>
      <p:sp>
        <p:nvSpPr>
          <p:cNvPr id="8" name="Text 0"/>
          <p:cNvSpPr/>
          <p:nvPr>
            <p:ph idx="102" type="body" hasCustomPrompt="1"/>
          </p:nvPr>
        </p:nvSpPr>
        <p:spPr>
          <a:xfrm>
            <a:off x="731520" y="37490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Google Workspace × Gemini 活用による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業務効率化・Drive 移行のご提案</a:t>
            </a:r>
            <a:endParaRPr lang="en-US" sz="1700" dirty="0"/>
          </a:p>
        </p:txBody>
      </p:sp>
      <p:sp>
        <p:nvSpPr>
          <p:cNvPr id="9" name="Text 0"/>
          <p:cNvSpPr/>
          <p:nvPr>
            <p:ph idx="103" type="body" hasCustomPrompt="1"/>
          </p:nvPr>
        </p:nvSpPr>
        <p:spPr>
          <a:xfrm>
            <a:off x="731520" y="51206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2026年10月27日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グリーエックス株式会社　山口 宙輝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本提案のポイント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導入済みの Workspace／Gemini を活かし切り、安全なデータ管理と業務効率化を両立します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はじめに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28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9507"/>
            <a:ext cx="6309360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安全な Drive 移行を最優先に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76747"/>
            <a:ext cx="63093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共有ルールと権限設計を先に整え、Dropbox からの切替を早期に完了します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42557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189237"/>
            <a:ext cx="6309360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8名の業務から「型」をつくる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726477"/>
            <a:ext cx="63093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効果を実感しやすい業務から、テンプレートと手順書を整備します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92287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38967"/>
            <a:ext cx="6309360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50〜70名へ段階的に展開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5276207"/>
            <a:ext cx="63093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削減時間・利用率を可視化し、月次会議でご報告できる形に整えます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18120" y="1587850"/>
            <a:ext cx="3824935" cy="4649190"/>
          </a:xfrm>
          <a:prstGeom prst="roundRect">
            <a:avLst>
              <a:gd name="adj" fmla="val 2869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2440" y="1846138"/>
            <a:ext cx="3276295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6ヶ月後のゴール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59903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517688"/>
            <a:ext cx="28190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Dropbox 解約・Drive に一本化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73550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654156"/>
            <a:ext cx="28190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テンプレート・Gem を整備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4871971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4790625"/>
            <a:ext cx="28190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効果を毎月数値でご報告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本日のアジェンダ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現状のご理解から、ご提案内容、他社事例、スケジュールまでを順にご説明します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はじめに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87850"/>
            <a:ext cx="91440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608513"/>
            <a:ext cx="59436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現状のご理解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021774"/>
            <a:ext cx="594360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業界環境と貴社の現状・課題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7688"/>
            <a:ext cx="91440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538351"/>
            <a:ext cx="59436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ご提案内容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951612"/>
            <a:ext cx="594360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Drive 移行／業務別の AI 活用／社内展開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447526"/>
            <a:ext cx="91440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468189"/>
            <a:ext cx="59436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他社事例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81450"/>
            <a:ext cx="594360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介護・福祉ほかの活用事例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77363"/>
            <a:ext cx="91440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398026"/>
            <a:ext cx="59436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スケジュール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4811288"/>
            <a:ext cx="594360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6ヶ月の進め方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07201"/>
            <a:ext cx="91440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327864"/>
            <a:ext cx="59436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本日ご相談したいこと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741126"/>
            <a:ext cx="594360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確認事項と今後の進め方</a:t>
            </a:r>
            <a:endParaRPr lang="en-US" sz="1400" dirty="0"/>
          </a:p>
        </p:txBody>
      </p:sp>
      <p:pic>
        <p:nvPicPr>
          <p:cNvPr id="20" name="Image 0" descr="ノートのイラス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069988"/>
            <a:ext cx="2651760" cy="2651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ご相談内容の確認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ご相談内容を次のように理解しています（認識に相違があれば、本日ご指摘ください）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82735"/>
              </a:tblGrid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ご相談の背景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Workspace と Gemini で業務効率化を推進中。Dropbox 移行の過程で、セキュリティ面の課題と未活用の機能が判明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現在の状況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担当部署8名でテスト導入中。資料作成では大幅な時間削減を実感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展開予定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反応が良ければ、営業部門・現場管理職へ段階展開（最終50〜70名）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注力したい領域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バックオフィス・管理職の事務作業の削減。現場展開の前に担当者側で準備したい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達成すべきゴール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Workspace／Gemini の最大活用、部門別の AI 活用方法の確立、定型業務の削減、Dropbox → Drive 移行の完了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ご依頼の範囲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課題分析・戦略立案・実行支援（アドバイザリー型、導入済みのシステムで改善）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期間・予算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いずれもご提案希望。相場観を踏まえ、複数のパターンで検討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スケジュール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できるだけ早期に着手したい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5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選定・決裁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提案内容・価格・適合性で総合判断／ご担当者様 → 代表取締役 → 月次会議でご報告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介護業界では「間接業務の削減」が経営テーマに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担い手不足が続くなか、「ケア以外の時間」をどれだけ減らせるかが競争力になっています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42823"/>
            <a:ext cx="3515258" cy="2634541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49453"/>
            <a:ext cx="2966618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介護関係職種の有効求人倍率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62715"/>
            <a:ext cx="2966618" cy="92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3.87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倍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95868"/>
            <a:ext cx="296661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全職業平均は1.05倍（2025年6月）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742823"/>
            <a:ext cx="3515258" cy="2634541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2538" y="1949453"/>
            <a:ext cx="2966618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2040年度に追加で必要な介護職員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362715"/>
            <a:ext cx="2966618" cy="92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約57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万人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3395868"/>
            <a:ext cx="296661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2022年度比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7797" y="1742823"/>
            <a:ext cx="3515258" cy="2634541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02117" y="1949453"/>
            <a:ext cx="2966618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ICT 導入で文書作成の時間が短縮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62715"/>
            <a:ext cx="2966618" cy="92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81.9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395868"/>
            <a:ext cx="296661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ICT 導入支援事業（令和3年度）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35652"/>
            <a:ext cx="11094415" cy="1549730"/>
          </a:xfrm>
          <a:prstGeom prst="roundRect">
            <a:avLst>
              <a:gd name="adj" fmla="val 5900"/>
            </a:avLst>
          </a:prstGeom>
          <a:solidFill>
            <a:schemeClr val="accent1">
              <a:alpha val="10000"/>
            </a:schemeClr>
          </a:solidFill>
          <a:ln/>
        </p:spPr>
      </p:sp>
      <p:pic>
        <p:nvPicPr>
          <p:cNvPr id="18" name="Image 0" descr="light-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58" y="5074475"/>
            <a:ext cx="672084" cy="6720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691640" y="4842282"/>
            <a:ext cx="2743200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貴社にとっての意味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691640" y="5234881"/>
            <a:ext cx="9677095" cy="87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管理職・バックオフィスの事務時間を減らし、ケアと人材育成に振り向ける。その手段として、導入済みの Google Workspace を活かし切ります。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貴社の事業から見た、Workspace 活用のポイント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多拠点を運営する貴社では、本部と拠点の情報共有と、管理者の事務軽減が効果の出やすい領域です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4160520" cy="464919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46138"/>
            <a:ext cx="361188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貴社の事業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38736"/>
            <a:ext cx="1783080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11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事業所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79291"/>
            <a:ext cx="178308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グループホーム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38736"/>
            <a:ext cx="1783080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7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事業所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879291"/>
            <a:ext cx="178308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小規模多機能型居宅介護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499183"/>
            <a:ext cx="3611880" cy="0"/>
          </a:xfrm>
          <a:prstGeom prst="line">
            <a:avLst/>
          </a:prstGeom>
          <a:noFill/>
          <a:ln w="9525">
            <a:solidFill>
              <a:srgbClr val="D5D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05814"/>
            <a:ext cx="3611880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訪問看護・デイサービスも運営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29021"/>
            <a:ext cx="361188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エリア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9630"/>
            <a:ext cx="3611880" cy="774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名古屋市・春日井市・尾張旭市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江南市・刈谷市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1639507"/>
            <a:ext cx="3169768" cy="2169622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6" name="Image 0" descr="office-buil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227" y="1917880"/>
            <a:ext cx="528066" cy="52806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897880" y="1897796"/>
            <a:ext cx="2163928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本部と拠点をつなぐ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621003"/>
            <a:ext cx="2758288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施設会議の資料・議事録を共有し、欠席者もすぐに確認できる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73288" y="1639507"/>
            <a:ext cx="3169768" cy="2169622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20" name="Image 1" descr="spiral-notep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315" y="1917880"/>
            <a:ext cx="528066" cy="52806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341968" y="1897796"/>
            <a:ext cx="2163928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管理者の事務を軽くする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8701888" y="2621003"/>
            <a:ext cx="2758288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加算・運営指導の書類準備や、データ集計を効率化する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029200" y="4119075"/>
            <a:ext cx="3169768" cy="2169622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24" name="Image 2" descr="speech-ballo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227" y="4397448"/>
            <a:ext cx="528066" cy="52806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97880" y="4377363"/>
            <a:ext cx="2163928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多様な職員を支える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257800" y="5100571"/>
            <a:ext cx="2758288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マニュアルの翻訳・やさしい日本語化、研修教材づくりに活用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473288" y="4119075"/>
            <a:ext cx="3169768" cy="2169622"/>
          </a:xfrm>
          <a:prstGeom prst="roundRect">
            <a:avLst>
              <a:gd name="adj" fmla="val 421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28" name="Image 3" descr="seedl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9315" y="4397448"/>
            <a:ext cx="528066" cy="52806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41968" y="4377363"/>
            <a:ext cx="2163928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新拠点の立ち上げを速く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8701888" y="5100571"/>
            <a:ext cx="2758288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開設準備のチェックリストや採用広報をテンプレート化する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貴社の現状：基盤は整い、「使いこなし」の段階へ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Workspace はすぐ使える一方、Dropbox・無料 Gmail・Office が併存し、データとルールが分散しています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165"/>
            <a:ext cx="3657600" cy="1425751"/>
          </a:xfrm>
          <a:prstGeom prst="roundRect">
            <a:avLst>
              <a:gd name="adj" fmla="val 6413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34840" y="1691165"/>
            <a:ext cx="3657600" cy="1425751"/>
          </a:xfrm>
          <a:prstGeom prst="roundRect">
            <a:avLst>
              <a:gd name="adj" fmla="val 6413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323547"/>
            <a:ext cx="3657600" cy="1425751"/>
          </a:xfrm>
          <a:prstGeom prst="roundRect">
            <a:avLst>
              <a:gd name="adj" fmla="val 6413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34840" y="3323547"/>
            <a:ext cx="3657600" cy="1425751"/>
          </a:xfrm>
          <a:prstGeom prst="roundRect">
            <a:avLst>
              <a:gd name="adj" fmla="val 6413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4955929"/>
            <a:ext cx="7543800" cy="1425751"/>
          </a:xfrm>
          <a:prstGeom prst="roundRect">
            <a:avLst>
              <a:gd name="adj" fmla="val 6413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0" name="Image 0" descr="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1938543"/>
            <a:ext cx="528066" cy="5280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89888" y="1897796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Google Workspace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18688" y="1918459"/>
            <a:ext cx="841248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導入済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2311057"/>
            <a:ext cx="26517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Drive で共有、カレンダーで実績記録、スプレッドシートで提出物・郵便物管理</a:t>
            </a:r>
            <a:endParaRPr lang="en-US" sz="1300" dirty="0"/>
          </a:p>
        </p:txBody>
      </p:sp>
      <p:pic>
        <p:nvPicPr>
          <p:cNvPr id="14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435" y="1938543"/>
            <a:ext cx="528066" cy="52806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76088" y="1897796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Gemini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104888" y="1918459"/>
            <a:ext cx="841248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テスト導入中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276088" y="2311057"/>
            <a:ext cx="26517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担当部署8名で試行。資料作成で大幅な時間削減</a:t>
            </a:r>
            <a:endParaRPr lang="en-US" sz="1300" dirty="0"/>
          </a:p>
        </p:txBody>
      </p:sp>
      <p:pic>
        <p:nvPicPr>
          <p:cNvPr id="18" name="Image 2" descr="pack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" y="3570925"/>
            <a:ext cx="528066" cy="5280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9888" y="3530178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Dropbox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3218688" y="3550841"/>
            <a:ext cx="841248" cy="289283"/>
          </a:xfrm>
          <a:prstGeom prst="roundRect">
            <a:avLst>
              <a:gd name="adj" fmla="val 1896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移行対象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389888" y="3943439"/>
            <a:ext cx="26517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現行のデータ保管先。早期に Drive へ切り替えたい</a:t>
            </a:r>
            <a:endParaRPr lang="en-US" sz="1300" dirty="0"/>
          </a:p>
        </p:txBody>
      </p:sp>
      <p:pic>
        <p:nvPicPr>
          <p:cNvPr id="22" name="Image 3" descr="page-facing-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3435" y="3570925"/>
            <a:ext cx="528066" cy="52806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276088" y="3530178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Office 2024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104888" y="3550841"/>
            <a:ext cx="841248" cy="289283"/>
          </a:xfrm>
          <a:prstGeom prst="roundRect">
            <a:avLst>
              <a:gd name="adj" fmla="val 1896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併用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276088" y="3943439"/>
            <a:ext cx="26517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買い切り版。Excel／Word との併用ルールが必要</a:t>
            </a:r>
            <a:endParaRPr lang="en-US" sz="1300" dirty="0"/>
          </a:p>
        </p:txBody>
      </p:sp>
      <p:pic>
        <p:nvPicPr>
          <p:cNvPr id="26" name="Image 4" descr="envelop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35" y="5203307"/>
            <a:ext cx="528066" cy="5280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89888" y="5162560"/>
            <a:ext cx="56235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Gmail（無料版）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104888" y="5183223"/>
            <a:ext cx="841248" cy="289283"/>
          </a:xfrm>
          <a:prstGeom prst="roundRect">
            <a:avLst>
              <a:gd name="adj" fmla="val 1896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要整理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1389888" y="5575821"/>
            <a:ext cx="65379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一部業務で利用。組織の管理外のため集約を推奨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412480" y="1691165"/>
            <a:ext cx="3230575" cy="4504548"/>
          </a:xfrm>
          <a:prstGeom prst="roundRect">
            <a:avLst>
              <a:gd name="adj" fmla="val 3397"/>
            </a:avLst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686800" y="1949453"/>
            <a:ext cx="268193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すでにある「成功体験」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8686800" y="2414372"/>
            <a:ext cx="2773375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資料作成で AI を使い、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数分で高品質な成果物ができた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686800" y="3912444"/>
            <a:ext cx="2681935" cy="123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テスト導入  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8名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展開予定 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50〜70名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686800" y="5410517"/>
            <a:ext cx="26819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この体験を、管理部門・管理職の「当たり前」に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課題は3つのテーマに集約されます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背景要因は「ルール」「活用シーン」「展開体制」の未整備にあり、テーマごとに打ち手を定めます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224028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テーマ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536192"/>
            <a:ext cx="512064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現在の課題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536192"/>
            <a:ext cx="3093415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打ち手の方向性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28790"/>
            <a:ext cx="1109441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9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59" y="2292371"/>
            <a:ext cx="595274" cy="5952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2187079"/>
            <a:ext cx="1417320" cy="82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A. データ管理・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セキュリティ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2104426"/>
            <a:ext cx="512064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リンク共有で、一度開いた人が閲覧できてしまう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個人情報を含むデータの移行が進まない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57032" y="2424704"/>
            <a:ext cx="219456" cy="35127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hape 10"/>
          <p:cNvSpPr/>
          <p:nvPr/>
        </p:nvSpPr>
        <p:spPr>
          <a:xfrm>
            <a:off x="8549640" y="2052769"/>
            <a:ext cx="2983687" cy="1095142"/>
          </a:xfrm>
          <a:prstGeom prst="roundRect">
            <a:avLst>
              <a:gd name="adj" fmla="val 668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732520" y="2104426"/>
            <a:ext cx="268193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管理者設定と共有ドライブで「仕組みで守る」状態にしてから移行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395868"/>
            <a:ext cx="1109441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59" y="3759449"/>
            <a:ext cx="595274" cy="59527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17320" y="3654156"/>
            <a:ext cx="1417320" cy="82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B. AI 活用の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具体化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2926080" y="3571504"/>
            <a:ext cx="512064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機能を使いこなせていない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部門ごとに最適な使い方が見えない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57032" y="3891781"/>
            <a:ext cx="219456" cy="35127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0" name="Shape 16"/>
          <p:cNvSpPr/>
          <p:nvPr/>
        </p:nvSpPr>
        <p:spPr>
          <a:xfrm>
            <a:off x="8549640" y="3519846"/>
            <a:ext cx="2983687" cy="1095142"/>
          </a:xfrm>
          <a:prstGeom prst="roundRect">
            <a:avLst>
              <a:gd name="adj" fmla="val 668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732520" y="3571504"/>
            <a:ext cx="268193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業務を棚卸しし、効果の大きい業務から「型」にする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4862945"/>
            <a:ext cx="1109441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23" name="Image 2" descr="busts-in-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59" y="5226526"/>
            <a:ext cx="595274" cy="59527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17320" y="5121234"/>
            <a:ext cx="1417320" cy="82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C. 定着・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社内展開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2926080" y="5038582"/>
            <a:ext cx="512064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現場の抵抗と準備期間の負担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社内で教えられる体制がない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257032" y="5358859"/>
            <a:ext cx="219456" cy="35127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7" name="Shape 22"/>
          <p:cNvSpPr/>
          <p:nvPr/>
        </p:nvSpPr>
        <p:spPr>
          <a:xfrm>
            <a:off x="8549640" y="4986924"/>
            <a:ext cx="2983687" cy="1095142"/>
          </a:xfrm>
          <a:prstGeom prst="roundRect">
            <a:avLst>
              <a:gd name="adj" fmla="val 668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732520" y="5038582"/>
            <a:ext cx="268193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ご担当者様を「社内コーチ」に。教材を揃えて段階的に展開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6ヶ月後に目指す姿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ご相談時のゴールを、6ヶ月後の具体的な状態に置き換えました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01｜現状のご理解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4480560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現在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536192"/>
            <a:ext cx="583661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6ヶ月後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01111"/>
            <a:ext cx="4480560" cy="1239784"/>
          </a:xfrm>
          <a:prstGeom prst="roundRect">
            <a:avLst>
              <a:gd name="adj" fmla="val 7375"/>
            </a:avLst>
          </a:prstGeom>
          <a:solidFill>
            <a:srgbClr val="F1F1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125089"/>
            <a:ext cx="4023360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Dropbox と Drive にデータが分散し、個人情報を移せない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30368" y="2393709"/>
            <a:ext cx="365760" cy="464919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001111"/>
            <a:ext cx="5836615" cy="1239784"/>
          </a:xfrm>
          <a:prstGeom prst="roundRect">
            <a:avLst>
              <a:gd name="adj" fmla="val 737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5B4FC4"/>
            </a:solidFill>
            <a:prstDash val="solid"/>
          </a:ln>
        </p:spPr>
      </p:sp>
      <p:pic>
        <p:nvPicPr>
          <p:cNvPr id="11" name="Image 0" descr="open-file-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1324" y="2332967"/>
            <a:ext cx="576072" cy="5760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766560" y="2125089"/>
            <a:ext cx="469361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Dropbox を解約して Drive に一本化。個人情報は仕組みで保護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426862"/>
            <a:ext cx="4480560" cy="1239784"/>
          </a:xfrm>
          <a:prstGeom prst="roundRect">
            <a:avLst>
              <a:gd name="adj" fmla="val 7375"/>
            </a:avLst>
          </a:prstGeom>
          <a:solidFill>
            <a:srgbClr val="F1F1F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550841"/>
            <a:ext cx="4023360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8名が個人の工夫で試行し、使い方が属人的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30368" y="3819461"/>
            <a:ext cx="365760" cy="464919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6" name="Shape 13"/>
          <p:cNvSpPr/>
          <p:nvPr/>
        </p:nvSpPr>
        <p:spPr>
          <a:xfrm>
            <a:off x="5806440" y="3426862"/>
            <a:ext cx="5836615" cy="1239784"/>
          </a:xfrm>
          <a:prstGeom prst="roundRect">
            <a:avLst>
              <a:gd name="adj" fmla="val 737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5B4FC4"/>
            </a:solidFill>
            <a:prstDash val="solid"/>
          </a:ln>
        </p:spPr>
      </p:sp>
      <p:pic>
        <p:nvPicPr>
          <p:cNvPr id="17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4" y="3758718"/>
            <a:ext cx="576072" cy="57607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766560" y="3550841"/>
            <a:ext cx="469361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部門別のテンプレートが揃い、資料・メール・議事録が日常的に AI 化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48640" y="4852614"/>
            <a:ext cx="4480560" cy="1239784"/>
          </a:xfrm>
          <a:prstGeom prst="roundRect">
            <a:avLst>
              <a:gd name="adj" fmla="val 7375"/>
            </a:avLst>
          </a:prstGeom>
          <a:solidFill>
            <a:srgbClr val="F1F1F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22960" y="4976592"/>
            <a:ext cx="4023360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効果が数値化されず、展開を判断しにくい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230368" y="5245212"/>
            <a:ext cx="365760" cy="464919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2" name="Shape 18"/>
          <p:cNvSpPr/>
          <p:nvPr/>
        </p:nvSpPr>
        <p:spPr>
          <a:xfrm>
            <a:off x="5806440" y="4852614"/>
            <a:ext cx="5836615" cy="1239784"/>
          </a:xfrm>
          <a:prstGeom prst="roundRect">
            <a:avLst>
              <a:gd name="adj" fmla="val 7375"/>
            </a:avLst>
          </a:prstGeom>
          <a:solidFill>
            <a:schemeClr val="accent1">
              <a:alpha val="10000"/>
            </a:schemeClr>
          </a:solidFill>
          <a:ln w="12700">
            <a:solidFill>
              <a:srgbClr val="5B4FC4"/>
            </a:solidFill>
            <a:prstDash val="solid"/>
          </a:ln>
        </p:spPr>
      </p:sp>
      <p:pic>
        <p:nvPicPr>
          <p:cNvPr id="23" name="Image 2" descr="chart-increas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24" y="5184470"/>
            <a:ext cx="576072" cy="57607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766560" y="4976592"/>
            <a:ext cx="4693615" cy="99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50〜70名に展開し、削減時間を毎月可視化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ご支援の全体像：3本の柱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「安全なデータ基盤」→「業務別の活用の型」→「社内で広げる体制」の順に、一気通貫でご支援します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484534"/>
            <a:ext cx="9997135" cy="929838"/>
          </a:xfrm>
          <a:prstGeom prst="triangl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928790"/>
            <a:ext cx="5973775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定型業務を減らし、ケアと新たな事業展開に時間を使える組織へ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0908" y="2569345"/>
            <a:ext cx="3246120" cy="2686198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8" name="Image 0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2850274"/>
            <a:ext cx="595274" cy="5952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75308" y="2775976"/>
            <a:ext cx="91440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柱①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775308" y="3034264"/>
            <a:ext cx="21945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Drive 移行・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安全な共有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89508" y="3912444"/>
            <a:ext cx="2834640" cy="123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Dropbox から Drive への移行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共有ドライブと権限の設計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管理者設定と情報区分ルール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72788" y="2569345"/>
            <a:ext cx="3246120" cy="2686198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3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214" y="2850274"/>
            <a:ext cx="595274" cy="5952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7188" y="2775976"/>
            <a:ext cx="91440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柱②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387188" y="3034264"/>
            <a:ext cx="21945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業務別の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活用の「型」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701388" y="3912444"/>
            <a:ext cx="2834640" cy="123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8名の業務棚卸し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テンプレート・Gem の作成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提出物管理などの自動化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84668" y="2569345"/>
            <a:ext cx="3246120" cy="2686198"/>
          </a:xfrm>
          <a:prstGeom prst="roundRect">
            <a:avLst>
              <a:gd name="adj" fmla="val 340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8" name="Image 2" descr="busts-in-silhouet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094" y="2850274"/>
            <a:ext cx="595274" cy="5952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99068" y="2775976"/>
            <a:ext cx="91440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柱③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999068" y="3034264"/>
            <a:ext cx="2194560" cy="72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定着・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社内展開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13268" y="3912444"/>
            <a:ext cx="2834640" cy="123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社内コーチの育成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手順書・動画・FAQ の整備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部門別の段階展開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60908" y="5441511"/>
            <a:ext cx="10469880" cy="371935"/>
          </a:xfrm>
          <a:prstGeom prst="roundRect">
            <a:avLst>
              <a:gd name="adj" fmla="val 14751"/>
            </a:avLst>
          </a:prstGeom>
          <a:solidFill>
            <a:schemeClr val="accent4">
              <a:alpha val="30000"/>
            </a:schemeClr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43788" y="5441511"/>
            <a:ext cx="10104120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効果測定：削減時間・利用率を毎月可視化し、月次会議でご報告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60908" y="5896099"/>
            <a:ext cx="10469880" cy="371935"/>
          </a:xfrm>
          <a:prstGeom prst="roundRect">
            <a:avLst>
              <a:gd name="adj" fmla="val 14751"/>
            </a:avLst>
          </a:prstGeom>
          <a:solidFill>
            <a:schemeClr val="tx2">
              <a:alpha val="85000"/>
            </a:schemeClr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043788" y="5896099"/>
            <a:ext cx="10104120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ガバナンス：個人情報の取扱いルール・AI 利用ガイドライン・セキュリティ研修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Dropbox から Google Drive への移行ステップ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「先にルールと箱をつくり、次にデータを移す」順番で、部署単位で小さく確かめながら移行します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柱① Drive 移行・セキュアな共有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87850"/>
            <a:ext cx="2109155" cy="640555"/>
          </a:xfrm>
          <a:prstGeom prst="homePlat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87850"/>
            <a:ext cx="165195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1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現状調査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372"/>
            <a:ext cx="2109155" cy="3099460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621003"/>
            <a:ext cx="1880555" cy="19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データ量・構成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外部共有リンク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個人情報の所在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87309"/>
            <a:ext cx="183483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成果物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945598"/>
            <a:ext cx="18348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現状調査シート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94955" y="1587850"/>
            <a:ext cx="2109155" cy="640555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6435" y="1587850"/>
            <a:ext cx="142335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2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設計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94955" y="2414372"/>
            <a:ext cx="2109155" cy="3099460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32115" y="2621003"/>
            <a:ext cx="1880555" cy="19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共有ドライブ構成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メンバー・権限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命名ルール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32115" y="4687309"/>
            <a:ext cx="183483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成果物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2115" y="4945598"/>
            <a:ext cx="18348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共有ドライブ設計書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41270" y="1587850"/>
            <a:ext cx="2109155" cy="640555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52750" y="1587850"/>
            <a:ext cx="142335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3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ルール策定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41270" y="2414372"/>
            <a:ext cx="2109155" cy="3099460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78430" y="2621003"/>
            <a:ext cx="1880555" cy="19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情報区分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外部共有の承認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管理者設定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178430" y="4687309"/>
            <a:ext cx="183483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成果物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78430" y="4945598"/>
            <a:ext cx="18348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運用ルール・設定一覧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87585" y="1587850"/>
            <a:ext cx="2109155" cy="640555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99065" y="1587850"/>
            <a:ext cx="142335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4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移行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87585" y="2414372"/>
            <a:ext cx="2109155" cy="3099460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24745" y="2621003"/>
            <a:ext cx="1880555" cy="19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共有リンクの整理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パイロット移行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部署単位で本移行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424745" y="4687309"/>
            <a:ext cx="183483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成果物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424745" y="4945598"/>
            <a:ext cx="18348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移行チェックリスト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33900" y="1587850"/>
            <a:ext cx="2109155" cy="640555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45380" y="1587850"/>
            <a:ext cx="142335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STEP 5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切替・定着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33900" y="2414372"/>
            <a:ext cx="2109155" cy="3099460"/>
          </a:xfrm>
          <a:prstGeom prst="roundRect">
            <a:avLst>
              <a:gd name="adj" fmla="val 4335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71060" y="2621003"/>
            <a:ext cx="1880555" cy="196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操作ガイド配布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読み取り専用化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Dropbox 解約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71060" y="4687309"/>
            <a:ext cx="183483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成果物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671060" y="4945598"/>
            <a:ext cx="1834835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切替完了報告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668805"/>
            <a:ext cx="11094415" cy="640555"/>
          </a:xfrm>
          <a:prstGeom prst="roundRect">
            <a:avLst>
              <a:gd name="adj" fmla="val 14275"/>
            </a:avLst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36" name="Image 0" descr="check-mark-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84" y="5768255"/>
            <a:ext cx="441655" cy="441655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234440" y="5668805"/>
            <a:ext cx="10225735" cy="640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Google 公式の移行機能（2026年1月提供）で権限ごと移行できます。ただし「リンクを知っている全員」の共有も引き継がれるため、移行前の整理が欠かせません。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「リンクを開いた人が見られる」不安は、仕組みで大きく減らせます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原因の多くは、リンクの公開範囲の設定と、共有時に付与されて残った閲覧権限にあります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柱① Drive 移行・セキュアな共有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4069080" cy="4597532"/>
          </a:xfrm>
          <a:prstGeom prst="roundRect">
            <a:avLst>
              <a:gd name="adj" fmla="val 2247"/>
            </a:avLst>
          </a:prstGeom>
          <a:solidFill>
            <a:schemeClr val="accent5">
              <a:alpha val="8000"/>
            </a:schemeClr>
          </a:solidFill>
          <a:ln/>
        </p:spPr>
      </p:sp>
      <p:pic>
        <p:nvPicPr>
          <p:cNvPr id="6" name="Image 0" descr="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667" y="1866222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28790"/>
            <a:ext cx="2971800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よくある原因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21003"/>
            <a:ext cx="352044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「リンクを知っている全員」のまま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4264"/>
            <a:ext cx="361188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権限を外しても、URL があれば開ける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09129"/>
            <a:ext cx="352044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送信時に付与した権限が残る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22390"/>
            <a:ext cx="361188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メール等で送ると権限が付き、残り続ける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997255"/>
            <a:ext cx="352044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フォルダの権限を引き継ぐ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10517"/>
            <a:ext cx="361188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フォルダ内のファイルにも同じ権限が及ぶ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639507"/>
            <a:ext cx="67052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対策：管理者設定 × 共有ドライブ × 運用ルール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937760" y="2104426"/>
            <a:ext cx="6705295" cy="723207"/>
          </a:xfrm>
          <a:prstGeom prst="roundRect">
            <a:avLst>
              <a:gd name="adj" fmla="val 1264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16" name="Image 1" descr="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947" y="2235601"/>
            <a:ext cx="460858" cy="46085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669280" y="2156084"/>
            <a:ext cx="437357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組織外へのリンク共有を禁止・制限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10161727" y="2321388"/>
            <a:ext cx="1344168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全エディション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937760" y="2930949"/>
            <a:ext cx="6705295" cy="723207"/>
          </a:xfrm>
          <a:prstGeom prst="roundRect">
            <a:avLst>
              <a:gd name="adj" fmla="val 1264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20" name="Image 2" descr="locked-with-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47" y="3062124"/>
            <a:ext cx="460858" cy="46085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69280" y="2982607"/>
            <a:ext cx="437357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個人情報は共有ドライブでメンバー限定に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0161727" y="3147911"/>
            <a:ext cx="1344168" cy="289283"/>
          </a:xfrm>
          <a:prstGeom prst="roundRect">
            <a:avLst>
              <a:gd name="adj" fmla="val 1896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Business Standard〜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937760" y="3757471"/>
            <a:ext cx="6705295" cy="723207"/>
          </a:xfrm>
          <a:prstGeom prst="roundRect">
            <a:avLst>
              <a:gd name="adj" fmla="val 1264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24" name="Image 3" descr="prohibit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947" y="3888646"/>
            <a:ext cx="460858" cy="46085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69280" y="3809129"/>
            <a:ext cx="437357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閲覧者のダウンロード・印刷・コピーを禁止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0161727" y="3974434"/>
            <a:ext cx="1344168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全エディション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937760" y="4583994"/>
            <a:ext cx="6705295" cy="723207"/>
          </a:xfrm>
          <a:prstGeom prst="roundRect">
            <a:avLst>
              <a:gd name="adj" fmla="val 1264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28" name="Image 4" descr="hourglass-not-d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947" y="4715169"/>
            <a:ext cx="460858" cy="46085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69280" y="4635652"/>
            <a:ext cx="437357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外部共有に有効期限を設定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0161727" y="4800956"/>
            <a:ext cx="1344168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全エディション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937760" y="5410517"/>
            <a:ext cx="6705295" cy="723207"/>
          </a:xfrm>
          <a:prstGeom prst="roundRect">
            <a:avLst>
              <a:gd name="adj" fmla="val 12644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pic>
        <p:nvPicPr>
          <p:cNvPr id="32" name="Image 5" descr="magnifying-glass-tilted-lef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3947" y="5541692"/>
            <a:ext cx="460858" cy="46085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669280" y="5462174"/>
            <a:ext cx="437357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監査ログで共有状況を定期点検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0161727" y="5627479"/>
            <a:ext cx="1344168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全エディション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情報区分と取扱いルール（たたき台）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移行前に「どこに置き、誰と共有し、AI に使ってよいか」を情報区分ごとに決めます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柱① Drive 移行・セキュアな共有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39507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2240280"/>
                <a:gridCol w="1463040"/>
                <a:gridCol w="2270455"/>
              </a:tblGrid>
              <a:tr h="4339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区分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保存場所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共有範囲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Gemini の利用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</a:tr>
              <a:tr h="981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機密（要配慮）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55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介護記録・ケアプラン、職員の健康情報・マイナンバー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介護記録システム／限定共有ドライブ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担当者のみ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ルール整備後に限定利用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8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社外秘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人事・給与、経営資料、契約書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部門別の共有ドライブ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部門メンバー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社内ルールの範囲で利用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8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B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マニュアル・研修資料、議事録、様式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全社共有ドライブ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全職員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積極活用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7748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公開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7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求人情報、施設案内、広報物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公開用フォルダ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制限なし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積極活用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20463"/>
            <a:ext cx="11094415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Workspace の Gemini は、顧客データを許可なくモデルの学習に使用しないと Google が公表しています。最終的なルールは、厚生労働省のガイダンス等を踏まえて確定します。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業務別 Gemini 活用マップ（例）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部門ごとに「誰の・どの業務に・どの機能を」使うかを具体化し、貴社版のマップに仕上げます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柱② 業務別AI 活用の「型」づくり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5410048" cy="2252274"/>
          </a:xfrm>
          <a:prstGeom prst="roundRect">
            <a:avLst>
              <a:gd name="adj" fmla="val 4060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6" name="Image 0" descr="card-index-divi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843733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46138"/>
            <a:ext cx="449564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バックオフィス（人事・経理・総務）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7688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求人票・スカウト文の作成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038448" y="2559014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Gmail・ドキュメント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51612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規程・マニュアルの質問応答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38448" y="2992938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Gemini Notebook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85536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提出物・郵便物管理の自動化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38448" y="3426862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フォーム・Studio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33008" y="1639507"/>
            <a:ext cx="5410048" cy="2252274"/>
          </a:xfrm>
          <a:prstGeom prst="roundRect">
            <a:avLst>
              <a:gd name="adj" fmla="val 4060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5" name="Image 1" descr="woman-health-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58" y="1843733"/>
            <a:ext cx="480060" cy="4800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010248" y="1846138"/>
            <a:ext cx="449564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事業所管理者・現場管理職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507328" y="2517688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会議・委員会の議事録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9722815" y="2559014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Meet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507328" y="2951612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研修資料・やさしい日本語化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722815" y="2992938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スライド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507328" y="3385536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稼働・加算データの集計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9722815" y="3426862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スプレッドシート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4119075"/>
            <a:ext cx="5410048" cy="2252274"/>
          </a:xfrm>
          <a:prstGeom prst="roundRect">
            <a:avLst>
              <a:gd name="adj" fmla="val 4060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24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323301"/>
            <a:ext cx="480060" cy="4800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325880" y="4325706"/>
            <a:ext cx="449564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営業部門（入居相談・地域連携）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822960" y="4997255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問い合わせ返信メールの下書き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4038448" y="5038582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Gmail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22960" y="5431180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施設紹介・提案資料の作成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4038448" y="547250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スライド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22960" y="5865104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面談メモの要約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4038448" y="5906430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ドキュメント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233008" y="4119075"/>
            <a:ext cx="5410048" cy="2252274"/>
          </a:xfrm>
          <a:prstGeom prst="roundRect">
            <a:avLst>
              <a:gd name="adj" fmla="val 4060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33" name="Image 3" descr="man-office-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58" y="4323301"/>
            <a:ext cx="480060" cy="48006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010248" y="4325706"/>
            <a:ext cx="449564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経営・本部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6507328" y="4997255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月次会議資料の作成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9722815" y="5038582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スライド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507328" y="5431180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制度改正情報の要点整理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9722815" y="547250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Gemini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6507328" y="5865104"/>
            <a:ext cx="3169768" cy="371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事業計画のたたき台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9722815" y="5906430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ドキュメント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効果を実感しやすい業務から着手します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「効果の大きさ」と「始めやすさ」で整理し、すぐ成果が出る業務から着手します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柱② 業務別AI 活用の「型」づくり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1691165"/>
            <a:ext cx="3017520" cy="2195451"/>
          </a:xfrm>
          <a:prstGeom prst="rect">
            <a:avLst/>
          </a:prstGeom>
          <a:solidFill>
            <a:schemeClr val="accent2">
              <a:alpha val="8000"/>
            </a:scheme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1691165"/>
            <a:ext cx="3017520" cy="2195451"/>
          </a:xfrm>
          <a:prstGeom prst="rect">
            <a:avLst/>
          </a:prstGeom>
          <a:solidFill>
            <a:schemeClr val="accent3">
              <a:alpha val="15000"/>
            </a:scheme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886616"/>
            <a:ext cx="3017520" cy="2195451"/>
          </a:xfrm>
          <a:prstGeom prst="rect">
            <a:avLst/>
          </a:prstGeom>
          <a:solidFill>
            <a:srgbClr val="F3F3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3886616"/>
            <a:ext cx="3017520" cy="2195451"/>
          </a:xfrm>
          <a:prstGeom prst="rect">
            <a:avLst/>
          </a:prstGeom>
          <a:solidFill>
            <a:schemeClr val="accent4">
              <a:alpha val="12000"/>
            </a:scheme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15568" y="1773817"/>
            <a:ext cx="228600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仕組み化（STEP2）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33088" y="1773817"/>
            <a:ext cx="256032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クイックウィン（STEP1）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3969268"/>
            <a:ext cx="228600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将来検討（STEP3）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3969268"/>
            <a:ext cx="256032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07A1E"/>
                </a:solidFill>
              </a:rPr>
              <a:t>すき間時間で（随時）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 rot="16200000">
            <a:off x="-182880" y="3749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効果の大きさ →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6133724"/>
            <a:ext cx="603504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始めやすさ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56125" y="2038815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84725" y="1964951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議事録の自動作成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4022" y="2609632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22622" y="2535768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資料作成のたたき台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7526" y="3180449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26126" y="3106585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メール文面の作成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4022" y="3575631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2622" y="3501766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規程・マニュアルQ&amp;A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76502" y="2302269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05102" y="2228405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提出物管理の自動化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59306" y="3268267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987906" y="3194403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月次レポート作成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97203" y="4761174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25803" y="4687309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記録システムとの連携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35424" y="4761174"/>
            <a:ext cx="182880" cy="1828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64024" y="4687309"/>
            <a:ext cx="1737360" cy="330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文章の校正・要約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52360" y="1691165"/>
            <a:ext cx="419069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35240" y="1924515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1877133"/>
            <a:ext cx="32762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クイックウィン（1〜2ヶ月目）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2290394"/>
            <a:ext cx="32762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議事録・メール・資料作成のテンプレートを整備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52360" y="3189237"/>
            <a:ext cx="419069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35240" y="3422587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3375205"/>
            <a:ext cx="32762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仕組み化（3〜4ヶ月目）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3788466"/>
            <a:ext cx="32762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提出物管理・月次レポートを自動化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52360" y="4687309"/>
            <a:ext cx="4190695" cy="1343099"/>
          </a:xfrm>
          <a:prstGeom prst="roundRect">
            <a:avLst>
              <a:gd name="adj" fmla="val 6808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35240" y="4920660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4873277"/>
            <a:ext cx="32762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将来検討（5ヶ月目〜）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5286538"/>
            <a:ext cx="327629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記録システムとの役割分担を整理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活用シナリオ例：まず着手をおすすめする3つの業務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いずれも追加ツールなしで実現でき、効果はテスト導入メンバーで実測します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柱② 業務別AI 活用の「型」づくり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3515258" cy="464919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6" name="Image 0" descr="studio-micro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1866222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25475"/>
            <a:ext cx="264657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会議・委員会の議事録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21003"/>
            <a:ext cx="137160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いま（想定）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879291"/>
            <a:ext cx="3149498" cy="981496"/>
          </a:xfrm>
          <a:prstGeom prst="roundRect">
            <a:avLst>
              <a:gd name="adj" fmla="val 7453"/>
            </a:avLst>
          </a:prstGeom>
          <a:solidFill>
            <a:srgbClr val="F1F1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41248" y="2930949"/>
            <a:ext cx="2930042" cy="8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会議後にメモから議事録を作成（1回30〜60分）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1677" y="3933108"/>
            <a:ext cx="329184" cy="309946"/>
          </a:xfrm>
          <a:prstGeom prst="downArrow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222390"/>
            <a:ext cx="109728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これから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4480679"/>
            <a:ext cx="3149498" cy="1188126"/>
          </a:xfrm>
          <a:prstGeom prst="roundRect">
            <a:avLst>
              <a:gd name="adj" fmla="val 615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" y="4532336"/>
            <a:ext cx="2930042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Meet の自動メモで議事録と ToDo を作成。確認するだけに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5741126"/>
            <a:ext cx="314949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使う機能：Meet・Gemini（Business Standard 以上）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38218" y="1639507"/>
            <a:ext cx="3515258" cy="464919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7" name="Image 1" descr="boo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813" y="1866222"/>
            <a:ext cx="528066" cy="52806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161178" y="1825475"/>
            <a:ext cx="264657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規程・マニュアルの問い合わせ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566818" y="2621003"/>
            <a:ext cx="137160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いま（想定）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21098" y="2879291"/>
            <a:ext cx="3149498" cy="981496"/>
          </a:xfrm>
          <a:prstGeom prst="roundRect">
            <a:avLst>
              <a:gd name="adj" fmla="val 7453"/>
            </a:avLst>
          </a:prstGeom>
          <a:solidFill>
            <a:srgbClr val="F1F1F4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30826" y="2930949"/>
            <a:ext cx="2930042" cy="8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本部への問い合わせに都度対応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931256" y="3933108"/>
            <a:ext cx="329184" cy="309946"/>
          </a:xfrm>
          <a:prstGeom prst="downArrow">
            <a:avLst/>
          </a:prstGeom>
          <a:solidFill>
            <a:schemeClr val="accent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566818" y="4222390"/>
            <a:ext cx="109728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これから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21098" y="4480679"/>
            <a:ext cx="3149498" cy="1188126"/>
          </a:xfrm>
          <a:prstGeom prst="roundRect">
            <a:avLst>
              <a:gd name="adj" fmla="val 6157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4630826" y="4532336"/>
            <a:ext cx="2930042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規程を Gemini Notebook に集約し、職員が自分で調べられる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4566818" y="5741126"/>
            <a:ext cx="314949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使う機能：Gemini Notebook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127797" y="1639507"/>
            <a:ext cx="3515258" cy="4649190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28" name="Image 2" descr="clip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392" y="1866222"/>
            <a:ext cx="528066" cy="52806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50757" y="1825475"/>
            <a:ext cx="2646578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提出物・郵便物の管理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8356397" y="2621003"/>
            <a:ext cx="137160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いま（想定）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8310677" y="2879291"/>
            <a:ext cx="3149498" cy="981496"/>
          </a:xfrm>
          <a:prstGeom prst="roundRect">
            <a:avLst>
              <a:gd name="adj" fmla="val 7453"/>
            </a:avLst>
          </a:prstGeom>
          <a:solidFill>
            <a:srgbClr val="F1F1F4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8420405" y="2930949"/>
            <a:ext cx="2930042" cy="8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手入力で記録し、未提出者に個別に催促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9720834" y="3933108"/>
            <a:ext cx="329184" cy="30994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356397" y="4222390"/>
            <a:ext cx="1097280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これから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8310677" y="4480679"/>
            <a:ext cx="3149498" cy="1188126"/>
          </a:xfrm>
          <a:prstGeom prst="roundRect">
            <a:avLst>
              <a:gd name="adj" fmla="val 6157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420405" y="4532336"/>
            <a:ext cx="2930042" cy="1084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フォームで提出・自動記録・自動リマインド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8356397" y="5741126"/>
            <a:ext cx="3149498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使う機能：フォーム・スプレッドシート・Workspace Studio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ご担当者様が「社内で教えられる」状態をつくります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ご担当者様を「社内コーチ」として育成し、教材と相談窓口を揃えて現場の負担を減らします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柱③ 定着・社内展開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3429000" cy="2117964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6" name="Image 0" descr="spark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235" y="1886885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46138"/>
            <a:ext cx="251460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テンプレート・Gem 集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21003"/>
            <a:ext cx="301752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部門別の指示文とカスタム AI を共有ドライブに整備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06240" y="1639507"/>
            <a:ext cx="3429000" cy="2117964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0" name="Image 1" descr="video-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835" y="1886885"/>
            <a:ext cx="528066" cy="52806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1846138"/>
            <a:ext cx="251460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手順書・短尺動画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2621003"/>
            <a:ext cx="301752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1テーマ3分の動画と1枚の手順書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015760"/>
            <a:ext cx="3429000" cy="2117964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4" name="Image 2" descr="woman-teach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5" y="4263138"/>
            <a:ext cx="528066" cy="5280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222390"/>
            <a:ext cx="251460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社内コーチ育成・リテラシー研修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4997255"/>
            <a:ext cx="301752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講師用資料を提供。セキュリティ・AI 利用ルールも含む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206240" y="4015760"/>
            <a:ext cx="3429000" cy="2117964"/>
          </a:xfrm>
          <a:prstGeom prst="roundRect">
            <a:avLst>
              <a:gd name="adj" fmla="val 4317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pic>
        <p:nvPicPr>
          <p:cNvPr id="18" name="Image 3" descr="speech-ball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835" y="4263138"/>
            <a:ext cx="528066" cy="52806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029200" y="4222390"/>
            <a:ext cx="2514600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相談窓口・FAQ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434840" y="4997255"/>
            <a:ext cx="3017520" cy="103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Chat で質問を受け付け、FAQ に蓄積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909560" y="1639507"/>
            <a:ext cx="3733495" cy="4494217"/>
          </a:xfrm>
          <a:prstGeom prst="roundRect">
            <a:avLst>
              <a:gd name="adj" fmla="val 2939"/>
            </a:avLst>
          </a:prstGeom>
          <a:solidFill>
            <a:schemeClr val="bg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183880" y="1846138"/>
            <a:ext cx="3184855" cy="41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現場の負担を抑える3つの工夫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24909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686800" y="2445367"/>
            <a:ext cx="28190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「今の業務の延長」から始める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732520" y="2879291"/>
            <a:ext cx="268193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いつもの資料・メールに AI を足すだけ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8183880" y="36481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0" y="3602498"/>
            <a:ext cx="28190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1回30分のミニ勉強会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8732520" y="4036423"/>
            <a:ext cx="268193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業務の合間にオンラインで参加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8183880" y="4805231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8686800" y="4759630"/>
            <a:ext cx="281909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成功事例を毎月共有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8732520" y="5193554"/>
            <a:ext cx="268193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身近な活用例で自然に広げる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段階展開のロードマップ：8名から50〜70名へ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担当部署 → 本部管理部門 → 営業・現場管理職と、効果を確認しながら広げます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　柱③ 定着・社内展開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311057"/>
            <a:ext cx="3545738" cy="1343099"/>
          </a:xfrm>
          <a:prstGeom prst="roundRect">
            <a:avLst>
              <a:gd name="adj" fmla="val 5447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435035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Phase 0｜1〜2ヶ月目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4981"/>
            <a:ext cx="308853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8名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61558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担当部署（テスト導入）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809129"/>
            <a:ext cx="3545738" cy="2427910"/>
          </a:xfrm>
          <a:prstGeom prst="roundRect">
            <a:avLst>
              <a:gd name="adj" fmla="val 3766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33108"/>
            <a:ext cx="317997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効果の出る「型」をつくる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83994"/>
            <a:ext cx="3179978" cy="160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業務棚卸し・ユースケース選定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テンプレート・Gem 作成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 移行設計・KPI 設定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978" y="1897796"/>
            <a:ext cx="3545738" cy="1756361"/>
          </a:xfrm>
          <a:prstGeom prst="roundRect">
            <a:avLst>
              <a:gd name="adj" fmla="val 4165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51578" y="2021774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Phase 1｜3〜4ヶ月目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51578" y="2331720"/>
            <a:ext cx="308853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〜20名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51578" y="2848297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本部管理部門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2978" y="3809129"/>
            <a:ext cx="3545738" cy="2427910"/>
          </a:xfrm>
          <a:prstGeom prst="roundRect">
            <a:avLst>
              <a:gd name="adj" fmla="val 3766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858" y="3933108"/>
            <a:ext cx="317997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バックオフィスへ展開・移行完了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4583994"/>
            <a:ext cx="3179978" cy="160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部門別テンプレートの拡充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社内コーチの勉強会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Dropbox からの本移行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7317" y="1484534"/>
            <a:ext cx="3545738" cy="2169622"/>
          </a:xfrm>
          <a:prstGeom prst="roundRect">
            <a:avLst>
              <a:gd name="adj" fmla="val 3372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5917" y="1608513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Phase 2｜5〜6ヶ月目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325917" y="1918459"/>
            <a:ext cx="308853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50〜70名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325917" y="2435035"/>
            <a:ext cx="308853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営業・現場管理職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97317" y="3809129"/>
            <a:ext cx="3545738" cy="2427910"/>
          </a:xfrm>
          <a:prstGeom prst="roundRect">
            <a:avLst>
              <a:gd name="adj" fmla="val 3766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80197" y="3933108"/>
            <a:ext cx="3179978" cy="516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対象部門への展開と効果のご報告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80197" y="4583994"/>
            <a:ext cx="3179978" cy="1601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営業・管理職向けの展開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FAQ・相談窓口の運用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効果測定と次年度計画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ご要件と本提案の対応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いただいた必須要件・推奨要件のすべてに、本提案の具体的な取り組みでお応えします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02｜ご提案内容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4534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  <a:gridCol w="5516575"/>
              </a:tblGrid>
              <a:tr h="4132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区分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ご要件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本提案での対応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Google Workspace・Gemini の専門知識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管理者設定から Gemini 活用まで一貫して支援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部門・担当者別の AI 活用の提案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業務棚卸しから部門別の活用マップを作成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資料・メール・議事録・共有・自動化の幅広い活用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活用シナリオ、テンプレート・Gem 集、自動化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F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セキュリティの基礎知識・リテラシー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情報区分ルール・AI ガイドラインと職員研修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7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Workspace の活用支援への特化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追加ツールなし。導入済みの範囲で設計・支援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7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少人数での習得から社内展開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8名 → 本部 → 50〜70名の段階展開と社内コーチ育成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7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介護業界の理解と第三者視点の助言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介護・福祉の事例と制度動向を踏まえて提案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7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費用対効果の明示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A5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削減時間・利用率を毎月計測し、金額換算してご報告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事例サマリー：介護・福祉の現場でも活用が進んでいます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介護・福祉の法人から段階展開・Dropbox 移行まで、貴社に近い公開事例をご紹介します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03｜他社事例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8785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480560"/>
                <a:gridCol w="3504895"/>
              </a:tblGrid>
              <a:tr h="3925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組織（業種）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取り組み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シーユーシー・ホスピス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（ホスピス型住宅・訪問看護）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Gem で音声・メモから介護記録の下書きを作成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職員1人 月約3.5時間削減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社会福祉法人ことの海会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（障がい・児童・高齢者支援）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LINE WORKS から Workspace へ一括切替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管理職と現場でライセンスを使い分け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ソラスト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（医療事務・介護・保育）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3万人以上の全職員で Workspace への移行を決定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約3ヶ月で基盤を構築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日本特殊陶業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（製造・名古屋）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15部門40名で1ヶ月トライアル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週平均3.1時間削減／人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船井総研ホールディングス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（経営コンサルティング）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50名 → 150名 → 全社と段階展開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4ヶ月で全社導入・利用率97%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星野リゾート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（宿泊）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企画・発信業務やアンケート分析に活用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「魅力造成」の作業時間 約30%削減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The Washington Post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（報道）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Dropbox から Workspace へ移行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4FC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1,500名超・240TB超を期限内に移行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82066"/>
            <a:ext cx="11094415" cy="25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いずれも各社の公開事例です（当社の支援事例ではありません）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介護・福祉の事例：記録業務と情報共有基盤の見直し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同じ介護・福祉の現場で、記録業務の効率化と情報共有基盤の見直しが進んでいます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03｜他社事例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介護・ホスピス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株式会社シーユーシー・ホスピス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ホスピス型住宅「ReHOPE」など全国59拠点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月約3.5時間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削減／職員1人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Gem で音声・メモから記録の下書きを作成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記録1件 4.0分 → 3.3分（約20%短縮）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示唆：ルール整備後の現場展開の候補に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53048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社会福祉法人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社会福祉法人ことの海会（長崎県）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障がい・児童発達・高齢者支援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35928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一括導入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段階導入から切替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LINE WORKS から Google チャットへ切替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管理職は Business Standard、現場は Frontline Starter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53048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62776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示唆：ライセンスの使い分けは貴社の参考に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段階展開の事例：小さく試して、全社に広げる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少人数で効果を測ってから広げる進め方は、貴社の「8名 → 50〜70名」と同じ型です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03｜他社事例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製造・愛知県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日本特殊陶業株式会社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名古屋市に本社を置くメーカー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週3.1時間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削減／人（平均）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15部門40名で Gemini を1ヶ月試行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60件のユースケースが集まる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示唆：少人数でも、削減時間を測れば判断材料に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53048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経営コンサルティング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株式会社船井総研ホールディングス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中堅・中小企業向けコンサルティング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35928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97%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の社員が Gemini を活用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50名 → 150名 → 全社と段階展開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活用コンテストや勉強会で定着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53048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62776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示唆：成功事例の共有が定着の鍵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データ移行とナレッジ活用の事例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移行は「引っ越し」で終わらせず、蓄積した資料を AI で使える知識に変えます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03｜他社事例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医療用品メーカー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ダイヤ工業株式会社（岡山県）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サポーター・コルセット等のメーカー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70%超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の社員が Gemini を日常利用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ファイルサーバーから Workspace へ移行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会議資料と社内規定を NotebookLM に集約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示唆：問い合わせ対応の効率化に応用できる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1639507"/>
            <a:ext cx="5364328" cy="4597532"/>
          </a:xfrm>
          <a:prstGeom prst="roundRect">
            <a:avLst>
              <a:gd name="adj" fmla="val 1989"/>
            </a:avLst>
          </a:prstGeom>
          <a:solidFill>
            <a:schemeClr val="bg1"/>
          </a:solidFill>
          <a:ln w="9525">
            <a:solidFill>
              <a:srgbClr val="E2E1EE"/>
            </a:solidFill>
            <a:prstDash val="solid"/>
          </a:ln>
          <a:effectLst>
            <a:outerShdw sx="100000" sy="100000" kx="0" ky="0" algn="bl" rotWithShape="0" blurRad="63500" dist="15240" dir="5400000">
              <a:srgbClr val="1F2233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53048" y="1897796"/>
            <a:ext cx="1737360" cy="289283"/>
          </a:xfrm>
          <a:prstGeom prst="roundRect">
            <a:avLst>
              <a:gd name="adj" fmla="val 1896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Dropbox からの移行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280062"/>
            <a:ext cx="4815688" cy="43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The Washington Post（米国）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2724318"/>
            <a:ext cx="4815688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報道機関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53048" y="3085922"/>
            <a:ext cx="4815688" cy="929838"/>
          </a:xfrm>
          <a:prstGeom prst="roundRect">
            <a:avLst>
              <a:gd name="adj" fmla="val 7867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35928" y="3106585"/>
            <a:ext cx="4449928" cy="888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240TB超</a:t>
            </a:r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  を期限内に移行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53048" y="4222390"/>
            <a:ext cx="4815688" cy="1343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Dropbox の契約終了に合わせて移行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複雑な権限・フォルダを事前に整理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53048" y="5617147"/>
            <a:ext cx="4815688" cy="464919"/>
          </a:xfrm>
          <a:prstGeom prst="roundRect">
            <a:avLst>
              <a:gd name="adj" fmla="val 11801"/>
            </a:avLst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62776" y="5617147"/>
            <a:ext cx="4596232" cy="46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示唆：成否は移行前の整理で決まる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スケジュール（案）：6ヶ月で移行完了と対象部門への展開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Dropbox 切替を最優先に、6ヶ月で移行完了と対象部門への展開まで進めます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04｜スケジュール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566160" y="1587850"/>
            <a:ext cx="1346149" cy="392598"/>
          </a:xfrm>
          <a:prstGeom prst="rect">
            <a:avLst/>
          </a:prstGeom>
          <a:solidFill>
            <a:srgbClr val="2B2A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566160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1ヶ月目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12309" y="1587850"/>
            <a:ext cx="1346149" cy="392598"/>
          </a:xfrm>
          <a:prstGeom prst="rect">
            <a:avLst/>
          </a:prstGeom>
          <a:solidFill>
            <a:srgbClr val="5B4F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12309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2ヶ月目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8458" y="1587850"/>
            <a:ext cx="1346149" cy="392598"/>
          </a:xfrm>
          <a:prstGeom prst="rect">
            <a:avLst/>
          </a:prstGeom>
          <a:solidFill>
            <a:srgbClr val="2B2A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58458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3ヶ月目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04608" y="1587850"/>
            <a:ext cx="1346149" cy="392598"/>
          </a:xfrm>
          <a:prstGeom prst="rect">
            <a:avLst/>
          </a:prstGeom>
          <a:solidFill>
            <a:srgbClr val="5B4F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04608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4ヶ月目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50757" y="1587850"/>
            <a:ext cx="1346149" cy="392598"/>
          </a:xfrm>
          <a:prstGeom prst="rect">
            <a:avLst/>
          </a:prstGeom>
          <a:solidFill>
            <a:srgbClr val="2B2A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50757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5ヶ月目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296906" y="1587850"/>
            <a:ext cx="1346149" cy="392598"/>
          </a:xfrm>
          <a:prstGeom prst="rect">
            <a:avLst/>
          </a:prstGeom>
          <a:solidFill>
            <a:srgbClr val="5B4F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96906" y="1587850"/>
            <a:ext cx="1346149" cy="392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6ヶ月目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104426"/>
            <a:ext cx="11094415" cy="444256"/>
          </a:xfrm>
          <a:prstGeom prst="rect">
            <a:avLst/>
          </a:prstGeom>
          <a:solidFill>
            <a:srgbClr val="F7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2104426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キックオフ・現状調査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11880" y="2228405"/>
            <a:ext cx="716250" cy="196299"/>
          </a:xfrm>
          <a:prstGeom prst="roundRect">
            <a:avLst>
              <a:gd name="adj" fmla="val 23291"/>
            </a:avLst>
          </a:prstGeom>
          <a:solidFill>
            <a:schemeClr val="accent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2548682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Drive 移行設計・ルール策定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50340" y="2672661"/>
            <a:ext cx="1523939" cy="196299"/>
          </a:xfrm>
          <a:prstGeom prst="roundRect">
            <a:avLst>
              <a:gd name="adj" fmla="val 23291"/>
            </a:avLst>
          </a:prstGeom>
          <a:solidFill>
            <a:schemeClr val="accent1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992938"/>
            <a:ext cx="11094415" cy="444256"/>
          </a:xfrm>
          <a:prstGeom prst="rect">
            <a:avLst/>
          </a:prstGeom>
          <a:solidFill>
            <a:srgbClr val="F7F6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2992938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パイロット移行（1部署）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96489" y="3116916"/>
            <a:ext cx="985479" cy="196299"/>
          </a:xfrm>
          <a:prstGeom prst="roundRect">
            <a:avLst>
              <a:gd name="adj" fmla="val 23291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437194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本移行・Dropbox 切替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73408" y="3561172"/>
            <a:ext cx="2331629" cy="196299"/>
          </a:xfrm>
          <a:prstGeom prst="roundRect">
            <a:avLst>
              <a:gd name="adj" fmla="val 23291"/>
            </a:avLst>
          </a:prstGeom>
          <a:solidFill>
            <a:schemeClr val="accent1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881450"/>
            <a:ext cx="11094415" cy="444256"/>
          </a:xfrm>
          <a:prstGeom prst="rect">
            <a:avLst/>
          </a:prstGeom>
          <a:solidFill>
            <a:srgbClr val="F7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3881450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業務棚卸し・テンプレート整備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15725" y="4005428"/>
            <a:ext cx="2870088" cy="196299"/>
          </a:xfrm>
          <a:prstGeom prst="roundRect">
            <a:avLst>
              <a:gd name="adj" fmla="val 23291"/>
            </a:avLst>
          </a:prstGeom>
          <a:solidFill>
            <a:schemeClr val="accent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325706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業務の自動化（提出物管理等）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4178" y="4449684"/>
            <a:ext cx="2600858" cy="196299"/>
          </a:xfrm>
          <a:prstGeom prst="roundRect">
            <a:avLst>
              <a:gd name="adj" fmla="val 23291"/>
            </a:avLst>
          </a:prstGeom>
          <a:solidFill>
            <a:schemeClr val="accent2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769962"/>
            <a:ext cx="11094415" cy="444256"/>
          </a:xfrm>
          <a:prstGeom prst="rect">
            <a:avLst/>
          </a:prstGeom>
          <a:solidFill>
            <a:srgbClr val="F7F6F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769962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本部管理部門への展開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4178" y="4893940"/>
            <a:ext cx="2600858" cy="196299"/>
          </a:xfrm>
          <a:prstGeom prst="roundRect">
            <a:avLst>
              <a:gd name="adj" fmla="val 23291"/>
            </a:avLst>
          </a:prstGeom>
          <a:solidFill>
            <a:schemeClr val="accent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5214218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営業・現場管理職への展開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996477" y="5338196"/>
            <a:ext cx="2600858" cy="196299"/>
          </a:xfrm>
          <a:prstGeom prst="roundRect">
            <a:avLst>
              <a:gd name="adj" fmla="val 23291"/>
            </a:avLst>
          </a:prstGeom>
          <a:solidFill>
            <a:schemeClr val="accent3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658473"/>
            <a:ext cx="11094415" cy="444256"/>
          </a:xfrm>
          <a:prstGeom prst="rect">
            <a:avLst/>
          </a:prstGeom>
          <a:solidFill>
            <a:srgbClr val="F7F6F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658473"/>
            <a:ext cx="2834640" cy="44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効果測定・月次報告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19570" y="5782452"/>
            <a:ext cx="7177766" cy="196299"/>
          </a:xfrm>
          <a:prstGeom prst="roundRect">
            <a:avLst>
              <a:gd name="adj" fmla="val 23291"/>
            </a:avLst>
          </a:prstGeom>
          <a:solidFill>
            <a:schemeClr val="accent4"/>
          </a:solidFill>
          <a:ln/>
        </p:spPr>
      </p:sp>
      <p:sp>
        <p:nvSpPr>
          <p:cNvPr id="40" name="Shape 38"/>
          <p:cNvSpPr/>
          <p:nvPr/>
        </p:nvSpPr>
        <p:spPr>
          <a:xfrm>
            <a:off x="8831885" y="3540509"/>
            <a:ext cx="237744" cy="268620"/>
          </a:xfrm>
          <a:prstGeom prst="diamond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15349" y="3519846"/>
            <a:ext cx="1645920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Dropbox 解約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1639507"/>
            <a:ext cx="54864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凡例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102729"/>
            <a:ext cx="11094415" cy="227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開始時期はご決裁後に確定。Dropbox 解約は契約更新時期に合わせて調整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88720" y="1701497"/>
            <a:ext cx="164592" cy="1859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389888" y="1639507"/>
            <a:ext cx="41148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柱①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83080" y="1701497"/>
            <a:ext cx="164592" cy="18596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984248" y="1639507"/>
            <a:ext cx="41148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柱②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377440" y="1701497"/>
            <a:ext cx="164592" cy="185968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578608" y="1639507"/>
            <a:ext cx="41148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柱③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71800" y="1701497"/>
            <a:ext cx="164592" cy="185968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172968" y="1639507"/>
            <a:ext cx="411480" cy="2892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共通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本日確認させていただきたいことと、今後の進め方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以下を伺えれば、1週間以内に正式なお見積りとスケジュールをご提示できます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05｜本日ご相談したいこと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5648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87850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ご契約エディション・ライセンス数・管理者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3135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62715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Dropbox のプラン・データ量・契約更新時期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621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37580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個人情報を含むデータの範囲と「ロック」の操作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810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912444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テスト導入8名の業務と現在の使い方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5949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87309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既存システム・お取引先との役割分担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3081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62174"/>
            <a:ext cx="5852160" cy="56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ご予算感・ご決裁の時期・定例の頻度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06640" y="1587850"/>
            <a:ext cx="4236415" cy="4649190"/>
          </a:xfrm>
          <a:prstGeom prst="roundRect">
            <a:avLst>
              <a:gd name="adj" fmla="val 2590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1794480"/>
            <a:ext cx="3687775" cy="361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今後の進め方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26680" y="2427435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hape 18"/>
          <p:cNvSpPr/>
          <p:nvPr/>
        </p:nvSpPr>
        <p:spPr>
          <a:xfrm>
            <a:off x="7827264" y="2672661"/>
            <a:ext cx="0" cy="981496"/>
          </a:xfrm>
          <a:prstGeom prst="line">
            <a:avLst/>
          </a:prstGeom>
          <a:noFill/>
          <a:ln w="19050">
            <a:solidFill>
              <a:srgbClr val="EFA2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2362715"/>
            <a:ext cx="3322015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本日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724318"/>
            <a:ext cx="332201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課題・優先度のすり合わせ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26680" y="3667219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hape 22"/>
          <p:cNvSpPr/>
          <p:nvPr/>
        </p:nvSpPr>
        <p:spPr>
          <a:xfrm>
            <a:off x="7827264" y="3912444"/>
            <a:ext cx="0" cy="981496"/>
          </a:xfrm>
          <a:prstGeom prst="line">
            <a:avLst/>
          </a:prstGeom>
          <a:noFill/>
          <a:ln w="19050">
            <a:solidFill>
              <a:srgbClr val="EFA2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3602498"/>
            <a:ext cx="3322015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1週間以内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964102"/>
            <a:ext cx="332201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お見積りのご提示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26680" y="4907003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92440" y="4842282"/>
            <a:ext cx="3322015" cy="30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ご決裁後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92440" y="5203886"/>
            <a:ext cx="3322015" cy="619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キックオフ・現状調査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参考：エディション別の主な機能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896112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使える機能はエディションで異なるため、対象者に応じた組み合わせもご提案できます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651760" y="6556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Appendix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87850"/>
          <a:ext cx="11094415" cy="914400"/>
        </p:xfrm>
        <a:graphic>
          <a:graphicData uri="http://schemas.openxmlformats.org/drawingml/2006/table">
            <a:tbl>
              <a:tblPr/>
              <a:tblGrid>
                <a:gridCol w="4144975"/>
                <a:gridCol w="1737360"/>
                <a:gridCol w="1737360"/>
                <a:gridCol w="1737360"/>
                <a:gridCol w="1737360"/>
              </a:tblGrid>
              <a:tr h="41326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機能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Business Starter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Business Standard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Business Plus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Enterprise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A5E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月額料金（年間プラン・1ユーザー・税別）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800円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1,600円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2,500円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要問合せ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Gmail の Gemini（文章作成・要約）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Gemini アプリ・Gem・Gemini Notebook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ドキュメント／スプレッドシート／スライドの Gemini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Meet の自動メモ（議事録作成）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Workspace Studio（業務の自動化）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組織外共有の制限・リンク共有の禁止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共有ドライブの詳細設定（外部共有・DL 禁止）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Vault（データの保持・検索）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C"/>
                    </a:solidFill>
                  </a:tcPr>
                </a:tc>
              </a:tr>
              <a:tr h="4132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DLP（情報漏えい防止）・信頼ルール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C809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A978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55624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X Proposal">
  <a:themeElements>
    <a:clrScheme name="GREEX Proposal">
      <a:dk1>
        <a:srgbClr val="1F2233"/>
      </a:dk1>
      <a:lt1>
        <a:srgbClr val="FFFFFF"/>
      </a:lt1>
      <a:dk2>
        <a:srgbClr val="2B2A5E"/>
      </a:dk2>
      <a:lt2>
        <a:srgbClr val="F3F2FA"/>
      </a:lt2>
      <a:accent1>
        <a:srgbClr val="5B4FC4"/>
      </a:accent1>
      <a:accent2>
        <a:srgbClr val="3D7BC8"/>
      </a:accent2>
      <a:accent3>
        <a:srgbClr val="2A9785"/>
      </a:accent3>
      <a:accent4>
        <a:srgbClr val="EFA23A"/>
      </a:accent4>
      <a:accent5>
        <a:srgbClr val="D2557A"/>
      </a:accent5>
      <a:accent6>
        <a:srgbClr val="7C8096"/>
      </a:accent6>
      <a:hlink>
        <a:srgbClr val="3D7BC8"/>
      </a:hlink>
      <a:folHlink>
        <a:srgbClr val="5B4FC4"/>
      </a:folHlink>
    </a:clrScheme>
    <a:fontScheme name="GREEX Proposal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グリーエックス株式会社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株式会社サカイ様 Google Workspace × Gemini 活用支援のご提案</dc:title>
  <dc:subject>PptxGenJS Presentation</dc:subject>
  <dc:creator>グリーエックス株式会社</dc:creator>
  <cp:lastModifiedBy>グリーエックス株式会社</cp:lastModifiedBy>
  <cp:revision>1</cp:revision>
  <dcterms:created xsi:type="dcterms:W3CDTF">2026-10-26T05:34:10Z</dcterms:created>
  <dcterms:modified xsi:type="dcterms:W3CDTF">2026-10-26T05:34:10Z</dcterms:modified>
</cp:coreProperties>
</file>