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3f741207-8c83-7ad1-30df-ff7ffe744f35}">
          <p14:sldIdLst>
            <p14:sldId id="256"/>
          </p14:sldIdLst>
        </p14:section>
        <p14:section name="はじめに" id="{b192d1e8-7031-29e1-fd76-0ff906d92b4a}">
          <p14:sldIdLst>
            <p14:sldId id="257"/>
            <p14:sldId id="258"/>
          </p14:sldIdLst>
        </p14:section>
        <p14:section name="01 現状のご理解" id="{e93b99dc-917e-ab64-4673-858df05ecbb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02 ご提案内容" id="{b62e84d8-d317-7657-c82a-36ce504ec0a2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03 他社事例" id="{8dbe6304-b403-3c15-348f-5103a40f9e80}">
          <p14:sldIdLst>
            <p14:sldId id="275"/>
            <p14:sldId id="276"/>
            <p14:sldId id="277"/>
            <p14:sldId id="278"/>
          </p14:sldIdLst>
        </p14:section>
        <p14:section name="04 スケジュール" id="{7997672f-262d-59ae-47e4-12148e3a9976}">
          <p14:sldIdLst>
            <p14:sldId id="279"/>
          </p14:sldIdLst>
        </p14:section>
        <p14:section name="05 本日ご相談したいこと" id="{a441b902-e781-aecf-ad7b-55c8dd82f3e9}">
          <p14:sldIdLst>
            <p14:sldId id="280"/>
          </p14:sldIdLst>
        </p14:section>
        <p14:section name="Appendix" id="{2e2fc690-03bc-d684-3bc4-37b8bda5e90a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0"/>
            <a:ext cx="3642055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2960" y="132588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22960" y="2011680"/>
            <a:ext cx="74980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3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22960" y="388620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22960" y="52578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5" name="Text 0"/>
          <p:cNvSpPr/>
          <p:nvPr/>
        </p:nvSpPr>
        <p:spPr>
          <a:xfrm>
            <a:off x="548640" y="65105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グリーエックス株式会社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22960" y="1325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株式会社サカイ 御中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22960" y="201168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chemeClr val="tx2"/>
                </a:solidFill>
              </a:rPr>
              <a:t>「事務の時間」を、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chemeClr val="tx2"/>
                </a:solidFill>
              </a:rPr>
              <a:t>ケアと未来の時間へ</a:t>
            </a:r>
            <a:endParaRPr lang="en-US" sz="3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822960" y="3886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Google Workspace × Gemini 活用による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業務効率化・Drive 移行のご提案</a:t>
            </a:r>
            <a:endParaRPr lang="en-US" sz="17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822960" y="5257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2026年10月27日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グリーエックス株式会社　山口 宙輝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本提案のポイント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導入済みの Workspace／Gemini を活かし切り、安全なデータ管理と業務効率化を両立します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はじめに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15258" cy="45720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8892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安全な Drive 移行を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最優先に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931920"/>
            <a:ext cx="27837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共有ルールと権限設計を先に整え、Dropbox からの切替を早期に完了します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5257800"/>
            <a:ext cx="278373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5394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ゴール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566928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Dropbox 解約・Drive に一本化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38218" y="1645920"/>
            <a:ext cx="3515258" cy="45720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3978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4703978" y="278892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8名の業務から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「型」をつくる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703978" y="3931920"/>
            <a:ext cx="27837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効果を実感しやすい業務から、テンプレートと手順書を整備します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3978" y="5257800"/>
            <a:ext cx="278373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03978" y="5394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ゴール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03978" y="566928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テンプレート・Gem を整備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27797" y="1645920"/>
            <a:ext cx="3515258" cy="45720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93557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8493557" y="2788920"/>
            <a:ext cx="27837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50〜70名へ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段階的に展開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93557" y="3931920"/>
            <a:ext cx="27837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削減時間・利用率を可視化し、月次会議でご報告できる形に整えます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3557" y="5257800"/>
            <a:ext cx="278373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93557" y="5394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ゴール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93557" y="566928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効果を毎月数値でご報告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本日のアジェンダ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現状のご理解から、ご提案内容、他社事例、スケジュールまでを順にご説明します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はじめに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7373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現状のご理解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73736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業界環境と貴社の現状・課題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23744"/>
            <a:ext cx="1109441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3347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2633472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ご提案内容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633472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Drive 移行／業務別の AI 活用／社内展開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52958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他社事例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529584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介護・福祉ほかの活用事例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1109441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425696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4425696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スケジュール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4425696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6ヶ月の進め方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212080"/>
            <a:ext cx="1109441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321808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53218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本日ご相談したいこと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5321808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確認事項と今後の進め方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ご相談内容の確認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ご相談内容を次のように理解しています（認識に相違があれば、本日ご指摘ください）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01 現状のご理解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8273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ご相談の背景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Workspace と Gemini で業務効率化を推進中。Dropbox 移行の過程で、セキュリティ面の課題と未活用の機能が判明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現在の状況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担当部署8名でテスト導入中。資料作成では大幅な時間削減を実感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展開予定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反応が良ければ、営業部門・現場管理職へ段階展開（最終50〜70名）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注力したい領域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バックオフィス・管理職の事務作業の削減。現場展開の前に担当者側で準備したい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達成すべきゴール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Workspace／Gemini の最大活用、部門別の AI 活用方法の確立、定型業務の削減、Dropbox → Drive 移行の完了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ご依頼の範囲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課題分析・戦略立案・実行支援（アドバイザリー型、導入済みのシステムで改善）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期間・予算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いずれもご提案希望。相場観を踏まえ、複数のパターンで検討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スケジュール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できるだけ早期に着手したい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選定・決裁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提案内容・価格・適合性で総合判断／ご担当者様 → 代表取締役 → 月次会議でご報告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介護業界では「間接業務の削減」が経営テーマに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担い手不足が続くなか、「ケア以外の時間」をどれだけ減らせるかが競争力になっています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01 現状のご理解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15258" cy="27432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</a:rPr>
              <a:t>3.87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 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54680"/>
            <a:ext cx="27837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介護関係職種の有効求人倍率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4048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全職業平均は1.05倍（2025年6月）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8218" y="1645920"/>
            <a:ext cx="3515258" cy="27432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3978" y="19659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</a:rPr>
              <a:t>約57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 万人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03978" y="3154680"/>
            <a:ext cx="27837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2040年度に追加で必要な介護職員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03978" y="384048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2022年度比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7797" y="1645920"/>
            <a:ext cx="3515258" cy="27432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93557" y="196596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</a:rPr>
              <a:t>81.9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 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93557" y="3154680"/>
            <a:ext cx="27837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ICT 導入で文書作成の時間が短縮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93557" y="384048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ICT 導入支援事業（令和3年度）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4415" cy="16916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461772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管理職・バックオフィスの事務時間を減らし、ケアと人材育成に振り向ける。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その手段として、導入済みの Google Workspace を活かし切ります。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貴社の事業から見た、Workspace 活用のポイント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多拠点を運営する貴社では、本部と拠点の情報共有と、管理者の事務軽減が効果の出やすい領域です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01 現状のご理解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931920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貴社の事業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86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グループホーム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429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7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小規模多機能型居宅介護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4572000"/>
            <a:ext cx="320040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754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訪問看護・デイサービスも運営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名古屋市・春日井市・尾張旭市・江南市・刈谷市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1709928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本部と拠点をつなぐ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2148840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施設会議の資料・議事録を共有し、欠席者もすぐに確認できる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2697480"/>
            <a:ext cx="67052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37760" y="28437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2862072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管理者の事務を軽くする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300984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加算・運営指導の書類準備や、データ集計を効率化する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3849624"/>
            <a:ext cx="67052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37760" y="3995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4014216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多様な職員を支える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4453128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マニュアルの翻訳・やさしい日本語化、研修教材づくりに活用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937760" y="5001768"/>
            <a:ext cx="67052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37760" y="51480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5166360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新拠点の立ち上げを速く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5605272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開設準備のチェックリストや採用広報をテンプレート化する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貴社の現状：基盤は整い、「使いこなし」の段階へ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Workspace はすぐ使える一方、Dropbox・無料 Gmail・Office が併存し、データとルールが分散しています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01 現状のご理解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4480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ツール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状況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現在の使い方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Google Workspace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A8F7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導入済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Drive で共有、カレンダーで実績記録、スプレッドシートで提出物・郵便物管理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Gemini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試行中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担当部署8名で試行。資料作成で大幅な時間削減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Dropbox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14F6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移行対象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現行のデータ保管先。早期に Drive へ切り替えたい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Office 2024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併用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買い切り版。Excel／Word との併用ルールが必要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Gmail（無料版）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14F6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要整理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一部業務で利用。組織の管理外のため集約を推奨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1645920"/>
            <a:ext cx="3093415" cy="4617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869680" y="1920240"/>
            <a:ext cx="2453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すでにある成功体験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869680" y="237744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資料作成で AI を使い、数分で高品質な成果物ができた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869680" y="3657600"/>
            <a:ext cx="2453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テスト導入　</a:t>
            </a:r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8名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4206240"/>
            <a:ext cx="2453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展開予定　</a:t>
            </a:r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50〜70名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869680" y="5029200"/>
            <a:ext cx="2453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この体験を、管理部門・管理職の「当たり前」に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課題は3つのテーマに集約されます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背景要因は「ルール」「活用シーン」「展開体制」の未整備にあり、テーマごとに打ち手を定めます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01 現状のご理解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6002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現在の課題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160020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打ち手の方向性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51760" cy="128016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8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774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96596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  </a:t>
            </a:r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データ管理・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セキュリティ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96596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リンク共有で、一度開いた人が閲覧できてしまう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個人情報を含むデータの移行が進まない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92440" y="2450592"/>
            <a:ext cx="292608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2" name="Shape 9"/>
          <p:cNvSpPr/>
          <p:nvPr/>
        </p:nvSpPr>
        <p:spPr>
          <a:xfrm>
            <a:off x="8549640" y="1965960"/>
            <a:ext cx="3093415" cy="128016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823960" y="1965960"/>
            <a:ext cx="2544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管理者設定と共有ドライブで「仕組みで守る」状態にしてから移行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429000"/>
            <a:ext cx="2651760" cy="128016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15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63040" y="34290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  </a:t>
            </a:r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AI 活用の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具体化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74720" y="34290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機能を使いこなせていない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部門ごとに最適な使い方が見えない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092440" y="3913632"/>
            <a:ext cx="292608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Shape 15"/>
          <p:cNvSpPr/>
          <p:nvPr/>
        </p:nvSpPr>
        <p:spPr>
          <a:xfrm>
            <a:off x="8549640" y="3429000"/>
            <a:ext cx="3093415" cy="128016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823960" y="3429000"/>
            <a:ext cx="2544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業務を棚卸しし、効果の大きい業務から「型」にする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548640" y="4892040"/>
            <a:ext cx="2651760" cy="128016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22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3035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489204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  </a:t>
            </a:r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定着・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社内展開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3474720" y="489204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現場の抵抗と準備期間の負担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社内で教えられる体制がない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092440" y="5376672"/>
            <a:ext cx="292608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6" name="Shape 21"/>
          <p:cNvSpPr/>
          <p:nvPr/>
        </p:nvSpPr>
        <p:spPr>
          <a:xfrm>
            <a:off x="8549640" y="4892040"/>
            <a:ext cx="3093415" cy="128016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823960" y="4892040"/>
            <a:ext cx="2544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ご担当者様を「社内コーチ」に。教材を揃えて段階的に展開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6ヶ月後に目指す姿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ご相談時のゴールを、6ヶ月後の具体的な状態に置き換えました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01 現状のご理解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現在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0" y="1600200"/>
            <a:ext cx="5699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6ヶ月後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4572000" cy="125272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011680"/>
            <a:ext cx="39319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Dropbox と Drive にデータが分散し、個人情報を移せない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94960" y="2409444"/>
            <a:ext cx="292608" cy="4572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0" y="2011680"/>
            <a:ext cx="5699455" cy="1252728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3640" y="2011680"/>
            <a:ext cx="5059375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Dropbox を解約して Drive に一本化。個人情報は仕組みで保護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447288"/>
            <a:ext cx="4572000" cy="125272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447288"/>
            <a:ext cx="39319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8名が個人の工夫で試行し、使い方が属人的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94960" y="3845052"/>
            <a:ext cx="292608" cy="4572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0" y="3447288"/>
            <a:ext cx="5699455" cy="1252728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3447288"/>
            <a:ext cx="5059375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部門別のテンプレートが揃い、資料・メール・議事録が日常的に AI 化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882896"/>
            <a:ext cx="4572000" cy="125272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82896"/>
            <a:ext cx="39319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効果が数値化されず、展開を判断しにくい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394960" y="5280660"/>
            <a:ext cx="292608" cy="45720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0" y="4882896"/>
            <a:ext cx="5699455" cy="1252728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63640" y="4882896"/>
            <a:ext cx="5059375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50〜70名に展開し、削減時間を毎月可視化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ご支援の全体像：3本の柱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「安全なデータ基盤」→「業務別の活用の型」→「社内で広げる体制」の順に、一気通貫でご支援します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4415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目的　</a:t>
            </a:r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定型業務を減らし、ケアと新たな事業展開に時間を使える組織へ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3515258" cy="86868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8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060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4871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柱①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743200"/>
            <a:ext cx="2555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Drive 移行・安全な共有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246120"/>
            <a:ext cx="3515258" cy="21031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47472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Dropbox から Drive への移行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共有ドライブと権限の設計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管理者設定と情報区分ルール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338218" y="2377440"/>
            <a:ext cx="3515258" cy="86868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14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60604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06898" y="24871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柱②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206898" y="2743200"/>
            <a:ext cx="2555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業務別の活用の「型」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38218" y="3246120"/>
            <a:ext cx="3515258" cy="21031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658258" y="347472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8名の業務棚卸し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テンプレート・Gem の作成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提出物管理などの自動化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8127797" y="2377440"/>
            <a:ext cx="3515258" cy="86868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20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60604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996477" y="24871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柱③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996477" y="2743200"/>
            <a:ext cx="2555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定着・社内展開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8127797" y="3246120"/>
            <a:ext cx="3515258" cy="21031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447837" y="347472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社内コーチの育成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手順書・動画・FAQ の整備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部門別の段階展開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548640" y="5532120"/>
            <a:ext cx="11094415" cy="347472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14400" y="5532120"/>
            <a:ext cx="10362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効果測定　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削減時間・利用率を毎月可視化し、月次会議でご報告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548640" y="5943600"/>
            <a:ext cx="11094415" cy="347472"/>
          </a:xfrm>
          <a:prstGeom prst="rect">
            <a:avLst/>
          </a:prstGeom>
          <a:solidFill>
            <a:srgbClr val="E6E6EE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914400" y="5943600"/>
            <a:ext cx="10362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ガバナンス　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個人情報の取扱いルール・AI 利用ガイドライン・セキュリティ研修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Dropbox から Google Drive への移行ステップ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「先にルールと箱をつくり、次にデータを移す」順番で、部署単位で小さく確かめながら移行します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109155" cy="658368"/>
          </a:xfrm>
          <a:prstGeom prst="homePlate">
            <a:avLst/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16062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現状調査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109155" cy="30175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06040"/>
            <a:ext cx="17891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データ量・構成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外部共有リンク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個人情報の所在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4617720"/>
            <a:ext cx="17433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709160"/>
            <a:ext cx="17433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成果物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983480"/>
            <a:ext cx="1743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現状調査シート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94955" y="1645920"/>
            <a:ext cx="2109155" cy="658368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06435" y="1645920"/>
            <a:ext cx="14233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設計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94955" y="2423160"/>
            <a:ext cx="2109155" cy="30175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77835" y="2606040"/>
            <a:ext cx="17891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共有ドライブ構成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メンバー・権限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命名ルール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77835" y="4617720"/>
            <a:ext cx="17433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77835" y="4709160"/>
            <a:ext cx="17433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成果物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977835" y="4983480"/>
            <a:ext cx="1743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共有ドライブ設計書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41270" y="1645920"/>
            <a:ext cx="2109155" cy="658368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52750" y="1645920"/>
            <a:ext cx="14233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ルール策定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41270" y="2423160"/>
            <a:ext cx="2109155" cy="30175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24150" y="2606040"/>
            <a:ext cx="17891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情報区分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外部共有の承認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管理者設定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224150" y="4617720"/>
            <a:ext cx="17433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24150" y="4709160"/>
            <a:ext cx="17433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成果物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24150" y="4983480"/>
            <a:ext cx="1743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運用ルール・設定一覧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87585" y="1645920"/>
            <a:ext cx="2109155" cy="658368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699065" y="1645920"/>
            <a:ext cx="14233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移行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287585" y="2423160"/>
            <a:ext cx="2109155" cy="30175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70465" y="2606040"/>
            <a:ext cx="17891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共有リンクの整理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パイロット移行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部署単位で本移行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470465" y="4617720"/>
            <a:ext cx="17433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70465" y="4709160"/>
            <a:ext cx="17433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成果物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470465" y="4983480"/>
            <a:ext cx="1743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移行チェックリスト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533900" y="1645920"/>
            <a:ext cx="2109155" cy="658368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945380" y="1645920"/>
            <a:ext cx="14233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5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切替・定着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533900" y="2423160"/>
            <a:ext cx="2109155" cy="30175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716780" y="2606040"/>
            <a:ext cx="17891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操作ガイド配布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読み取り専用化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Dropbox 解約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16780" y="4617720"/>
            <a:ext cx="1743395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16780" y="4709160"/>
            <a:ext cx="17433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成果物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716780" y="4983480"/>
            <a:ext cx="17433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切替完了報告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5577840"/>
            <a:ext cx="11094415" cy="73152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55778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Google 公式の移行機能（2026年1月提供）で権限ごと移行できます。ただし「リンクを知っている全員」の共有も引き継がれるため、移行前の整理が欠かせません。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「リンクを開いた人が見られる」不安は、仕組みで大きく減らせます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原因の多くは、リンクの公開範囲の設定と、共有時に付与されて残った閲覧権限にあります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4297680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よくある原因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4414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「リンクを知っている全員」のまま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86207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権限を外しても、URL があれば開ける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675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送信時に付与した権限が残る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0965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メール等で送ると権限が付き、残り続ける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9103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フォルダの権限を引き継ぐ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53309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フォルダ内のファイルにも同じ権限が及ぶ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645920"/>
            <a:ext cx="6430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対策：管理者設定 × 共有ドライブ × 運用ルール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2103120"/>
          <a:ext cx="6430975" cy="914400"/>
        </p:xfrm>
        <a:graphic>
          <a:graphicData uri="http://schemas.openxmlformats.org/drawingml/2006/table">
            <a:tbl>
              <a:tblPr/>
              <a:tblGrid>
                <a:gridCol w="4053535"/>
                <a:gridCol w="2377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対策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利用できるエディション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組織外へのリンク共有を禁止・制限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A8F7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全エディション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個人情報は共有ドライブでメンバー限定に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Business Standard 以上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閲覧者のダウンロード・印刷・コピーを禁止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A8F7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全エディション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外部共有に有効期限を設定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A8F7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全エディション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監査ログで共有状況を定期点検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A8F7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全エディション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情報区分と取扱いルール（たたき台）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移行前に「どこに置き、誰と共有し、AI に使ってよいか」を情報区分ごとに決めます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383280"/>
                <a:gridCol w="2194560"/>
                <a:gridCol w="1417320"/>
                <a:gridCol w="22704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区分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主なデータ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保存場所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共有範囲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Gemini の利用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機密（要配慮）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介護記録・ケアプラン、職員の健康情報・マイナンバー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介護記録システム／限定共有ドライブ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担当者のみ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ルール整備後に限定利用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社外秘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49C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人事・給与、経営資料、契約書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部門別の共有ドライブ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部門メンバー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社内ルールの範囲で利用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社内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9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マニュアル・研修資料、議事録、様式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全社共有ドライブ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全職員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積極活用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公開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7F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求人情報、施設案内、広報物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公開用フォルダ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制限なし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積極活用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6235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Workspace の Gemini は、顧客データを許可なくモデルの学習に使用しないと Google が公表しています。最終的なルールは、厚生労働省のガイダンス等を踏まえて確定します。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業務別 Gemini 活用マップ（例）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部門ごとに「誰の・どの業務に・どの機能を」使うかを具体化し、貴社版のマップに仕上げます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10048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バックオフィス（人事・経理・総務）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10048" cy="169164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331720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求人票・スカウト文の作成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855568" y="2331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Gmail・ドキュメント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16352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規程・マニュアルの質問応答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55568" y="281635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Gemini Notebook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00984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提出物・郵便物管理の自動化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55568" y="3300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フォーム・Studio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5410048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164592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事業所管理者・現場管理職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33008" y="2148840"/>
            <a:ext cx="5410048" cy="169164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2331720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会議・委員会の議事録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539935" y="2331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Meet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816352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研修資料・やさしい日本語化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39935" y="281635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スライド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3300984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稼働・加算データの集計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39935" y="3300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スプレッドシート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5410048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06908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営業部門（入居相談・地域連携）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5410048" cy="169164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754880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問い合わせ返信メールの下書き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855568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Gmail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39512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施設紹介・提案資料の作成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855568" y="52395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スライド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724144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面談メモの要約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855568" y="57241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ドキュメント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33008" y="4069080"/>
            <a:ext cx="5410048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07328" y="4069080"/>
            <a:ext cx="486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経営・本部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233008" y="4572000"/>
            <a:ext cx="5410048" cy="169164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07328" y="4754880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月次会議資料の作成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39935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スライド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507328" y="5239512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制度改正情報の要点整理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539935" y="52395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Gemini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07328" y="5724144"/>
            <a:ext cx="303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事業計画のたたき台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539935" y="57241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ドキュメント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効果を実感しやすい業務から着手します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「効果の大きさ」と「始めやすさ」で整理し、すぐ成果が出る業務から着手します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3017520" cy="2171700"/>
          </a:xfrm>
          <a:prstGeom prst="rect">
            <a:avLst/>
          </a:prstGeom>
          <a:solidFill>
            <a:srgbClr val="F4F4F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仕組み化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977640" y="1691640"/>
            <a:ext cx="3017520" cy="2171700"/>
          </a:xfrm>
          <a:prstGeom prst="rect">
            <a:avLst/>
          </a:prstGeom>
          <a:solidFill>
            <a:srgbClr val="EEED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クイックウィン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3863340"/>
            <a:ext cx="3017520" cy="2171700"/>
          </a:xfrm>
          <a:prstGeom prst="rect">
            <a:avLst/>
          </a:prstGeom>
          <a:solidFill>
            <a:srgbClr val="FAFAF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9547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将来検討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3863340"/>
            <a:ext cx="3017520" cy="2171700"/>
          </a:xfrm>
          <a:prstGeom prst="rect">
            <a:avLst/>
          </a:prstGeom>
          <a:solidFill>
            <a:srgbClr val="F4F4F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0" y="39547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すき間時間で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 rot="16200000">
            <a:off x="-228600" y="37261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効果の大きさ →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6062472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始めやすさ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28693" y="2052828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39005" y="19796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議事録の自動作成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66590" y="2617470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76902" y="254431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資料作成のたたき台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70094" y="3182112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80406" y="31089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メール文面の作成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66590" y="3573018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76902" y="349986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規程・マニュアルQ&amp;A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49070" y="2313432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459382" y="2240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提出物管理の自動化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731874" y="3268980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942186" y="31958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月次レポート作成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69771" y="4745736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580083" y="467258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記録システムとの連携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07992" y="4745736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18304" y="467258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文章の校正・要約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406640" y="1691640"/>
            <a:ext cx="4236415" cy="132588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80960" y="187452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1〜2ヶ月目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680960" y="2148840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クイックウィン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680960" y="2532888"/>
            <a:ext cx="3687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議事録・メール・資料作成のテンプレートを整備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406640" y="3172968"/>
            <a:ext cx="4236415" cy="132588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680960" y="335584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3〜4ヶ月目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680960" y="3630168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仕組み化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680960" y="4014216"/>
            <a:ext cx="3687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提出物管理・月次レポートを自動化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406640" y="4654296"/>
            <a:ext cx="4236415" cy="132588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80960" y="48371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5ヶ月目〜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680960" y="5111496"/>
            <a:ext cx="3687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将来検討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680960" y="5495544"/>
            <a:ext cx="3687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記録システムとの役割分担を整理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活用シナリオ例：まず着手をおすすめする3つの業務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いずれも追加ツールなしで実現でき、効果はテスト導入メンバーで実測します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会議・委員会の議事録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いま（想定）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515258" cy="109728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514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会議後にメモから議事録を作成（1回30〜60分）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41677" y="3685032"/>
            <a:ext cx="329184" cy="27432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77640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これから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3515258" cy="132588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25196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Meet の自動メモで議事録と ToDo を作成。確認するだけに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使う機能：Meet・Gemini（Business Standard 以上）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38218" y="164592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規程・マニュアルの問い合わせ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338218" y="2240280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いま（想定）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38218" y="2514600"/>
            <a:ext cx="3515258" cy="109728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2538" y="2514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本部への問い合わせに都度対応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31256" y="3685032"/>
            <a:ext cx="329184" cy="27432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38218" y="3977640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これから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38218" y="4251960"/>
            <a:ext cx="3515258" cy="132588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12538" y="425196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規程を Gemini Notebook に集約し、職員が自分で調べられる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338218" y="571500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使う機能：Gemini Notebook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27797" y="164592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提出物・郵便物の管理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127797" y="2240280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いま（想定）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27797" y="2514600"/>
            <a:ext cx="3515258" cy="109728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02117" y="25146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手入力で記録し、未提出者に個別に催促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720834" y="3685032"/>
            <a:ext cx="329184" cy="27432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27797" y="3977640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これから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27797" y="4251960"/>
            <a:ext cx="3515258" cy="1325880"/>
          </a:xfrm>
          <a:prstGeom prst="rect">
            <a:avLst/>
          </a:prstGeom>
          <a:solidFill>
            <a:srgbClr val="EEEDF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02117" y="425196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フォームで提出・自動記録・自動リマインド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127797" y="571500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使う機能：フォーム・スプレッドシート・Workspace Studio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ご担当者様が「社内で教えられる」状態をつくります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ご担当者様を「社内コーチ」として育成し、教材と相談窓口を揃えて現場の負担を減らします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0992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テンプレート・Gem 集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4884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部門別の指示文とカスタム AI を共有ドライブに整備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94944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437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862072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手順書・短尺動画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30098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1テーマ3分の動画と1枚の手順書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9624"/>
            <a:ext cx="694944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995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014216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社内コーチ育成・リテラシー研修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45312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講師用資料を提供。セキュリティ・AI 利用ルールも含む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01768"/>
            <a:ext cx="694944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480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6636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相談窓口・FAQ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605272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Google Chat で質問を受け付け、FAQ に蓄積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863840" y="1645920"/>
            <a:ext cx="3779215" cy="4617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83880" y="1920240"/>
            <a:ext cx="3139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現場の負担を抑える3つの工夫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2514600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「今の業務の延長」から始める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2953512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いつもの資料・メールに AI を足すだけ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3703320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1回30分のミニ勉強会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142232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業務の合間にオンラインで参加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4892040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成功事例を毎月共有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5330952"/>
            <a:ext cx="3139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身近な活用例で自然に広げる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段階展開のロードマップ：8名から50〜70名へ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担当部署 → 本部管理部門 → 営業・現場管理職と、効果を確認しながら広げます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515258" cy="1188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Phase 0｜1〜2ヶ月目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8名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6440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担当部署（テスト導入）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3515258" cy="25146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319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効果の出る「型」をつくる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26280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業務棚卸し・ユースケース選定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テンプレート・Gem 作成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Drive 移行設計・KPI 設定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38218" y="2057400"/>
            <a:ext cx="3515258" cy="1554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12538" y="219456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Phase 1｜3〜4ヶ月目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688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〜20名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612538" y="289864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本部管理部門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38218" y="3749040"/>
            <a:ext cx="3515258" cy="25146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2538" y="39319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バックオフィスへ展開・移行完了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612538" y="4526280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部門別テンプレートの拡充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社内コーチの勉強会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Dropbox からの本移行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27797" y="1691640"/>
            <a:ext cx="3515258" cy="19202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02117" y="18288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Phase 2｜5〜6ヶ月目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2103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50〜70名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402117" y="2532888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営業・現場管理職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27797" y="3749040"/>
            <a:ext cx="3515258" cy="251460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02117" y="39319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対象部門への展開と効果のご報告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02117" y="4526280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営業・管理職向けの展開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FAQ・相談窓口の運用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効果測定と次年度計画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ご要件と本提案の対応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いただいた必須要件・推奨要件のすべてに、本提案の具体的な取り組みでお応えします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02 ご提案内容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754880"/>
                <a:gridCol w="5425135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区分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ご要件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本提案での対応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必須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Google Workspace・Gemini の専門知識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管理者設定から Gemini 活用まで一貫して支援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必須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部門・担当者別の AI 活用の提案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業務棚卸しから部門別の活用マップを作成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必須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資料・メール・議事録・共有・自動化の幅広い活用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活用シナリオ、テンプレート・Gem 集、自動化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必須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セキュリティの基礎知識・リテラシー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情報区分ルール・AI ガイドラインと職員研修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9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Workspace の活用支援への特化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追加ツールなし。導入済みの範囲で設計・支援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9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少人数での習得から社内展開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8名 → 本部 → 50〜70名の段階展開と社内コーチ育成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9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介護業界の理解と第三者視点の助言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介護・福祉の事例と制度動向を踏まえて提案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9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費用対効果の明示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削減時間・利用率を毎月計測し、金額換算してご報告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事例サマリー：介護・福祉の現場でも活用が進んでいます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介護・福祉の法人から段階展開・Dropbox 移行まで、貴社に近い公開事例をご紹介します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03 他社事例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3383280"/>
                <a:gridCol w="27733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組織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業種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取り組み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成果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シーユーシー・ホスピス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ホスピス型住宅・訪問看護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Gem で音声・メモから介護記録の下書きを作成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職員1人 月約3.5時間削減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社会福祉法人ことの海会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障がい・児童・高齢者支援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LINE WORKS から Workspace へ一括切替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管理職と現場でライセンスを使い分け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ソラスト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医療事務・介護・保育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3万人以上の全職員で Workspace への移行を決定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約3ヶ月で基盤を構築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日本特殊陶業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製造・名古屋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15部門40名で1ヶ月トライアル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週平均3.1時間削減／人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船井総研ホールディングス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経営コンサルティング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50名 → 150名 → 全社と段階展開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4ヶ月で全社導入・利用率97%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星野リゾート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宿泊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企画・発信業務やアンケート分析に活用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「魅力造成」の作業時間 約30%削減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The Washington Post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報道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Dropbox から Workspace へ移行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1,500名超・240TB超を期限内に移行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いずれも各社の公開事例です（当社の支援事例ではありません）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介護・福祉の事例：記録業務と情報共有基盤の見直し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同じ介護・福祉の現場で、記録業務の効率化と情報共有基盤の見直しが進んでいます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03 他社事例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64328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介護・ホスピス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12848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株式会社シーユーシー・ホスピス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517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ホスピス型住宅「ReHOPE」など全国59拠点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6324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月約3.5時間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  削減／職員1人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069080"/>
            <a:ext cx="463280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5196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 で音声・メモから記録の下書きを作成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記録1件 4.0分 → 3.3分（約20%短縮）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5486400"/>
            <a:ext cx="463280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54864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　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ルール整備後の現場展開の候補に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78728" y="1645920"/>
            <a:ext cx="5364328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44488" y="19202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社会福祉法人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644488" y="2212848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社会福祉法人ことの海会（長崎県）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644488" y="26517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障がい・児童発達・高齢者支援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306324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一括導入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  段階導入から切替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44488" y="4069080"/>
            <a:ext cx="463280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44488" y="425196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LINE WORKS から Google チャットへ切替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管理職は Business Standard、現場は Frontline Starter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44488" y="5486400"/>
            <a:ext cx="463280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7368" y="54864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　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ライセンスの使い分けは貴社の参考に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段階展開の事例：小さく試して、全社に広げる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少人数で効果を測ってから広げる進め方は、貴社の「8名 → 50〜70名」と同じ型です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03 他社事例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64328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製造・愛知県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12848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日本特殊陶業株式会社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517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名古屋市に本社を置くメーカー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6324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週3.1時間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  削減／人（平均）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069080"/>
            <a:ext cx="463280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5196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15部門40名で Gemini を1ヶ月試行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60件のユースケースが集まる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5486400"/>
            <a:ext cx="463280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54864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　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少人数でも、削減時間を測れば判断材料に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78728" y="1645920"/>
            <a:ext cx="5364328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44488" y="19202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経営コンサルティング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644488" y="2212848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株式会社船井総研ホールディングス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644488" y="26517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中堅・中小企業向けコンサルティング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306324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97%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  の社員が Gemini を活用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44488" y="4069080"/>
            <a:ext cx="463280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44488" y="425196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50名 → 150名 → 全社と段階展開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活用コンテストや勉強会で定着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44488" y="5486400"/>
            <a:ext cx="463280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7368" y="54864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　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成功事例の共有が定着の鍵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データ移行とナレッジ活用の事例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移行は「引っ越し」で終わらせず、蓄積した資料を AI で使える知識に変えます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03 他社事例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64328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医療用品メーカー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12848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ダイヤ工業株式会社（岡山県）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517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サポーター・コルセット等のメーカー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6324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70%超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  の社員が Gemini を日常利用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069080"/>
            <a:ext cx="463280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5196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ファイルサーバーから Workspace へ移行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会議資料と社内規定を NotebookLM に集約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5486400"/>
            <a:ext cx="463280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54864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　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問い合わせ対応の効率化に応用できる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78728" y="1645920"/>
            <a:ext cx="5364328" cy="4617720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44488" y="192024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Dropbox からの移行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644488" y="2212848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The Washington Post（米国）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644488" y="2651760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報道機関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306324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240TB超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  を期限内に移行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44488" y="4069080"/>
            <a:ext cx="4632808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44488" y="425196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Dropbox の契約終了に合わせて移行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複雑な権限・フォルダを事前に整理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44488" y="5486400"/>
            <a:ext cx="463280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7368" y="548640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　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成否は移行前の整理で決まる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スケジュール（案）：6ヶ月で移行完了と対象部門への展開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Dropbox 切替を最優先に、6ヶ月で移行完了と対象部門への展開まで進めます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04 スケジュール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0" y="1645920"/>
            <a:ext cx="1330909" cy="384048"/>
          </a:xfrm>
          <a:prstGeom prst="rect">
            <a:avLst/>
          </a:prstGeom>
          <a:solidFill>
            <a:srgbClr val="232B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0" y="1645920"/>
            <a:ext cx="13309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1ヶ月目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88509" y="1645920"/>
            <a:ext cx="1330909" cy="384048"/>
          </a:xfrm>
          <a:prstGeom prst="rect">
            <a:avLst/>
          </a:prstGeom>
          <a:solidFill>
            <a:srgbClr val="5149C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88509" y="1645920"/>
            <a:ext cx="13309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2ヶ月目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19418" y="1645920"/>
            <a:ext cx="1330909" cy="384048"/>
          </a:xfrm>
          <a:prstGeom prst="rect">
            <a:avLst/>
          </a:prstGeom>
          <a:solidFill>
            <a:srgbClr val="232B5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19418" y="1645920"/>
            <a:ext cx="13309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3ヶ月目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50328" y="1645920"/>
            <a:ext cx="1330909" cy="384048"/>
          </a:xfrm>
          <a:prstGeom prst="rect">
            <a:avLst/>
          </a:prstGeom>
          <a:solidFill>
            <a:srgbClr val="5149C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50328" y="1645920"/>
            <a:ext cx="13309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4ヶ月目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81237" y="1645920"/>
            <a:ext cx="1330909" cy="384048"/>
          </a:xfrm>
          <a:prstGeom prst="rect">
            <a:avLst/>
          </a:prstGeom>
          <a:solidFill>
            <a:srgbClr val="232B5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81237" y="1645920"/>
            <a:ext cx="13309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5ヶ月目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312146" y="1645920"/>
            <a:ext cx="1330909" cy="384048"/>
          </a:xfrm>
          <a:prstGeom prst="rect">
            <a:avLst/>
          </a:prstGeom>
          <a:solidFill>
            <a:srgbClr val="5149C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312146" y="1645920"/>
            <a:ext cx="13309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6ヶ月目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121408"/>
            <a:ext cx="11094415" cy="42976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2121408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キックオフ・現状調査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703320" y="2231136"/>
            <a:ext cx="707106" cy="210312"/>
          </a:xfrm>
          <a:prstGeom prst="rect">
            <a:avLst/>
          </a:prstGeom>
          <a:solidFill>
            <a:srgbClr val="7A7F9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2551176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Drive 移行設計・ルール策定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35684" y="2660904"/>
            <a:ext cx="1505651" cy="210312"/>
          </a:xfrm>
          <a:prstGeom prst="rect">
            <a:avLst/>
          </a:prstGeom>
          <a:solidFill>
            <a:srgbClr val="232B5C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2980944"/>
            <a:ext cx="11094415" cy="42976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2980944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パイロット移行（1部署）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566593" y="3090672"/>
            <a:ext cx="973287" cy="210312"/>
          </a:xfrm>
          <a:prstGeom prst="rect">
            <a:avLst/>
          </a:prstGeom>
          <a:solidFill>
            <a:srgbClr val="232B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" y="3410712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本移行・Dropbox 切替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631320" y="3520440"/>
            <a:ext cx="2304197" cy="210312"/>
          </a:xfrm>
          <a:prstGeom prst="rect">
            <a:avLst/>
          </a:prstGeom>
          <a:solidFill>
            <a:srgbClr val="232B5C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840480"/>
            <a:ext cx="11094415" cy="42976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840480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業務棚卸し・テンプレート整備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102593" y="3950208"/>
            <a:ext cx="2836560" cy="210312"/>
          </a:xfrm>
          <a:prstGeom prst="rect">
            <a:avLst/>
          </a:prstGeom>
          <a:solidFill>
            <a:srgbClr val="5149C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70248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業務の自動化（提出物管理等）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65138" y="4379976"/>
            <a:ext cx="2570378" cy="210312"/>
          </a:xfrm>
          <a:prstGeom prst="rect">
            <a:avLst/>
          </a:prstGeom>
          <a:solidFill>
            <a:srgbClr val="5149C1"/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4700016"/>
            <a:ext cx="11094415" cy="42976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85800" y="4700016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本部管理部門への展開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65138" y="4809744"/>
            <a:ext cx="2570378" cy="210312"/>
          </a:xfrm>
          <a:prstGeom prst="rect">
            <a:avLst/>
          </a:prstGeom>
          <a:solidFill>
            <a:srgbClr val="8E89D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5800" y="5129784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営業・現場管理職への展開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026957" y="5239512"/>
            <a:ext cx="2570378" cy="210312"/>
          </a:xfrm>
          <a:prstGeom prst="rect">
            <a:avLst/>
          </a:prstGeom>
          <a:solidFill>
            <a:srgbClr val="8E89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5559552"/>
            <a:ext cx="11094415" cy="429768"/>
          </a:xfrm>
          <a:prstGeom prst="rect">
            <a:avLst/>
          </a:prstGeom>
          <a:solidFill>
            <a:srgbClr val="F4F4F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5800" y="5559552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効果測定・月次報告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01866" y="5669280"/>
            <a:ext cx="7095470" cy="210312"/>
          </a:xfrm>
          <a:prstGeom prst="rect">
            <a:avLst/>
          </a:prstGeom>
          <a:solidFill>
            <a:srgbClr val="7A7F93"/>
          </a:solidFill>
          <a:ln/>
        </p:spPr>
      </p:sp>
      <p:sp>
        <p:nvSpPr>
          <p:cNvPr id="40" name="Shape 38"/>
          <p:cNvSpPr/>
          <p:nvPr/>
        </p:nvSpPr>
        <p:spPr>
          <a:xfrm>
            <a:off x="8862365" y="3502152"/>
            <a:ext cx="237744" cy="237744"/>
          </a:xfrm>
          <a:prstGeom prst="diamond">
            <a:avLst/>
          </a:prstGeom>
          <a:solidFill>
            <a:schemeClr val="accent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164117" y="34838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Dropbox 解約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5800" y="6190488"/>
            <a:ext cx="182880" cy="182880"/>
          </a:xfrm>
          <a:prstGeom prst="rect">
            <a:avLst/>
          </a:prstGeom>
          <a:solidFill>
            <a:srgbClr val="232B5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2688" y="6126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柱① 移行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148840" y="6190488"/>
            <a:ext cx="182880" cy="182880"/>
          </a:xfrm>
          <a:prstGeom prst="rect">
            <a:avLst/>
          </a:prstGeom>
          <a:solidFill>
            <a:srgbClr val="5149C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395728" y="6126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柱② 活用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11880" y="6190488"/>
            <a:ext cx="182880" cy="182880"/>
          </a:xfrm>
          <a:prstGeom prst="rect">
            <a:avLst/>
          </a:prstGeom>
          <a:solidFill>
            <a:srgbClr val="8E89D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858768" y="6126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柱③ 展開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074920" y="6190488"/>
            <a:ext cx="182880" cy="182880"/>
          </a:xfrm>
          <a:prstGeom prst="rect">
            <a:avLst/>
          </a:prstGeom>
          <a:solidFill>
            <a:srgbClr val="7A7F9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21808" y="6126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共通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400800" y="6126480"/>
            <a:ext cx="5242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開始時期はご決裁後に確定。Dropbox 解約は契約更新時期に合わせて調整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本日確認させていただきたいことと、今後の進め方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以下を伺えれば、1週間以内に正式なお見積りとスケジュールをご提示できます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05 本日ご相談したいこと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ご契約エディション・ライセンス数・管理者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50008"/>
            <a:ext cx="704088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505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50592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Dropbox のプラン・データ量・契約更新時期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704088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0954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09544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個人情報を含むデータの範囲と「ロック」の操作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67912"/>
            <a:ext cx="704088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684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68496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テスト導入8名の業務と現在の使い方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626864"/>
            <a:ext cx="704088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274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72744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既存システム・お取引先との役割分担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385816"/>
            <a:ext cx="7040880" cy="0"/>
          </a:xfrm>
          <a:prstGeom prst="line">
            <a:avLst/>
          </a:prstGeom>
          <a:noFill/>
          <a:ln w="9525">
            <a:solidFill>
              <a:srgbClr val="DCDD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86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864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ご予算感・ご決裁の時期・定例の頻度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55280" y="1645920"/>
            <a:ext cx="3687775" cy="4617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75320" y="1920240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今後の進め方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2514600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本日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2898648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課題・優先度のすり合わせ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703320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1週間以内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087368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お見積りのご提示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4892040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ご決裁後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5276088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キックオフ・現状調査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参考：エディション別の主な機能</a:t>
            </a:r>
            <a:endParaRPr lang="en-US" sz="25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使える機能はエディションで異なるため、対象者に応じた組み合わせもご提案できます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65176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Appendix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4876495"/>
                <a:gridCol w="1554480"/>
                <a:gridCol w="155448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機能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Business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Starter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Business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Standard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Business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Plus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Enterprise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月額料金（年間プラン・1ユーザー・税別）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800円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1,600円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2,500円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62A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要問合せ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Gmail の Gemini（文章作成・要約）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Gemini アプリ・Gem・Gemini Notebook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ドキュメント／スプレッドシート／スライドの Gemini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Meet の自動メモ（議事録作成）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Workspace Studio（業務の自動化）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組織外共有の制限・リンク共有の禁止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共有ドライブの詳細設定（外部共有・DL 禁止）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Vault（データの保持・検索）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2B5C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DLP（情報漏えい防止）・信頼ルール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F9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149C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○</a:t>
                      </a:r>
                      <a:endParaRPr lang="en-US" sz="13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51052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X Proposal">
  <a:themeElements>
    <a:clrScheme name="GREEX Proposal">
      <a:dk1>
        <a:srgbClr val="262A3B"/>
      </a:dk1>
      <a:lt1>
        <a:srgbClr val="FFFFFF"/>
      </a:lt1>
      <a:dk2>
        <a:srgbClr val="232B5C"/>
      </a:dk2>
      <a:lt2>
        <a:srgbClr val="F4F4F8"/>
      </a:lt2>
      <a:accent1>
        <a:srgbClr val="5149C1"/>
      </a:accent1>
      <a:accent2>
        <a:srgbClr val="8E89D6"/>
      </a:accent2>
      <a:accent3>
        <a:srgbClr val="2A8F7E"/>
      </a:accent3>
      <a:accent4>
        <a:srgbClr val="D9A23A"/>
      </a:accent4>
      <a:accent5>
        <a:srgbClr val="C14F6C"/>
      </a:accent5>
      <a:accent6>
        <a:srgbClr val="7A7F93"/>
      </a:accent6>
      <a:hlink>
        <a:srgbClr val="5149C1"/>
      </a:hlink>
      <a:folHlink>
        <a:srgbClr val="232B5C"/>
      </a:folHlink>
    </a:clrScheme>
    <a:fontScheme name="GREEX Proposal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グリーエックス株式会社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株式会社サカイ様 Google Workspace × Gemini 活用支援のご提案</dc:title>
  <dc:subject>PptxGenJS Presentation</dc:subject>
  <dc:creator>グリーエックス株式会社</dc:creator>
  <cp:lastModifiedBy>グリーエックス株式会社</cp:lastModifiedBy>
  <cp:revision>1</cp:revision>
  <dcterms:created xsi:type="dcterms:W3CDTF">2026-10-26T05:20:55Z</dcterms:created>
  <dcterms:modified xsi:type="dcterms:W3CDTF">2026-10-26T05:20:55Z</dcterms:modified>
</cp:coreProperties>
</file>